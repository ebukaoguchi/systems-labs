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281" r:id="rId22"/>
    <p:sldId id="282" r:id="rId23"/>
    <p:sldId id="275" r:id="rId24"/>
    <p:sldId id="276" r:id="rId25"/>
    <p:sldId id="283" r:id="rId26"/>
    <p:sldId id="277" r:id="rId27"/>
    <p:sldId id="278" r:id="rId28"/>
    <p:sldId id="279" r:id="rId29"/>
    <p:sldId id="286" r:id="rId30"/>
    <p:sldId id="287" r:id="rId31"/>
    <p:sldId id="284" r:id="rId32"/>
    <p:sldId id="285" r:id="rId3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02"/>
    <p:restoredTop sz="94467"/>
  </p:normalViewPr>
  <p:slideViewPr>
    <p:cSldViewPr snapToGrid="0" showGuides="1">
      <p:cViewPr varScale="1">
        <p:scale>
          <a:sx n="119" d="100"/>
          <a:sy n="119" d="100"/>
        </p:scale>
        <p:origin x="632" y="168"/>
      </p:cViewPr>
      <p:guideLst>
        <p:guide orient="horz" pos="2183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56E9B-EF59-1D4A-B4F0-80E1624E7CAF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0C9A8-6763-0647-9284-16523AB67CC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981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0C9A8-6763-0647-9284-16523AB67CCE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8347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0C9A8-6763-0647-9284-16523AB67CCE}" type="slidenum">
              <a:rPr lang="en-CN" smtClean="0"/>
              <a:t>25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66958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AC29C-6AC5-6EA1-6878-0BFCCACDC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F763C-925E-C8F8-959D-A644A48F3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3ABC3-7ADA-0A0E-A447-BE293B4F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AFE7-C810-7BC3-559D-72E799AA3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461A2-25D4-D7C0-2476-8B58F876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564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5D05-F938-26E3-18D1-0621992B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586F-053E-BE04-A845-9FC56EB8C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25CA-172F-FC42-2C00-7DD78D55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27EE1-0685-FC38-A87A-BC9D653A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715F-75A2-450E-F8DE-578772DC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792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4A6C-3957-0142-508F-00D0B757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EC389-184F-EF08-871F-A9522CFC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E7CBD-9DB2-FA7C-B557-009B479F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FB7F8-7500-19A0-9FEF-DBB2BA53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CD871-81E3-42F5-EC52-FF4906E1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6619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E5D9-B364-0C9F-83B6-7A5AF9F0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C03-F842-B2A0-E275-145CB60B0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DBE4-24B9-7FCE-FEA6-77EB47A97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3FFB7-510D-4BC4-FCA2-5BCB584D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0E478-C1B1-225A-5402-77D0B212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177B9-49B7-B54B-422B-D0596632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3372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1934-F2EB-5E8B-43BD-8EDB24F18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227EA-0574-4DBB-7761-59ADE90EA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405FF-945B-2BD6-FF3C-6BDE694D3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FAB79-D566-9FFD-083F-40606B83F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D4A1A-C255-62A7-BA11-B9672F689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FEE51-E5FD-5E36-F8AB-657D6FFF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8CA3B-B749-718D-DA4F-9F48A384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B1150D-C15B-FEB8-18D5-DFB92953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442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E4DB-5165-FF40-2108-E13D8B83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B1EAF-F7A7-C495-3426-D531F003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FA896-1E8F-8D2A-A0FC-937AEA1C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FCEFA-4BB6-CDEE-5C2F-731D2851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191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FCBFB-D3C4-172E-F1DD-A54B5B4C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36B09-BEFA-B525-569A-34591C31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07C6A-5B17-17B9-53B1-8F2DD830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243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3532-4D8D-184A-E198-AA18E24C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337BB-C81E-C4F7-F7A5-672F57E44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33F45-D92E-DD93-0F32-C17FD3F73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E0D14-F5AD-9A84-0E6D-13DB66AC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0C340-A2A5-82E9-FA25-86F831EE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E839B-C2EE-797C-3CC1-32DE5E4A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6946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330E-70CB-1774-F105-3DD9274E6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3AC74-3FDA-D2B0-3033-F8B5769944C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49051-32BA-B324-416B-A10D21584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06BFB-B919-A54E-52B2-8997A423C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A6480-B9A4-E637-A6AC-C9A73991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643E7-2F3D-63FC-1972-1E7F96D3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4718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2853-B322-E499-5152-C46FA498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0E13A-E4FC-FB48-36EA-F71C5DC7D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A6A13-CCC4-DCC4-81CB-195198C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76CF1-F419-D791-F27D-84A0EC40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EDC66-6E5B-EA90-9177-32F2773F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671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04FA84-D4BA-702F-8F13-D60524FCC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D71ED-15E1-65A0-C462-57E96A9C9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989E1-6898-9EE2-9CC1-A22432F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008FA-FC90-15A6-F08F-45911946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76217-58BB-0222-04E0-6483CEED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8132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01146-EE8D-E619-35C3-32B272C2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8E106-D0DB-C0A9-FF28-29498AE39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98BB0-62F8-EC0D-D1EF-DF68D7333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5D379-08D4-2F41-AB38-69B987990A37}" type="datetimeFigureOut">
              <a:rPr lang="en-CN" smtClean="0"/>
              <a:t>2026/10/7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0429-DEEA-1FE5-06C4-46FADE7BD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F365D-7BD1-18C1-DA24-03182D113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DFAE6-BF7A-1849-80CF-3ED87ADC3B9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9213-AEA6-EF41-7543-1DFA33336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36274" cy="3211642"/>
          </a:xfrm>
        </p:spPr>
        <p:txBody>
          <a:bodyPr>
            <a:normAutofit/>
          </a:bodyPr>
          <a:lstStyle/>
          <a:p>
            <a:r>
              <a:rPr lang="en-CN" dirty="0"/>
              <a:t>Lab 6: Putting It All Together</a:t>
            </a:r>
            <a:br>
              <a:rPr lang="en-CN" dirty="0"/>
            </a:br>
            <a:r>
              <a:rPr lang="en-CN" sz="4800" dirty="0"/>
              <a:t>C++ Programming: </a:t>
            </a:r>
            <a:br>
              <a:rPr lang="en-CN" sz="4800" dirty="0"/>
            </a:br>
            <a:r>
              <a:rPr lang="en-CN" sz="4800" dirty="0"/>
              <a:t>Chapters 1–4 Review</a:t>
            </a:r>
          </a:p>
        </p:txBody>
      </p:sp>
    </p:spTree>
    <p:extLst>
      <p:ext uri="{BB962C8B-B14F-4D97-AF65-F5344CB8AC3E}">
        <p14:creationId xmlns:p14="http://schemas.microsoft.com/office/powerpoint/2010/main" val="192411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87F5-0C0D-17BD-9A90-AAADAA76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66" y="-24400"/>
            <a:ext cx="10515600" cy="1325563"/>
          </a:xfrm>
        </p:spPr>
        <p:txBody>
          <a:bodyPr/>
          <a:lstStyle/>
          <a:p>
            <a:r>
              <a:rPr lang="en-CN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6114F-51C4-6630-DD8C-53925F8E2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96"/>
            <a:ext cx="10515600" cy="4351338"/>
          </a:xfrm>
        </p:spPr>
        <p:txBody>
          <a:bodyPr/>
          <a:lstStyle/>
          <a:p>
            <a:pPr lvl="0"/>
            <a:r>
              <a:rPr lang="en-CN" dirty="0"/>
              <a:t>Variables and Data Types</a:t>
            </a:r>
          </a:p>
          <a:p>
            <a:pPr lvl="0"/>
            <a:r>
              <a:rPr lang="en-CN" dirty="0"/>
              <a:t>Input and Output</a:t>
            </a:r>
          </a:p>
          <a:p>
            <a:pPr lvl="0"/>
            <a:r>
              <a:rPr lang="en-CN" dirty="0"/>
              <a:t>Arithmetic Operations</a:t>
            </a:r>
          </a:p>
          <a:p>
            <a:pPr lvl="0"/>
            <a:r>
              <a:rPr lang="en-CN" dirty="0"/>
              <a:t>Type Conversion</a:t>
            </a:r>
          </a:p>
          <a:p>
            <a:pPr lvl="0"/>
            <a:r>
              <a:rPr lang="en-CN" dirty="0"/>
              <a:t>Conditional Statements</a:t>
            </a:r>
          </a:p>
          <a:p>
            <a:pPr lvl="0"/>
            <a:r>
              <a:rPr lang="en-CN" dirty="0"/>
              <a:t>switch Statements</a:t>
            </a:r>
          </a:p>
          <a:p>
            <a:pPr lvl="0"/>
            <a:r>
              <a:rPr lang="en-CN" dirty="0">
                <a:solidFill>
                  <a:srgbClr val="FF0000"/>
                </a:solidFill>
              </a:rPr>
              <a:t>Functions</a:t>
            </a:r>
          </a:p>
          <a:p>
            <a:pPr lvl="0"/>
            <a:r>
              <a:rPr lang="en-CN" dirty="0"/>
              <a:t>Formatted Output</a:t>
            </a:r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C8B55-1BD3-19F2-3A04-70BC2F8CC1DC}"/>
              </a:ext>
            </a:extLst>
          </p:cNvPr>
          <p:cNvSpPr txBox="1"/>
          <p:nvPr/>
        </p:nvSpPr>
        <p:spPr>
          <a:xfrm>
            <a:off x="338203" y="5999967"/>
            <a:ext cx="90381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Objective:</a:t>
            </a:r>
            <a:br>
              <a:rPr lang="en-CN" sz="2000" dirty="0"/>
            </a:br>
            <a:r>
              <a:rPr lang="en-CN" sz="2000" dirty="0"/>
              <a:t>Build a complete C++ program that combines the major concepts covered so far.</a:t>
            </a:r>
          </a:p>
        </p:txBody>
      </p:sp>
    </p:spTree>
    <p:extLst>
      <p:ext uri="{BB962C8B-B14F-4D97-AF65-F5344CB8AC3E}">
        <p14:creationId xmlns:p14="http://schemas.microsoft.com/office/powerpoint/2010/main" val="71683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62A4-5AE0-77D6-CA04-3A14B9AD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168405"/>
            <a:ext cx="10515600" cy="1025264"/>
          </a:xfrm>
        </p:spPr>
        <p:txBody>
          <a:bodyPr/>
          <a:lstStyle/>
          <a:p>
            <a:r>
              <a:rPr lang="en-CN" dirty="0"/>
              <a:t>From Small Programs to Larger Programs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0D275-184B-BEA9-C74F-CE17D9772FB4}"/>
              </a:ext>
            </a:extLst>
          </p:cNvPr>
          <p:cNvSpPr txBox="1"/>
          <p:nvPr/>
        </p:nvSpPr>
        <p:spPr>
          <a:xfrm>
            <a:off x="449893" y="1341854"/>
            <a:ext cx="83013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So far, we have written programs that perform individual tasks:</a:t>
            </a:r>
          </a:p>
          <a:p>
            <a:endParaRPr lang="en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number;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result = num1 + num2;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(score &gt;= 90)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"A";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sum(int a, int b)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a + b;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050B6-E069-65EA-08EC-A09C3299D540}"/>
              </a:ext>
            </a:extLst>
          </p:cNvPr>
          <p:cNvSpPr txBox="1"/>
          <p:nvPr/>
        </p:nvSpPr>
        <p:spPr>
          <a:xfrm>
            <a:off x="207181" y="6113929"/>
            <a:ext cx="11309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We have combined these smaller pieces of code in previous labs. Today, we will go further by combining more </a:t>
            </a:r>
          </a:p>
          <a:p>
            <a:r>
              <a:rPr lang="en-CN" dirty="0"/>
              <a:t>      concepts into one complete program.</a:t>
            </a:r>
          </a:p>
        </p:txBody>
      </p:sp>
    </p:spTree>
    <p:extLst>
      <p:ext uri="{BB962C8B-B14F-4D97-AF65-F5344CB8AC3E}">
        <p14:creationId xmlns:p14="http://schemas.microsoft.com/office/powerpoint/2010/main" val="849126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67F8-182A-3A1A-19DB-5EA5DF1A0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12" y="185831"/>
            <a:ext cx="10515600" cy="782357"/>
          </a:xfrm>
        </p:spPr>
        <p:txBody>
          <a:bodyPr/>
          <a:lstStyle/>
          <a:p>
            <a:r>
              <a:rPr lang="en-CN" dirty="0"/>
              <a:t>The Problem: Student Grade Calculator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978CC-F320-68D6-CF87-041F10876C78}"/>
              </a:ext>
            </a:extLst>
          </p:cNvPr>
          <p:cNvSpPr txBox="1"/>
          <p:nvPr/>
        </p:nvSpPr>
        <p:spPr>
          <a:xfrm>
            <a:off x="309223" y="1147482"/>
            <a:ext cx="5786777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Write a program that: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Asks for the student's name.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Accepts scores for: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Exam 1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Exam 2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Homework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Lab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Calculates the exam average.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Calculates the student's final numerical grade.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Determines the student's letter grade.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Displays a message based on the letter grade.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CN" sz="2000" dirty="0"/>
              <a:t>Displays a formatted grade report.</a:t>
            </a:r>
          </a:p>
          <a:p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BB80A-42E0-81E5-B471-68973E427406}"/>
              </a:ext>
            </a:extLst>
          </p:cNvPr>
          <p:cNvSpPr txBox="1"/>
          <p:nvPr/>
        </p:nvSpPr>
        <p:spPr>
          <a:xfrm>
            <a:off x="3972394" y="2984647"/>
            <a:ext cx="8366393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>
                <a:solidFill>
                  <a:srgbClr val="FF0000"/>
                </a:solidFill>
              </a:rPr>
              <a:t>The formula is: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 Grade = (Exam Average × 0.50) + (Homework × 0.25)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+ (Lab × 0.25)</a:t>
            </a:r>
          </a:p>
        </p:txBody>
      </p:sp>
    </p:spTree>
    <p:extLst>
      <p:ext uri="{BB962C8B-B14F-4D97-AF65-F5344CB8AC3E}">
        <p14:creationId xmlns:p14="http://schemas.microsoft.com/office/powerpoint/2010/main" val="754894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EDE2-FBC5-DBEA-B979-7369E7DF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47" y="200211"/>
            <a:ext cx="10515600" cy="961651"/>
          </a:xfrm>
        </p:spPr>
        <p:txBody>
          <a:bodyPr/>
          <a:lstStyle/>
          <a:p>
            <a:r>
              <a:rPr lang="en-CN" dirty="0"/>
              <a:t>Program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E8813-1D27-4561-4444-B829B66B106B}"/>
              </a:ext>
            </a:extLst>
          </p:cNvPr>
          <p:cNvSpPr txBox="1"/>
          <p:nvPr/>
        </p:nvSpPr>
        <p:spPr>
          <a:xfrm>
            <a:off x="573741" y="802496"/>
            <a:ext cx="6096000" cy="605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student information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↓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scores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↓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exam average</a:t>
            </a:r>
          </a:p>
          <a:p>
            <a:pPr>
              <a:lnSpc>
                <a:spcPct val="10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↓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final grade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↓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Determine letter grade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↓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Display performance message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↓</a:t>
            </a:r>
          </a:p>
          <a:p>
            <a:pPr>
              <a:lnSpc>
                <a:spcPct val="150000"/>
              </a:lnSpc>
            </a:pPr>
            <a:r>
              <a:rPr lang="en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Display final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D1203-04F6-CFD2-8704-1C921DF35F93}"/>
              </a:ext>
            </a:extLst>
          </p:cNvPr>
          <p:cNvSpPr txBox="1"/>
          <p:nvPr/>
        </p:nvSpPr>
        <p:spPr>
          <a:xfrm>
            <a:off x="5010374" y="3059668"/>
            <a:ext cx="695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Instead of putting everything inside </a:t>
            </a:r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main(), </a:t>
            </a:r>
            <a:r>
              <a:rPr lang="en-CN" dirty="0">
                <a:solidFill>
                  <a:srgbClr val="FF0000"/>
                </a:solidFill>
              </a:rPr>
              <a:t>we can use functions.</a:t>
            </a:r>
          </a:p>
        </p:txBody>
      </p:sp>
    </p:spTree>
    <p:extLst>
      <p:ext uri="{BB962C8B-B14F-4D97-AF65-F5344CB8AC3E}">
        <p14:creationId xmlns:p14="http://schemas.microsoft.com/office/powerpoint/2010/main" val="1868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D023-39B4-6942-4DDE-60FC2836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36" y="200211"/>
            <a:ext cx="10515600" cy="961651"/>
          </a:xfrm>
        </p:spPr>
        <p:txBody>
          <a:bodyPr/>
          <a:lstStyle/>
          <a:p>
            <a:r>
              <a:rPr lang="en-CN" dirty="0"/>
              <a:t>Why Use Functions?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C86AB-1C5A-DC16-4555-7234AA0E5BBB}"/>
              </a:ext>
            </a:extLst>
          </p:cNvPr>
          <p:cNvSpPr txBox="1"/>
          <p:nvPr/>
        </p:nvSpPr>
        <p:spPr>
          <a:xfrm>
            <a:off x="302113" y="1375231"/>
            <a:ext cx="81955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Functions allow us to divide a large problem into smaller problems. Instead of: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hundreds of lines doing everything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5FACA-1729-C4A1-B19E-89157A3E77F2}"/>
              </a:ext>
            </a:extLst>
          </p:cNvPr>
          <p:cNvSpPr txBox="1"/>
          <p:nvPr/>
        </p:nvSpPr>
        <p:spPr>
          <a:xfrm>
            <a:off x="372036" y="3096181"/>
            <a:ext cx="83663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we can have:</a:t>
            </a:r>
          </a:p>
          <a:p>
            <a:endParaRPr lang="en-CN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exam1, double exam2);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grade);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(char grade);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F7465-9A00-216A-DB5F-F016D1D1E85D}"/>
              </a:ext>
            </a:extLst>
          </p:cNvPr>
          <p:cNvSpPr txBox="1"/>
          <p:nvPr/>
        </p:nvSpPr>
        <p:spPr>
          <a:xfrm>
            <a:off x="484094" y="5468471"/>
            <a:ext cx="3639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Each function has one specific job.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8ADD4-0581-230A-3824-A564E90A2B37}"/>
              </a:ext>
            </a:extLst>
          </p:cNvPr>
          <p:cNvSpPr txBox="1"/>
          <p:nvPr/>
        </p:nvSpPr>
        <p:spPr>
          <a:xfrm>
            <a:off x="7796790" y="2496016"/>
            <a:ext cx="3660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CN" dirty="0">
                <a:solidFill>
                  <a:srgbClr val="FF0000"/>
                </a:solidFill>
              </a:rPr>
              <a:t>unctions just breaks a larger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CN" dirty="0">
                <a:solidFill>
                  <a:srgbClr val="FF0000"/>
                </a:solidFill>
              </a:rPr>
              <a:t>ode into smaller chunks of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CN" dirty="0">
                <a:solidFill>
                  <a:srgbClr val="FF0000"/>
                </a:solidFill>
              </a:rPr>
              <a:t>odes.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3736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1718-B3DD-5B7F-D7E0-140C5A86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65" y="182282"/>
            <a:ext cx="10515600" cy="997510"/>
          </a:xfrm>
        </p:spPr>
        <p:txBody>
          <a:bodyPr/>
          <a:lstStyle/>
          <a:p>
            <a:r>
              <a:rPr lang="en-CN" dirty="0"/>
              <a:t>Function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03DC6-AAE4-1686-F6A3-4FC8F4FAB55F}"/>
              </a:ext>
            </a:extLst>
          </p:cNvPr>
          <p:cNvSpPr txBox="1"/>
          <p:nvPr/>
        </p:nvSpPr>
        <p:spPr>
          <a:xfrm>
            <a:off x="268941" y="1362635"/>
            <a:ext cx="49281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A function can:</a:t>
            </a:r>
          </a:p>
          <a:p>
            <a:endParaRPr lang="en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Receive information through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Perform a 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dirty="0"/>
              <a:t>Return a value</a:t>
            </a:r>
          </a:p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DC3B2-188A-EAF9-4BB7-D59EC81299D8}"/>
              </a:ext>
            </a:extLst>
          </p:cNvPr>
          <p:cNvSpPr txBox="1"/>
          <p:nvPr/>
        </p:nvSpPr>
        <p:spPr>
          <a:xfrm>
            <a:off x="389965" y="2932295"/>
            <a:ext cx="74911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Example:</a:t>
            </a:r>
          </a:p>
          <a:p>
            <a:endParaRPr lang="en-CN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score1, double score2)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(score1 + score2) / 2.0;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6F907-D55F-26C8-E528-61CD13229D32}"/>
              </a:ext>
            </a:extLst>
          </p:cNvPr>
          <p:cNvSpPr txBox="1"/>
          <p:nvPr/>
        </p:nvSpPr>
        <p:spPr>
          <a:xfrm>
            <a:off x="430306" y="4894729"/>
            <a:ext cx="6801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Function call:</a:t>
            </a:r>
          </a:p>
          <a:p>
            <a:endParaRPr lang="en-CN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average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(exam1, exam2);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A6FC6-4E48-1473-FE91-5904E926AD39}"/>
              </a:ext>
            </a:extLst>
          </p:cNvPr>
          <p:cNvSpPr txBox="1"/>
          <p:nvPr/>
        </p:nvSpPr>
        <p:spPr>
          <a:xfrm>
            <a:off x="8641976" y="4141694"/>
            <a:ext cx="303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score1, score2 → parameters</a:t>
            </a:r>
          </a:p>
          <a:p>
            <a:r>
              <a:rPr lang="en-US" dirty="0">
                <a:solidFill>
                  <a:srgbClr val="FF0000"/>
                </a:solidFill>
              </a:rPr>
              <a:t>exam1, exam2   → arguments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8A201-EEE6-635A-87FF-14AAB20CA603}"/>
              </a:ext>
            </a:extLst>
          </p:cNvPr>
          <p:cNvSpPr txBox="1"/>
          <p:nvPr/>
        </p:nvSpPr>
        <p:spPr>
          <a:xfrm>
            <a:off x="5647765" y="6029387"/>
            <a:ext cx="5979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Parameters appear in the function definition; arguments </a:t>
            </a:r>
          </a:p>
          <a:p>
            <a:r>
              <a:rPr lang="en-CN" dirty="0">
                <a:solidFill>
                  <a:srgbClr val="FF0000"/>
                </a:solidFill>
              </a:rPr>
              <a:t>are the actual values supplied when the function is called. </a:t>
            </a:r>
          </a:p>
        </p:txBody>
      </p:sp>
    </p:spTree>
    <p:extLst>
      <p:ext uri="{BB962C8B-B14F-4D97-AF65-F5344CB8AC3E}">
        <p14:creationId xmlns:p14="http://schemas.microsoft.com/office/powerpoint/2010/main" val="114158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13A7-D638-A065-0186-A472CB44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024" y="-117664"/>
            <a:ext cx="10515600" cy="997510"/>
          </a:xfrm>
        </p:spPr>
        <p:txBody>
          <a:bodyPr/>
          <a:lstStyle/>
          <a:p>
            <a:r>
              <a:rPr lang="en-CN" dirty="0"/>
              <a:t>Getting Input with a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03E0A-DC02-9A48-C602-DD1DD0035836}"/>
              </a:ext>
            </a:extLst>
          </p:cNvPr>
          <p:cNvSpPr txBox="1"/>
          <p:nvPr/>
        </p:nvSpPr>
        <p:spPr>
          <a:xfrm>
            <a:off x="298024" y="948960"/>
            <a:ext cx="39549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Instead of repeatedly writing:</a:t>
            </a:r>
          </a:p>
          <a:p>
            <a:endParaRPr lang="en-CN" dirty="0"/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score: ";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score;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2593C-AA3F-BBA7-91DA-8666027B0930}"/>
              </a:ext>
            </a:extLst>
          </p:cNvPr>
          <p:cNvSpPr txBox="1"/>
          <p:nvPr/>
        </p:nvSpPr>
        <p:spPr>
          <a:xfrm>
            <a:off x="298024" y="2195320"/>
            <a:ext cx="450636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we can create: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N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score;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score: ";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score;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score;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55730-5A18-F84D-52CB-5E4C78520CE2}"/>
              </a:ext>
            </a:extLst>
          </p:cNvPr>
          <p:cNvSpPr txBox="1"/>
          <p:nvPr/>
        </p:nvSpPr>
        <p:spPr>
          <a:xfrm>
            <a:off x="298024" y="5326317"/>
            <a:ext cx="36792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Then: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exam1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exam2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homework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lab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609D6-4DB5-7AD9-5882-5F2C21D16B4E}"/>
              </a:ext>
            </a:extLst>
          </p:cNvPr>
          <p:cNvSpPr txBox="1"/>
          <p:nvPr/>
        </p:nvSpPr>
        <p:spPr>
          <a:xfrm>
            <a:off x="6723529" y="2366682"/>
            <a:ext cx="296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This saves us time and save </a:t>
            </a:r>
          </a:p>
        </p:txBody>
      </p:sp>
    </p:spTree>
    <p:extLst>
      <p:ext uri="{BB962C8B-B14F-4D97-AF65-F5344CB8AC3E}">
        <p14:creationId xmlns:p14="http://schemas.microsoft.com/office/powerpoint/2010/main" val="11553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1395-4AEC-953C-973D-A8C33D6E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17" y="200211"/>
            <a:ext cx="10515600" cy="961651"/>
          </a:xfrm>
        </p:spPr>
        <p:txBody>
          <a:bodyPr/>
          <a:lstStyle/>
          <a:p>
            <a:r>
              <a:rPr lang="en-CN" dirty="0"/>
              <a:t>Calculate the Exam Average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35554-F6B3-2F99-25CD-0B5CEE3443B8}"/>
              </a:ext>
            </a:extLst>
          </p:cNvPr>
          <p:cNvSpPr txBox="1"/>
          <p:nvPr/>
        </p:nvSpPr>
        <p:spPr>
          <a:xfrm>
            <a:off x="519953" y="1488141"/>
            <a:ext cx="82285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Create a function:</a:t>
            </a:r>
          </a:p>
          <a:p>
            <a:endParaRPr lang="en-CN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exam1, double exam2)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(exam1 + exam2) / 2.0;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60B76-AA37-94E5-7BF4-C47D0D8946F7}"/>
              </a:ext>
            </a:extLst>
          </p:cNvPr>
          <p:cNvSpPr txBox="1"/>
          <p:nvPr/>
        </p:nvSpPr>
        <p:spPr>
          <a:xfrm>
            <a:off x="681318" y="3783106"/>
            <a:ext cx="21627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If: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 1 = 80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 2 = 90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173F7-F5E1-F78E-EC3F-68363A9CC5A5}"/>
              </a:ext>
            </a:extLst>
          </p:cNvPr>
          <p:cNvSpPr txBox="1"/>
          <p:nvPr/>
        </p:nvSpPr>
        <p:spPr>
          <a:xfrm>
            <a:off x="3567953" y="3783106"/>
            <a:ext cx="308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Then</a:t>
            </a:r>
          </a:p>
          <a:p>
            <a:r>
              <a:rPr lang="en-CN" dirty="0"/>
              <a:t>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 Average = 85.0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A887D-8EAE-6A25-409F-85ECAA81ABD2}"/>
              </a:ext>
            </a:extLst>
          </p:cNvPr>
          <p:cNvSpPr txBox="1"/>
          <p:nvPr/>
        </p:nvSpPr>
        <p:spPr>
          <a:xfrm>
            <a:off x="466165" y="5181600"/>
            <a:ext cx="466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Question: Why do we use: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2.0 </a:t>
            </a:r>
            <a:r>
              <a:rPr lang="en-CN" dirty="0"/>
              <a:t>instead of: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5EAE93-EF3C-5A72-7A4F-E2E7B6AD4F43}"/>
              </a:ext>
            </a:extLst>
          </p:cNvPr>
          <p:cNvSpPr txBox="1"/>
          <p:nvPr/>
        </p:nvSpPr>
        <p:spPr>
          <a:xfrm>
            <a:off x="788894" y="6185647"/>
            <a:ext cx="11384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With double operands either works here, but 2.0 makes it clear that we are performing floating-point arithmetic.</a:t>
            </a:r>
          </a:p>
        </p:txBody>
      </p:sp>
    </p:spTree>
    <p:extLst>
      <p:ext uri="{BB962C8B-B14F-4D97-AF65-F5344CB8AC3E}">
        <p14:creationId xmlns:p14="http://schemas.microsoft.com/office/powerpoint/2010/main" val="325086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07BF-EC84-7EFC-B582-CF2AFD10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173317"/>
            <a:ext cx="10515600" cy="1015440"/>
          </a:xfrm>
        </p:spPr>
        <p:txBody>
          <a:bodyPr/>
          <a:lstStyle/>
          <a:p>
            <a:r>
              <a:rPr lang="en-CN" dirty="0"/>
              <a:t>Weighted Final Grade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549144-C997-E5F4-7438-25C1271AD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371601"/>
              </p:ext>
            </p:extLst>
          </p:nvPr>
        </p:nvGraphicFramePr>
        <p:xfrm>
          <a:off x="1463946" y="1701889"/>
          <a:ext cx="3482788" cy="1463040"/>
        </p:xfrm>
        <a:graphic>
          <a:graphicData uri="http://schemas.openxmlformats.org/drawingml/2006/table">
            <a:tbl>
              <a:tblPr/>
              <a:tblGrid>
                <a:gridCol w="1741394">
                  <a:extLst>
                    <a:ext uri="{9D8B030D-6E8A-4147-A177-3AD203B41FA5}">
                      <a16:colId xmlns:a16="http://schemas.microsoft.com/office/drawing/2014/main" val="2097670300"/>
                    </a:ext>
                  </a:extLst>
                </a:gridCol>
                <a:gridCol w="1741394">
                  <a:extLst>
                    <a:ext uri="{9D8B030D-6E8A-4147-A177-3AD203B41FA5}">
                      <a16:colId xmlns:a16="http://schemas.microsoft.com/office/drawing/2014/main" val="895657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347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Exams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947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Homework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00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Lab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8651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F527AB-D50D-B6B3-9CF7-576AFCD1EBE1}"/>
              </a:ext>
            </a:extLst>
          </p:cNvPr>
          <p:cNvSpPr txBox="1"/>
          <p:nvPr/>
        </p:nvSpPr>
        <p:spPr>
          <a:xfrm>
            <a:off x="412376" y="1260657"/>
            <a:ext cx="2103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For this lab, use: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8FE13-D8CD-7E29-30C1-3936CBE1992F}"/>
              </a:ext>
            </a:extLst>
          </p:cNvPr>
          <p:cNvSpPr txBox="1"/>
          <p:nvPr/>
        </p:nvSpPr>
        <p:spPr>
          <a:xfrm>
            <a:off x="251012" y="3310605"/>
            <a:ext cx="1194098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The formula is: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Final Grade = (Exam Average × 0.50) + (Homework × 0.25) + (Lab × 0.25)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Function: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double homework,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double lab)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0.50)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+ (homework * 0.25)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+ (lab * 0.25);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691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E94B-66F1-421F-FAF1-B5EC65EB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4" y="209176"/>
            <a:ext cx="10515600" cy="943722"/>
          </a:xfrm>
        </p:spPr>
        <p:txBody>
          <a:bodyPr/>
          <a:lstStyle/>
          <a:p>
            <a:r>
              <a:rPr lang="en-CN" dirty="0"/>
              <a:t>Determine the Letter Grade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172AE-CDE2-070D-C4F7-318CD71ED234}"/>
              </a:ext>
            </a:extLst>
          </p:cNvPr>
          <p:cNvSpPr txBox="1"/>
          <p:nvPr/>
        </p:nvSpPr>
        <p:spPr>
          <a:xfrm>
            <a:off x="233083" y="1152898"/>
            <a:ext cx="519565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000" dirty="0"/>
              <a:t>Use if / else if / else:</a:t>
            </a:r>
          </a:p>
          <a:p>
            <a:endParaRPr lang="en-CN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grade)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(grade &gt;= 90)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'A';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(grade &gt;= 80)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'B';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(grade &gt;= 70)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'C';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(grade &gt;= 60)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'D';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'F';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2BD0D-E638-BB28-017A-BEF6D24DA61A}"/>
              </a:ext>
            </a:extLst>
          </p:cNvPr>
          <p:cNvSpPr txBox="1"/>
          <p:nvPr/>
        </p:nvSpPr>
        <p:spPr>
          <a:xfrm>
            <a:off x="338721" y="5974605"/>
            <a:ext cx="3781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Why is if/else-if appropriate here?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D4FF6-CF7D-72FE-571A-11E1B679F1B0}"/>
              </a:ext>
            </a:extLst>
          </p:cNvPr>
          <p:cNvSpPr txBox="1"/>
          <p:nvPr/>
        </p:nvSpPr>
        <p:spPr>
          <a:xfrm>
            <a:off x="5253318" y="6347012"/>
            <a:ext cx="440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Because we are checking ranges of values.</a:t>
            </a:r>
          </a:p>
        </p:txBody>
      </p:sp>
    </p:spTree>
    <p:extLst>
      <p:ext uri="{BB962C8B-B14F-4D97-AF65-F5344CB8AC3E}">
        <p14:creationId xmlns:p14="http://schemas.microsoft.com/office/powerpoint/2010/main" val="418990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7320-73AE-9478-1D41-20A2B3834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6" y="253999"/>
            <a:ext cx="10515600" cy="854075"/>
          </a:xfrm>
        </p:spPr>
        <p:txBody>
          <a:bodyPr/>
          <a:lstStyle/>
          <a:p>
            <a:r>
              <a:rPr lang="en-CN" dirty="0"/>
              <a:t>Using switch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A66E8-493C-C17E-7DFF-0AE9DAE2497C}"/>
              </a:ext>
            </a:extLst>
          </p:cNvPr>
          <p:cNvSpPr txBox="1"/>
          <p:nvPr/>
        </p:nvSpPr>
        <p:spPr>
          <a:xfrm>
            <a:off x="354106" y="1108074"/>
            <a:ext cx="6987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Once we have a letter grade: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5B500-395E-24B8-CEDE-C3B4E1D3ECC4}"/>
              </a:ext>
            </a:extLst>
          </p:cNvPr>
          <p:cNvSpPr txBox="1"/>
          <p:nvPr/>
        </p:nvSpPr>
        <p:spPr>
          <a:xfrm>
            <a:off x="354106" y="1754405"/>
            <a:ext cx="6231193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we can use switch: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switch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letterGrade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'A':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"Excellent performance!"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'B':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"Good performance!"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'C':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"Satisfactory performance."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'D':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"Needs improvement."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'F':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"Failing."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1EC22-4A84-4272-E8BC-D309C3CC52D0}"/>
              </a:ext>
            </a:extLst>
          </p:cNvPr>
          <p:cNvSpPr txBox="1"/>
          <p:nvPr/>
        </p:nvSpPr>
        <p:spPr>
          <a:xfrm>
            <a:off x="8261859" y="2913529"/>
            <a:ext cx="1918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Why switch here?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8442F2-BE19-F0FB-802C-7F64EBDAFAE9}"/>
              </a:ext>
            </a:extLst>
          </p:cNvPr>
          <p:cNvSpPr txBox="1"/>
          <p:nvPr/>
        </p:nvSpPr>
        <p:spPr>
          <a:xfrm>
            <a:off x="8390965" y="3944471"/>
            <a:ext cx="357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We are comparing specific values: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'A', 'B', 'C', 'D', 'F'</a:t>
            </a:r>
            <a:endParaRPr lang="en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94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3D42-2144-5504-7570-3580E462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53" y="245035"/>
            <a:ext cx="10515600" cy="872004"/>
          </a:xfrm>
        </p:spPr>
        <p:txBody>
          <a:bodyPr/>
          <a:lstStyle/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N" dirty="0"/>
              <a:t> vs.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5B9F3A-0F60-821B-AEC9-CB3F6E948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709823"/>
              </p:ext>
            </p:extLst>
          </p:nvPr>
        </p:nvGraphicFramePr>
        <p:xfrm>
          <a:off x="443753" y="1276023"/>
          <a:ext cx="62797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9888">
                  <a:extLst>
                    <a:ext uri="{9D8B030D-6E8A-4147-A177-3AD203B41FA5}">
                      <a16:colId xmlns:a16="http://schemas.microsoft.com/office/drawing/2014/main" val="3105240258"/>
                    </a:ext>
                  </a:extLst>
                </a:gridCol>
                <a:gridCol w="3139888">
                  <a:extLst>
                    <a:ext uri="{9D8B030D-6E8A-4147-A177-3AD203B41FA5}">
                      <a16:colId xmlns:a16="http://schemas.microsoft.com/office/drawing/2014/main" val="566220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if / else 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switch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434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Good for ranges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Good for specific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04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grade &gt;= 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case 'A':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8433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Can use &lt;, &gt;, &lt;=, 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Matches individual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365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Complex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Menus and selections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6327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68DF7C-D605-927F-37EE-002E54F4B232}"/>
              </a:ext>
            </a:extLst>
          </p:cNvPr>
          <p:cNvSpPr txBox="1"/>
          <p:nvPr/>
        </p:nvSpPr>
        <p:spPr>
          <a:xfrm>
            <a:off x="286870" y="3603812"/>
            <a:ext cx="7282250" cy="888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In our program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(grade &gt;= 90) </a:t>
            </a:r>
            <a:r>
              <a:rPr lang="en-CN" dirty="0"/>
              <a:t>determines the letter grade.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Then: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CN" dirty="0"/>
              <a:t>determines the message.</a:t>
            </a:r>
          </a:p>
        </p:txBody>
      </p:sp>
    </p:spTree>
    <p:extLst>
      <p:ext uri="{BB962C8B-B14F-4D97-AF65-F5344CB8AC3E}">
        <p14:creationId xmlns:p14="http://schemas.microsoft.com/office/powerpoint/2010/main" val="523512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7BD2-C2D0-E7FD-EEDF-4A7B1612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70" y="0"/>
            <a:ext cx="10515600" cy="1129553"/>
          </a:xfrm>
        </p:spPr>
        <p:txBody>
          <a:bodyPr/>
          <a:lstStyle/>
          <a:p>
            <a:r>
              <a:rPr lang="en-CN" dirty="0"/>
              <a:t>Formatting the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DE523-D1FC-C72F-BBD6-496BEF80E17F}"/>
              </a:ext>
            </a:extLst>
          </p:cNvPr>
          <p:cNvSpPr txBox="1"/>
          <p:nvPr/>
        </p:nvSpPr>
        <p:spPr>
          <a:xfrm>
            <a:off x="376517" y="1381506"/>
            <a:ext cx="94893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Include: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iomanip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 </a:t>
            </a:r>
            <a:r>
              <a:rPr lang="en-US" dirty="0"/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fixed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setprecision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(2);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displays: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85.00 92.50 87.25 </a:t>
            </a:r>
            <a:r>
              <a:rPr lang="en-CN" dirty="0"/>
              <a:t>instead of inconsistent numbers of decimal places.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N" dirty="0"/>
              <a:t>Example: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"Final Grade: "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&lt;&lt; fixed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setprecision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F3E20-58FB-9602-BD09-DFD5E40CA22B}"/>
              </a:ext>
            </a:extLst>
          </p:cNvPr>
          <p:cNvSpPr txBox="1"/>
          <p:nvPr/>
        </p:nvSpPr>
        <p:spPr>
          <a:xfrm>
            <a:off x="197224" y="4231341"/>
            <a:ext cx="5423857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N" sz="2800" dirty="0"/>
              <a:t>Student Name: </a:t>
            </a:r>
          </a:p>
          <a:p>
            <a:r>
              <a:rPr lang="en-CN" dirty="0"/>
              <a:t>           Because a student's name may contain spaces: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student name: ";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name);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884FB-54D4-A4D3-7780-A3CD0C19CB10}"/>
              </a:ext>
            </a:extLst>
          </p:cNvPr>
          <p:cNvSpPr txBox="1"/>
          <p:nvPr/>
        </p:nvSpPr>
        <p:spPr>
          <a:xfrm>
            <a:off x="0" y="6311735"/>
            <a:ext cx="1243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For 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Ebuka Oguchi </a:t>
            </a:r>
            <a:r>
              <a:rPr lang="en-CN" dirty="0"/>
              <a:t>Using: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name; </a:t>
            </a:r>
            <a:r>
              <a:rPr lang="en-CN" dirty="0"/>
              <a:t>would only read: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Ebuka </a:t>
            </a:r>
            <a:r>
              <a:rPr lang="en-CN" dirty="0"/>
              <a:t>when whitespace separates the input.</a:t>
            </a:r>
          </a:p>
        </p:txBody>
      </p:sp>
    </p:spTree>
    <p:extLst>
      <p:ext uri="{BB962C8B-B14F-4D97-AF65-F5344CB8AC3E}">
        <p14:creationId xmlns:p14="http://schemas.microsoft.com/office/powerpoint/2010/main" val="2245303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A972-4B4A-721D-2928-663E8AEE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9" y="236070"/>
            <a:ext cx="10515600" cy="889934"/>
          </a:xfrm>
        </p:spPr>
        <p:txBody>
          <a:bodyPr/>
          <a:lstStyle/>
          <a:p>
            <a:r>
              <a:rPr lang="en-CN" dirty="0"/>
              <a:t>Functions We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EF330-ADAC-780A-4247-B8C2DC836B9C}"/>
              </a:ext>
            </a:extLst>
          </p:cNvPr>
          <p:cNvSpPr txBox="1"/>
          <p:nvPr/>
        </p:nvSpPr>
        <p:spPr>
          <a:xfrm>
            <a:off x="246529" y="1126004"/>
            <a:ext cx="698781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Our program will contain: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exam1,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double exam2);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double homework,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double lab);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 grade);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(char grade);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A52BF-E971-A6D8-27B0-EA54251DA6A1}"/>
              </a:ext>
            </a:extLst>
          </p:cNvPr>
          <p:cNvSpPr txBox="1"/>
          <p:nvPr/>
        </p:nvSpPr>
        <p:spPr>
          <a:xfrm>
            <a:off x="246529" y="5408830"/>
            <a:ext cx="6146683" cy="888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Notice that some functions return values: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char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while: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CN" dirty="0"/>
              <a:t>means the function does not return a value.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66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2CF2-027E-5AF3-7D2A-2C8075594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383056"/>
            <a:ext cx="10515600" cy="943722"/>
          </a:xfrm>
        </p:spPr>
        <p:txBody>
          <a:bodyPr/>
          <a:lstStyle/>
          <a:p>
            <a:r>
              <a:rPr lang="en-CN" dirty="0"/>
              <a:t>Function Prototypes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D8C57-0837-F11F-6A87-510C2FF8543D}"/>
              </a:ext>
            </a:extLst>
          </p:cNvPr>
          <p:cNvSpPr txBox="1"/>
          <p:nvPr/>
        </p:nvSpPr>
        <p:spPr>
          <a:xfrm>
            <a:off x="412376" y="1452282"/>
            <a:ext cx="983865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If our function definitions are placed after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main(), </a:t>
            </a:r>
            <a:r>
              <a:rPr lang="en-CN" dirty="0"/>
              <a:t>we can place prototypes before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main():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(double, double);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(double, double, double);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382CA-4A4C-AFA1-8278-E0CBE601319B}"/>
              </a:ext>
            </a:extLst>
          </p:cNvPr>
          <p:cNvSpPr txBox="1"/>
          <p:nvPr/>
        </p:nvSpPr>
        <p:spPr>
          <a:xfrm>
            <a:off x="537882" y="4679576"/>
            <a:ext cx="35413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Then: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function calls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B0C6A-7267-FE2C-9B44-FF14E8058DDE}"/>
              </a:ext>
            </a:extLst>
          </p:cNvPr>
          <p:cNvSpPr txBox="1"/>
          <p:nvPr/>
        </p:nvSpPr>
        <p:spPr>
          <a:xfrm>
            <a:off x="551330" y="6337210"/>
            <a:ext cx="545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And the function definitions can appear afterward.</a:t>
            </a:r>
          </a:p>
        </p:txBody>
      </p:sp>
    </p:spTree>
    <p:extLst>
      <p:ext uri="{BB962C8B-B14F-4D97-AF65-F5344CB8AC3E}">
        <p14:creationId xmlns:p14="http://schemas.microsoft.com/office/powerpoint/2010/main" val="2690994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5AF9-E973-8B2A-D31F-F36B05646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53" y="200211"/>
            <a:ext cx="10515600" cy="961651"/>
          </a:xfrm>
        </p:spPr>
        <p:txBody>
          <a:bodyPr/>
          <a:lstStyle/>
          <a:p>
            <a:r>
              <a:rPr lang="en-CN" dirty="0"/>
              <a:t>Building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B2649-E6E6-6EC5-0CB0-BC7B50F54C36}"/>
              </a:ext>
            </a:extLst>
          </p:cNvPr>
          <p:cNvSpPr txBox="1"/>
          <p:nvPr/>
        </p:nvSpPr>
        <p:spPr>
          <a:xfrm>
            <a:off x="443753" y="1102578"/>
            <a:ext cx="5087611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Now main() can coordinate the entire program: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name;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exam1, exam2;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homework, lab;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student name: ";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name);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"Exam 1"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exam1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"Exam 2"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exam2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"Homework"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homework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"Lab"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lab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// More code goes here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003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55E6-16FC-9192-18DE-AD3B0A6C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3760"/>
            <a:ext cx="10515600" cy="1033369"/>
          </a:xfrm>
        </p:spPr>
        <p:txBody>
          <a:bodyPr/>
          <a:lstStyle/>
          <a:p>
            <a:r>
              <a:rPr lang="en-CN" dirty="0"/>
              <a:t>Perform the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7A781-E839-B814-9B73-A3A3ED68412E}"/>
              </a:ext>
            </a:extLst>
          </p:cNvPr>
          <p:cNvSpPr txBox="1"/>
          <p:nvPr/>
        </p:nvSpPr>
        <p:spPr>
          <a:xfrm>
            <a:off x="448235" y="1488141"/>
            <a:ext cx="556113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Inside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main():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(exam1, exam2);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homework,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lab);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405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A167-627F-083D-87F4-A837BF12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18" y="200211"/>
            <a:ext cx="10515600" cy="961651"/>
          </a:xfrm>
        </p:spPr>
        <p:txBody>
          <a:bodyPr/>
          <a:lstStyle/>
          <a:p>
            <a:r>
              <a:rPr lang="en-CN" dirty="0"/>
              <a:t>Program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D1C47-37D4-0B67-C9C6-7BA52BBFAC73}"/>
              </a:ext>
            </a:extLst>
          </p:cNvPr>
          <p:cNvSpPr txBox="1"/>
          <p:nvPr/>
        </p:nvSpPr>
        <p:spPr>
          <a:xfrm>
            <a:off x="4267200" y="471480"/>
            <a:ext cx="5009705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exam1 ──┐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├──►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calculateExamAverage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exam2 ──┘              │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▼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examAverage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│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homework ──────────────┤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lab ───────────────────┤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▼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calculateFinalGrade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│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▼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finalGrade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│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▼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getLetterGrade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│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▼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letterGrade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│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▼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7D223C-007E-E880-09DC-9BC3CE0504AB}"/>
              </a:ext>
            </a:extLst>
          </p:cNvPr>
          <p:cNvSpPr txBox="1"/>
          <p:nvPr/>
        </p:nvSpPr>
        <p:spPr>
          <a:xfrm>
            <a:off x="300318" y="4069976"/>
            <a:ext cx="6313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A large program is built by connecting smaller pieces together.</a:t>
            </a:r>
          </a:p>
        </p:txBody>
      </p:sp>
    </p:spTree>
    <p:extLst>
      <p:ext uri="{BB962C8B-B14F-4D97-AF65-F5344CB8AC3E}">
        <p14:creationId xmlns:p14="http://schemas.microsoft.com/office/powerpoint/2010/main" val="364336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4E92-7475-512F-80A5-78DA54C0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83" y="0"/>
            <a:ext cx="10515600" cy="925793"/>
          </a:xfrm>
        </p:spPr>
        <p:txBody>
          <a:bodyPr/>
          <a:lstStyle/>
          <a:p>
            <a:r>
              <a:rPr lang="en-CN" dirty="0"/>
              <a:t>Student Grade Calculator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20031-8DD8-9450-B46D-1FB64D869637}"/>
              </a:ext>
            </a:extLst>
          </p:cNvPr>
          <p:cNvSpPr txBox="1"/>
          <p:nvPr/>
        </p:nvSpPr>
        <p:spPr>
          <a:xfrm>
            <a:off x="262965" y="627529"/>
            <a:ext cx="5662127" cy="634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&lt;iomanip&gt;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Function prototypes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getScore();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calculateExamAverage(double, double);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calculateFinalGrade(double, double, double);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char getLetterGrade(double);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void displayMessage(char);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exam1, exam2;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homework, lab;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examAverage;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finalGrade;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char letterGrade;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Get student's name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"Enter student name: ";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getline(cin, name);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3BA34-06CE-F82E-276F-52411DDB77E2}"/>
              </a:ext>
            </a:extLst>
          </p:cNvPr>
          <p:cNvSpPr txBox="1"/>
          <p:nvPr/>
        </p:nvSpPr>
        <p:spPr>
          <a:xfrm>
            <a:off x="5635812" y="352611"/>
            <a:ext cx="6736139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Get scores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"\nExam 1"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exam1 = getScore();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"\nExam 2"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exam2 = getScore();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"\nHomework"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homework = getScore();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"\nLab"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lab = getScore();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Calculate exam average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examAverage = calculateExamAverage(exam1, exam2);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Calculate final grade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finalGrade = calculateFinalGrade(examAverage, homework, lab);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Determine letter grade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letterGrade = getLetterGrade(finalGrade);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Format decimal output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fixed &lt;&lt; setprecision(2);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495232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E044A4-6239-51BA-FB47-7EFEE87EF185}"/>
              </a:ext>
            </a:extLst>
          </p:cNvPr>
          <p:cNvSpPr txBox="1"/>
          <p:nvPr/>
        </p:nvSpPr>
        <p:spPr>
          <a:xfrm>
            <a:off x="47811" y="151179"/>
            <a:ext cx="5339923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Display grade report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"\n-------- GRADE REPORT -----"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"Student: " &lt;&lt; name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"Exam Average: " &lt;&lt; examAverage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"Homework: " &lt;&lt; homework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"Lab: " &lt;&lt; lab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"Final Grade: " &lt;&lt; finalGrade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"Letter Grade: " &lt;&lt; letterGrade &lt;&lt; endl;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displayMessage(letterGrade);</a:t>
            </a:r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0;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Get a score from the user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getScore() 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score;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"Enter score: ";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cin &gt;&gt; score;</a:t>
            </a:r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(score &lt; 0 || score &gt; 100)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"Invalid score."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score;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61C28-F358-0E11-22DE-ACE6A00F41F9}"/>
              </a:ext>
            </a:extLst>
          </p:cNvPr>
          <p:cNvSpPr txBox="1"/>
          <p:nvPr/>
        </p:nvSpPr>
        <p:spPr>
          <a:xfrm>
            <a:off x="5387734" y="129040"/>
            <a:ext cx="6950942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Calculate exam average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calculateExamAverage(double exam1, double exam2)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(exam1 + exam2) / 2.0;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Calculate weighted final grade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calculateFinalGrade(double examAverage, 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double homework, double lab){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(examAverage * 0.50) + (homework * 0.25) + (lab * 0.25);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//Determin letter grade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char getLetterGrade(double grade){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(grade &gt;= 90){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'A';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(grade &gt;= 80){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'B';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(grade &gt;= 70){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'C';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(grade &gt;= 60){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'D';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'F';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8577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44AA6-9876-E431-4235-BAB355F50FFB}"/>
              </a:ext>
            </a:extLst>
          </p:cNvPr>
          <p:cNvSpPr txBox="1"/>
          <p:nvPr/>
        </p:nvSpPr>
        <p:spPr>
          <a:xfrm>
            <a:off x="412376" y="334682"/>
            <a:ext cx="4910319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Display performance message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void displayMessage (char grade)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switch (grade)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case 'A':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"Excellent performance!"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case 'B':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"Good performance!"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case 'C':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"Satisfactory performance."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case 'D':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"Needs improvement."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b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case 'F':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"Failing."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default: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"Invalid grade." &lt;&lt; endl;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2915939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2AE0-A292-83F0-CADE-A734FC01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52" y="0"/>
            <a:ext cx="10515600" cy="889934"/>
          </a:xfrm>
        </p:spPr>
        <p:txBody>
          <a:bodyPr/>
          <a:lstStyle/>
          <a:p>
            <a:r>
              <a:rPr lang="en-CN" dirty="0"/>
              <a:t>Expected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D4E6C-90CF-E808-7CCF-23C3FC6898FD}"/>
              </a:ext>
            </a:extLst>
          </p:cNvPr>
          <p:cNvSpPr txBox="1"/>
          <p:nvPr/>
        </p:nvSpPr>
        <p:spPr>
          <a:xfrm>
            <a:off x="591671" y="856357"/>
            <a:ext cx="498437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Enter student name: Jane Smith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Exam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Enter score: 85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Exam 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Enter score: 92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Homework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Enter score: 88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Lab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Enter score: 95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------ GRADE REPORT ------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Student: Jane Smith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Exam Average: 88.50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Homework: 88.00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Lab: 95.00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Final Grade: 90.00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Letter Grade: A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Excellent performance!</a:t>
            </a:r>
            <a:endParaRPr lang="en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9D220-1852-5E64-686B-DA85BC8E94B5}"/>
              </a:ext>
            </a:extLst>
          </p:cNvPr>
          <p:cNvSpPr txBox="1"/>
          <p:nvPr/>
        </p:nvSpPr>
        <p:spPr>
          <a:xfrm>
            <a:off x="4609603" y="4285130"/>
            <a:ext cx="758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Using the stated weights, the final grade for those values is exactly </a:t>
            </a:r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90.00.</a:t>
            </a:r>
          </a:p>
        </p:txBody>
      </p:sp>
    </p:spTree>
    <p:extLst>
      <p:ext uri="{BB962C8B-B14F-4D97-AF65-F5344CB8AC3E}">
        <p14:creationId xmlns:p14="http://schemas.microsoft.com/office/powerpoint/2010/main" val="97306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A2407-E3B2-582C-3958-F1064CE68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77" y="182282"/>
            <a:ext cx="10515600" cy="997510"/>
          </a:xfrm>
        </p:spPr>
        <p:txBody>
          <a:bodyPr>
            <a:normAutofit fontScale="90000"/>
          </a:bodyPr>
          <a:lstStyle/>
          <a:p>
            <a:r>
              <a:rPr lang="en-US" dirty="0"/>
              <a:t>In-Class Exercise: Shopping Discount Calculator</a:t>
            </a:r>
            <a:br>
              <a:rPr lang="en-US" dirty="0"/>
            </a:b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47467-8096-C9A4-2291-C42632606025}"/>
              </a:ext>
            </a:extLst>
          </p:cNvPr>
          <p:cNvSpPr txBox="1"/>
          <p:nvPr/>
        </p:nvSpPr>
        <p:spPr>
          <a:xfrm>
            <a:off x="336177" y="948690"/>
            <a:ext cx="942796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400" dirty="0"/>
              <a:t>Write a C++ program that simulates a shopping discount calculator.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400" dirty="0"/>
              <a:t>Your program should ask the user to enter: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sz="2400" dirty="0"/>
              <a:t>Customer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sz="2400" dirty="0"/>
              <a:t>Price of an item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sz="2400" dirty="0"/>
              <a:t>Quantity purchased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sz="2400" dirty="0"/>
              <a:t>Customer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5CF6F-633C-1E40-F29A-3D79F42EA802}"/>
              </a:ext>
            </a:extLst>
          </p:cNvPr>
          <p:cNvSpPr txBox="1"/>
          <p:nvPr/>
        </p:nvSpPr>
        <p:spPr>
          <a:xfrm>
            <a:off x="336177" y="3465513"/>
            <a:ext cx="56566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400" dirty="0"/>
              <a:t>The customer types and discounts are:</a:t>
            </a:r>
          </a:p>
          <a:p>
            <a:endParaRPr lang="en-C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C598C9-9185-9656-F4CE-C62CF99C7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696655"/>
              </p:ext>
            </p:extLst>
          </p:nvPr>
        </p:nvGraphicFramePr>
        <p:xfrm>
          <a:off x="909918" y="4204177"/>
          <a:ext cx="7158318" cy="1463040"/>
        </p:xfrm>
        <a:graphic>
          <a:graphicData uri="http://schemas.openxmlformats.org/drawingml/2006/table">
            <a:tbl>
              <a:tblPr/>
              <a:tblGrid>
                <a:gridCol w="2386106">
                  <a:extLst>
                    <a:ext uri="{9D8B030D-6E8A-4147-A177-3AD203B41FA5}">
                      <a16:colId xmlns:a16="http://schemas.microsoft.com/office/drawing/2014/main" val="4043231915"/>
                    </a:ext>
                  </a:extLst>
                </a:gridCol>
                <a:gridCol w="2386106">
                  <a:extLst>
                    <a:ext uri="{9D8B030D-6E8A-4147-A177-3AD203B41FA5}">
                      <a16:colId xmlns:a16="http://schemas.microsoft.com/office/drawing/2014/main" val="3274257500"/>
                    </a:ext>
                  </a:extLst>
                </a:gridCol>
                <a:gridCol w="2386106">
                  <a:extLst>
                    <a:ext uri="{9D8B030D-6E8A-4147-A177-3AD203B41FA5}">
                      <a16:colId xmlns:a16="http://schemas.microsoft.com/office/drawing/2014/main" val="2948920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Customer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Discount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51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Regular 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777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02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15%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312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159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1AB6-4F7A-3CC0-F082-571F4AA1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58" y="0"/>
            <a:ext cx="10515600" cy="961650"/>
          </a:xfrm>
        </p:spPr>
        <p:txBody>
          <a:bodyPr>
            <a:normAutofit/>
          </a:bodyPr>
          <a:lstStyle/>
          <a:p>
            <a:r>
              <a:rPr lang="en-US" dirty="0"/>
              <a:t>Program Requirements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93459-5B2F-7E0B-3388-D339311BFD30}"/>
              </a:ext>
            </a:extLst>
          </p:cNvPr>
          <p:cNvSpPr txBox="1"/>
          <p:nvPr/>
        </p:nvSpPr>
        <p:spPr>
          <a:xfrm>
            <a:off x="150558" y="1225689"/>
            <a:ext cx="1214896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Your program must: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 the user for the customer's name.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 for the price of the item.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 for the quantity purchased.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 for the customer type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(R, S, or M).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Calculate the subtotal: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Subtotal = Price × Quantity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Determine the appropriate discount rate based on the customer type.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Calculate the discount amount: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Discount Amount = Subtotal × Discount Rate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Calculate the final total: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Final Total = Subtotal − Discount Amount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 an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 / else if / else </a:t>
            </a:r>
            <a:r>
              <a:rPr lang="en-CN" dirty="0"/>
              <a:t>statement to determine the discount rate.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 a switch statement to display an appropriate message based on the customer type.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 user-defined functions to organize your program. </a:t>
            </a:r>
            <a:r>
              <a:rPr lang="en-CN" sz="1600" dirty="0"/>
              <a:t>Your program must contain at least three functions in addition to main().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fixed</a:t>
            </a:r>
            <a:r>
              <a:rPr lang="en-CN" dirty="0"/>
              <a:t>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setprecision(2) </a:t>
            </a:r>
            <a:r>
              <a:rPr lang="en-CN" dirty="0"/>
              <a:t>to display monetary values to two decimal places.</a:t>
            </a:r>
          </a:p>
          <a:p>
            <a:pPr marL="342900" indent="-342900">
              <a:buFont typeface="+mj-lt"/>
              <a:buAutoNum type="arabicPeriod"/>
            </a:pP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B96BB-A26B-C0D5-5618-E7CFE2FDBEF7}"/>
              </a:ext>
            </a:extLst>
          </p:cNvPr>
          <p:cNvSpPr txBox="1"/>
          <p:nvPr/>
        </p:nvSpPr>
        <p:spPr>
          <a:xfrm>
            <a:off x="6831105" y="348525"/>
            <a:ext cx="500970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Example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customer name: Jane Smith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item price: $50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quantity: 3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customer type (R, S, or M): S</a:t>
            </a:r>
          </a:p>
          <a:p>
            <a:endParaRPr lang="en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------ PURCHASE SUMMARY ------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Customer: Jane Smith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Subtotal: $150.00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Discount: $15.00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 Total: $135.00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Discount Applied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5846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D0C2-B9FE-45FF-8881-F1DBDE8F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67" y="0"/>
            <a:ext cx="10515600" cy="854075"/>
          </a:xfrm>
        </p:spPr>
        <p:txBody>
          <a:bodyPr/>
          <a:lstStyle/>
          <a:p>
            <a:r>
              <a:rPr lang="en-CN" dirty="0"/>
              <a:t>Required C++ Concepts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C285C-D2D2-A700-0B10-AABCD56807C8}"/>
              </a:ext>
            </a:extLst>
          </p:cNvPr>
          <p:cNvSpPr txBox="1"/>
          <p:nvPr/>
        </p:nvSpPr>
        <p:spPr>
          <a:xfrm>
            <a:off x="372035" y="719204"/>
            <a:ext cx="5945858" cy="61387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Variables and data types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string, int, double, and char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Arithmetic operators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Functions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Parameters and arguments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Return values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if / else if / else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switch / case / break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✓ fixed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setprecision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DDFBA-1797-C796-DB56-00C8D7309F3E}"/>
              </a:ext>
            </a:extLst>
          </p:cNvPr>
          <p:cNvSpPr txBox="1"/>
          <p:nvPr/>
        </p:nvSpPr>
        <p:spPr>
          <a:xfrm>
            <a:off x="6777318" y="3173506"/>
            <a:ext cx="4975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Do not place the entire program inside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main().</a:t>
            </a:r>
          </a:p>
        </p:txBody>
      </p:sp>
    </p:spTree>
    <p:extLst>
      <p:ext uri="{BB962C8B-B14F-4D97-AF65-F5344CB8AC3E}">
        <p14:creationId xmlns:p14="http://schemas.microsoft.com/office/powerpoint/2010/main" val="2569742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7AE83-D688-3B37-7270-7215B83B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59" y="209176"/>
            <a:ext cx="10515600" cy="943722"/>
          </a:xfrm>
        </p:spPr>
        <p:txBody>
          <a:bodyPr/>
          <a:lstStyle/>
          <a:p>
            <a:r>
              <a:rPr lang="en-CN" dirty="0"/>
              <a:t>Challenge: Input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E34-92DC-3CF9-AC72-D1F987F66583}"/>
              </a:ext>
            </a:extLst>
          </p:cNvPr>
          <p:cNvSpPr txBox="1"/>
          <p:nvPr/>
        </p:nvSpPr>
        <p:spPr>
          <a:xfrm>
            <a:off x="264459" y="1086596"/>
            <a:ext cx="109857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What happens if the user enters: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Item price: -50 </a:t>
            </a:r>
            <a:r>
              <a:rPr lang="en-US" dirty="0"/>
              <a:t>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Quantity: -3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Detects an invalid input: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(price &lt;= 0 || quantity &lt;= 0)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"Error: Price and quantity must be greater than zero."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5A2D5-2315-AB81-4295-DCB225951539}"/>
              </a:ext>
            </a:extLst>
          </p:cNvPr>
          <p:cNvSpPr txBox="1"/>
          <p:nvPr/>
        </p:nvSpPr>
        <p:spPr>
          <a:xfrm>
            <a:off x="264459" y="3015306"/>
            <a:ext cx="4641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600" dirty="0"/>
              <a:t>Think Before You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9F976-A57F-0C14-F7EE-437DEB606F16}"/>
              </a:ext>
            </a:extLst>
          </p:cNvPr>
          <p:cNvSpPr txBox="1"/>
          <p:nvPr/>
        </p:nvSpPr>
        <p:spPr>
          <a:xfrm>
            <a:off x="264459" y="3661637"/>
            <a:ext cx="500233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Before writing the complete program, identify: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Inputs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Customer name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Item price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Quantity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Customer type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B557B7-F753-32D1-8E6C-9F10DDFD707D}"/>
              </a:ext>
            </a:extLst>
          </p:cNvPr>
          <p:cNvSpPr txBox="1"/>
          <p:nvPr/>
        </p:nvSpPr>
        <p:spPr>
          <a:xfrm>
            <a:off x="264459" y="5380672"/>
            <a:ext cx="40927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Processing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subtotal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Determine discount rate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discount amount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final total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962A4-78EA-DEF9-59BF-E7BB7C382FF8}"/>
              </a:ext>
            </a:extLst>
          </p:cNvPr>
          <p:cNvSpPr txBox="1"/>
          <p:nvPr/>
        </p:nvSpPr>
        <p:spPr>
          <a:xfrm>
            <a:off x="6275294" y="3747247"/>
            <a:ext cx="35413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Outputs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Customer name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Subtotal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Discount amount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Final total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Customer-type message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0CBFB-C310-B10F-6762-56F03001F517}"/>
              </a:ext>
            </a:extLst>
          </p:cNvPr>
          <p:cNvSpPr txBox="1"/>
          <p:nvPr/>
        </p:nvSpPr>
        <p:spPr>
          <a:xfrm>
            <a:off x="6096000" y="6257835"/>
            <a:ext cx="579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Then determine:  Which parts should become functions?</a:t>
            </a:r>
          </a:p>
        </p:txBody>
      </p:sp>
    </p:spTree>
    <p:extLst>
      <p:ext uri="{BB962C8B-B14F-4D97-AF65-F5344CB8AC3E}">
        <p14:creationId xmlns:p14="http://schemas.microsoft.com/office/powerpoint/2010/main" val="1522778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B50E-3C3F-8603-0DC0-4D24F07A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35" y="200211"/>
            <a:ext cx="10515600" cy="961651"/>
          </a:xfrm>
        </p:spPr>
        <p:txBody>
          <a:bodyPr/>
          <a:lstStyle/>
          <a:p>
            <a:r>
              <a:rPr lang="en-CN" dirty="0"/>
              <a:t>Key Takeaway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8CE77-208A-CBB8-D03F-4880C2450748}"/>
              </a:ext>
            </a:extLst>
          </p:cNvPr>
          <p:cNvSpPr txBox="1"/>
          <p:nvPr/>
        </p:nvSpPr>
        <p:spPr>
          <a:xfrm>
            <a:off x="376518" y="1559859"/>
            <a:ext cx="557806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 program does not have to be one large block of code.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Large Problem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↓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Break into smaller problems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↓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functions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↓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Connect the functions in main()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↓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Complete Program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91932-B017-B060-27DC-A6E6C757262A}"/>
              </a:ext>
            </a:extLst>
          </p:cNvPr>
          <p:cNvSpPr txBox="1"/>
          <p:nvPr/>
        </p:nvSpPr>
        <p:spPr>
          <a:xfrm>
            <a:off x="412376" y="5432612"/>
            <a:ext cx="705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</a:rPr>
              <a:t>Good programs are organized into smaller, understandable pieces.</a:t>
            </a:r>
          </a:p>
        </p:txBody>
      </p:sp>
    </p:spTree>
    <p:extLst>
      <p:ext uri="{BB962C8B-B14F-4D97-AF65-F5344CB8AC3E}">
        <p14:creationId xmlns:p14="http://schemas.microsoft.com/office/powerpoint/2010/main" val="330835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AFC2-73A4-8B81-E26B-92D22486E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38" y="-116787"/>
            <a:ext cx="10515600" cy="796410"/>
          </a:xfrm>
        </p:spPr>
        <p:txBody>
          <a:bodyPr/>
          <a:lstStyle/>
          <a:p>
            <a:r>
              <a:rPr lang="en-CN" dirty="0"/>
              <a:t>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6F023-681C-B16D-69C2-E14B78CD4766}"/>
              </a:ext>
            </a:extLst>
          </p:cNvPr>
          <p:cNvSpPr txBox="1"/>
          <p:nvPr/>
        </p:nvSpPr>
        <p:spPr>
          <a:xfrm>
            <a:off x="160638" y="383060"/>
            <a:ext cx="5447325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iomanip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Function prototypes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calculateSubtotal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(double, int);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getDiscountRate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calculateDiscount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(double, double);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displayCustomerMessage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price;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quantity;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customer name: ";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item price: $";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price;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quantity: ";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quantity;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customer type (R, S, or M): ";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DBBE7-40E6-8A22-89C5-E2759EFAE126}"/>
              </a:ext>
            </a:extLst>
          </p:cNvPr>
          <p:cNvSpPr txBox="1"/>
          <p:nvPr/>
        </p:nvSpPr>
        <p:spPr>
          <a:xfrm>
            <a:off x="5992867" y="689192"/>
            <a:ext cx="6199133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double subtotal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calculateSubtotal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(price, quantity);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discountRate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getDiscountRate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discount =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calculateDiscount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(subtotal,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discountRate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finalTotal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subtotal - discount;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fixed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setprecision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(2);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"\n------ PURCHASE SUMMARY ------"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"Customer: 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"Subtotal: $" &lt;&lt; subtotal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"Discount: $" &lt;&lt; discount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"Final Total: $"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finalTotal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displayCustomerMessage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Calculate subtotal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calculateSubtotal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price, int quantity)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price * quantity;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729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66F63-7D89-D5B2-F277-B9AD0D91DA8D}"/>
              </a:ext>
            </a:extLst>
          </p:cNvPr>
          <p:cNvSpPr txBox="1"/>
          <p:nvPr/>
        </p:nvSpPr>
        <p:spPr>
          <a:xfrm>
            <a:off x="333632" y="753763"/>
            <a:ext cx="501772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Determine discount rate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getDiscountRate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(char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'S')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0.10;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'M')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0.15;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0.0;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Calculate discount amount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calculateDiscount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subtotal,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discountRate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subtotal 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discountRate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55651-33F6-30D0-B1B0-DE7BD11558AD}"/>
              </a:ext>
            </a:extLst>
          </p:cNvPr>
          <p:cNvSpPr txBox="1"/>
          <p:nvPr/>
        </p:nvSpPr>
        <p:spPr>
          <a:xfrm>
            <a:off x="6091881" y="852616"/>
            <a:ext cx="6091732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Display message using switch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displayCustomerMessage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(char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switch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'R':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"Regular Customer"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'S':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"Student Discount Applied"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'M':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"Member Discount Applied"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default: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"Invalid Customer Type"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2420481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DF3A-D567-7E65-F5CE-29E11722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56" y="2417"/>
            <a:ext cx="10515600" cy="822407"/>
          </a:xfrm>
        </p:spPr>
        <p:txBody>
          <a:bodyPr/>
          <a:lstStyle/>
          <a:p>
            <a:r>
              <a:rPr lang="en-CN" dirty="0"/>
              <a:t>Additional Practice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1327D-892C-83D0-E624-470B5C7280AC}"/>
              </a:ext>
            </a:extLst>
          </p:cNvPr>
          <p:cNvSpPr txBox="1"/>
          <p:nvPr/>
        </p:nvSpPr>
        <p:spPr>
          <a:xfrm>
            <a:off x="0" y="674238"/>
            <a:ext cx="55016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Practice 1: Car Rental Calculator</a:t>
            </a:r>
          </a:p>
          <a:p>
            <a:r>
              <a:rPr lang="en-CN" sz="1600" dirty="0"/>
              <a:t>Write a C++ program that calculates the cost of renting a car.</a:t>
            </a:r>
          </a:p>
          <a:p>
            <a:r>
              <a:rPr lang="en-CN" sz="1600" dirty="0"/>
              <a:t>Ask the user to enter: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sz="1600" dirty="0"/>
              <a:t>Customer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sz="1600" dirty="0"/>
              <a:t>Number of rental days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sz="1600" dirty="0"/>
              <a:t>Daily rental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sz="1600" dirty="0"/>
              <a:t>Vehicle type (E, S, or 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4776C-DC4D-EF63-5FDD-721E6BFCE6E9}"/>
              </a:ext>
            </a:extLst>
          </p:cNvPr>
          <p:cNvSpPr txBox="1"/>
          <p:nvPr/>
        </p:nvSpPr>
        <p:spPr>
          <a:xfrm>
            <a:off x="74430" y="2589667"/>
            <a:ext cx="1416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Vehicle types: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643A09-B5F8-DCD6-EDAA-CB602EE26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773162"/>
              </p:ext>
            </p:extLst>
          </p:nvPr>
        </p:nvGraphicFramePr>
        <p:xfrm>
          <a:off x="195247" y="2959479"/>
          <a:ext cx="4007923" cy="134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5974">
                  <a:extLst>
                    <a:ext uri="{9D8B030D-6E8A-4147-A177-3AD203B41FA5}">
                      <a16:colId xmlns:a16="http://schemas.microsoft.com/office/drawing/2014/main" val="2854959204"/>
                    </a:ext>
                  </a:extLst>
                </a:gridCol>
                <a:gridCol w="681155">
                  <a:extLst>
                    <a:ext uri="{9D8B030D-6E8A-4147-A177-3AD203B41FA5}">
                      <a16:colId xmlns:a16="http://schemas.microsoft.com/office/drawing/2014/main" val="344476644"/>
                    </a:ext>
                  </a:extLst>
                </a:gridCol>
                <a:gridCol w="1990794">
                  <a:extLst>
                    <a:ext uri="{9D8B030D-6E8A-4147-A177-3AD203B41FA5}">
                      <a16:colId xmlns:a16="http://schemas.microsoft.com/office/drawing/2014/main" val="248482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b="1" dirty="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b="1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b="1" dirty="0"/>
                        <a:t>Additional Fee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61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Economy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90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SUV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1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Luxury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95321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292E82-B79F-BDDB-40BE-D9CC0A0FE035}"/>
              </a:ext>
            </a:extLst>
          </p:cNvPr>
          <p:cNvSpPr txBox="1"/>
          <p:nvPr/>
        </p:nvSpPr>
        <p:spPr>
          <a:xfrm>
            <a:off x="5639190" y="874293"/>
            <a:ext cx="665438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Program Requirements</a:t>
            </a:r>
          </a:p>
          <a:p>
            <a:endParaRPr lang="en-CN" dirty="0"/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Ask for the customer's name.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Ask for the number of rental days.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Ask for the daily rental rate.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Ask for the vehicle type.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Calculate:</a:t>
            </a:r>
            <a:br>
              <a:rPr lang="en-CN" dirty="0"/>
            </a:b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Base Cost = Number of Days × Daily Rate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Use if / else if / else to determine the additional-fee rate.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Calculate:</a:t>
            </a:r>
            <a:br>
              <a:rPr lang="en-CN" dirty="0"/>
            </a:b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Additional Fee = Base Cost × Fee Rate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Calculate:</a:t>
            </a:r>
            <a:br>
              <a:rPr lang="en-CN" dirty="0"/>
            </a:br>
            <a:r>
              <a:rPr lang="en-CN" dirty="0"/>
              <a:t>Final Cost = Base Cost + Additional Fee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Use a switch statement to display the selected vehicle type.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Use at least three user-defined functions in addition to main().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N" dirty="0"/>
              <a:t>Use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fixed</a:t>
            </a:r>
            <a:r>
              <a:rPr lang="en-CN" dirty="0"/>
              <a:t>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setprecision(2) </a:t>
            </a:r>
            <a:r>
              <a:rPr lang="en-CN" dirty="0"/>
              <a:t>for monetary values.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3C173-F6CA-54DC-F60D-C257FF0F2501}"/>
              </a:ext>
            </a:extLst>
          </p:cNvPr>
          <p:cNvSpPr txBox="1"/>
          <p:nvPr/>
        </p:nvSpPr>
        <p:spPr>
          <a:xfrm>
            <a:off x="1572785" y="4395787"/>
            <a:ext cx="526076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Enter customer name: Jane Smith</a:t>
            </a:r>
          </a:p>
          <a:p>
            <a:r>
              <a:rPr lang="en-US" sz="1400" dirty="0">
                <a:solidFill>
                  <a:srgbClr val="FF0000"/>
                </a:solidFill>
              </a:rPr>
              <a:t>Enter rental days: 4</a:t>
            </a:r>
          </a:p>
          <a:p>
            <a:r>
              <a:rPr lang="en-US" sz="1400" dirty="0">
                <a:solidFill>
                  <a:srgbClr val="FF0000"/>
                </a:solidFill>
              </a:rPr>
              <a:t>Enter daily rate: $50</a:t>
            </a:r>
          </a:p>
          <a:p>
            <a:r>
              <a:rPr lang="en-US" sz="1400" dirty="0">
                <a:solidFill>
                  <a:srgbClr val="FF0000"/>
                </a:solidFill>
              </a:rPr>
              <a:t>Enter vehicle type (E, S, or L): S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------ RENTAL SUMMARY ------</a:t>
            </a:r>
          </a:p>
          <a:p>
            <a:r>
              <a:rPr lang="en-US" sz="1400" dirty="0">
                <a:solidFill>
                  <a:srgbClr val="FF0000"/>
                </a:solidFill>
              </a:rPr>
              <a:t>Customer: Jane Smith</a:t>
            </a:r>
          </a:p>
          <a:p>
            <a:r>
              <a:rPr lang="en-US" sz="1400" dirty="0">
                <a:solidFill>
                  <a:srgbClr val="FF0000"/>
                </a:solidFill>
              </a:rPr>
              <a:t>Base Cost: $200.00</a:t>
            </a:r>
          </a:p>
          <a:p>
            <a:r>
              <a:rPr lang="en-US" sz="1400" dirty="0">
                <a:solidFill>
                  <a:srgbClr val="FF0000"/>
                </a:solidFill>
              </a:rPr>
              <a:t>Additional Fee: $20.00</a:t>
            </a:r>
          </a:p>
          <a:p>
            <a:r>
              <a:rPr lang="en-US" sz="1400" dirty="0">
                <a:solidFill>
                  <a:srgbClr val="FF0000"/>
                </a:solidFill>
              </a:rPr>
              <a:t>Final Cost: $220.00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SUV Selected</a:t>
            </a:r>
            <a:endParaRPr lang="en-CN" sz="1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6CBB5-C030-9EAD-7AC4-CEBF465CF01D}"/>
              </a:ext>
            </a:extLst>
          </p:cNvPr>
          <p:cNvSpPr txBox="1"/>
          <p:nvPr/>
        </p:nvSpPr>
        <p:spPr>
          <a:xfrm>
            <a:off x="351079" y="4477571"/>
            <a:ext cx="1007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solidFill>
                  <a:srgbClr val="FF0000"/>
                </a:solidFill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235653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7C61-11FD-2823-ADD0-890D7914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83" y="6117"/>
            <a:ext cx="10515600" cy="834283"/>
          </a:xfrm>
        </p:spPr>
        <p:txBody>
          <a:bodyPr/>
          <a:lstStyle/>
          <a:p>
            <a:r>
              <a:rPr lang="en-CN" dirty="0"/>
              <a:t>Practice 2: Shipping Cost Calculator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B1CF9-4F4A-3FA2-6A5A-5C82FAFBDD53}"/>
              </a:ext>
            </a:extLst>
          </p:cNvPr>
          <p:cNvSpPr txBox="1"/>
          <p:nvPr/>
        </p:nvSpPr>
        <p:spPr>
          <a:xfrm>
            <a:off x="220683" y="676583"/>
            <a:ext cx="64001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600" dirty="0"/>
              <a:t>Write a C++ program that calculates the cost of shipping a package.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600" dirty="0"/>
              <a:t>Ask the user to enter: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sz="1600" dirty="0"/>
              <a:t>Customer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sz="1600" dirty="0"/>
              <a:t>Package weight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sz="1600" dirty="0"/>
              <a:t>Shipping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N" sz="1600" dirty="0"/>
              <a:t>Shipping type (S, E, or O)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6A229-65F0-3FB2-7920-1402E9EAD46B}"/>
              </a:ext>
            </a:extLst>
          </p:cNvPr>
          <p:cNvSpPr txBox="1"/>
          <p:nvPr/>
        </p:nvSpPr>
        <p:spPr>
          <a:xfrm>
            <a:off x="415636" y="32419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BBDC3-368C-3521-9C41-F04BC9440D24}"/>
              </a:ext>
            </a:extLst>
          </p:cNvPr>
          <p:cNvSpPr txBox="1"/>
          <p:nvPr/>
        </p:nvSpPr>
        <p:spPr>
          <a:xfrm>
            <a:off x="220683" y="2235447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Shipping types: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F589C6-B51C-589B-076E-11BB3022C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147305"/>
              </p:ext>
            </p:extLst>
          </p:nvPr>
        </p:nvGraphicFramePr>
        <p:xfrm>
          <a:off x="298470" y="2571404"/>
          <a:ext cx="4156364" cy="134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4203">
                  <a:extLst>
                    <a:ext uri="{9D8B030D-6E8A-4147-A177-3AD203B41FA5}">
                      <a16:colId xmlns:a16="http://schemas.microsoft.com/office/drawing/2014/main" val="1530508541"/>
                    </a:ext>
                  </a:extLst>
                </a:gridCol>
                <a:gridCol w="979948">
                  <a:extLst>
                    <a:ext uri="{9D8B030D-6E8A-4147-A177-3AD203B41FA5}">
                      <a16:colId xmlns:a16="http://schemas.microsoft.com/office/drawing/2014/main" val="3974800007"/>
                    </a:ext>
                  </a:extLst>
                </a:gridCol>
                <a:gridCol w="1542213">
                  <a:extLst>
                    <a:ext uri="{9D8B030D-6E8A-4147-A177-3AD203B41FA5}">
                      <a16:colId xmlns:a16="http://schemas.microsoft.com/office/drawing/2014/main" val="1589897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b="1"/>
                        <a:t>Shipping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b="1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600" b="1" dirty="0"/>
                        <a:t>Rate per Mile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94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600"/>
                        <a:t>$0.50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960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Express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600"/>
                        <a:t>$0.75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3866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Overnight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N" sz="1600" dirty="0"/>
                        <a:t>$1.00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8822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2FEC54B-6A37-0A27-5616-763D5BB03295}"/>
              </a:ext>
            </a:extLst>
          </p:cNvPr>
          <p:cNvSpPr txBox="1"/>
          <p:nvPr/>
        </p:nvSpPr>
        <p:spPr>
          <a:xfrm>
            <a:off x="5195405" y="1367311"/>
            <a:ext cx="69965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Program Requirements</a:t>
            </a:r>
          </a:p>
          <a:p>
            <a:endParaRPr lang="en-CN" sz="1600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Ask for the customer's name.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Ask for the package weight.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Ask for the shipping distance.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Ask for the shipping type.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Use </a:t>
            </a:r>
            <a:r>
              <a:rPr lang="en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/ else if / else </a:t>
            </a:r>
            <a:r>
              <a:rPr lang="en-CN" sz="1600" dirty="0"/>
              <a:t>to determine the rate per mile.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Calculate the shipping cost: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Final Cost = Shipping Cost + Heavy-Package Fee</a:t>
            </a: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Use a switch statement to display the selected shipping type.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Use at least three user-defined functions in addition to </a:t>
            </a:r>
            <a:r>
              <a:rPr lang="en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main().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sz="1600" dirty="0"/>
              <a:t>Use</a:t>
            </a:r>
            <a:r>
              <a:rPr lang="en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fixed </a:t>
            </a:r>
            <a:r>
              <a:rPr lang="en-CN" sz="1600" dirty="0"/>
              <a:t>and </a:t>
            </a:r>
            <a:r>
              <a:rPr lang="en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setprecision(2) </a:t>
            </a:r>
            <a:r>
              <a:rPr lang="en-CN" sz="1600" dirty="0"/>
              <a:t>for monetary values.</a:t>
            </a:r>
          </a:p>
          <a:p>
            <a:endParaRPr lang="en-C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17228-D7E2-6991-65F6-F6BBBE706BD0}"/>
              </a:ext>
            </a:extLst>
          </p:cNvPr>
          <p:cNvSpPr txBox="1"/>
          <p:nvPr/>
        </p:nvSpPr>
        <p:spPr>
          <a:xfrm>
            <a:off x="300809" y="4051116"/>
            <a:ext cx="366792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solidFill>
                  <a:srgbClr val="FF0000"/>
                </a:solidFill>
              </a:rPr>
              <a:t>Example: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Enter customer name: John Brown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Enter package weight: 25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Enter shipping distance: 100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Enter shipping type (S, E, or O): E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------ SHIPPING SUMMARY ------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Customer: John Brown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Shipping Cost: $75.00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Heavy-Package Fee: $10.00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Final Cost: $85.00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Express Shipping</a:t>
            </a:r>
            <a:endParaRPr lang="en-C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94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3425</Words>
  <Application>Microsoft Macintosh PowerPoint</Application>
  <PresentationFormat>Widescreen</PresentationFormat>
  <Paragraphs>771</Paragraphs>
  <Slides>32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Courier New</vt:lpstr>
      <vt:lpstr>Office Theme</vt:lpstr>
      <vt:lpstr>Lab 6: Putting It All Together C++ Programming:  Chapters 1–4 Review</vt:lpstr>
      <vt:lpstr>Topics</vt:lpstr>
      <vt:lpstr>From Small Programs to Larger Programs</vt:lpstr>
      <vt:lpstr>The Problem: Student Grade Calculator</vt:lpstr>
      <vt:lpstr>Program Structure</vt:lpstr>
      <vt:lpstr>Why Use Functions?</vt:lpstr>
      <vt:lpstr>Function Review</vt:lpstr>
      <vt:lpstr>Getting Input with a Function</vt:lpstr>
      <vt:lpstr>Calculate the Exam Average</vt:lpstr>
      <vt:lpstr>Weighted Final Grade</vt:lpstr>
      <vt:lpstr>Determine the Letter Grade</vt:lpstr>
      <vt:lpstr>Using switch</vt:lpstr>
      <vt:lpstr>if vs. switch</vt:lpstr>
      <vt:lpstr>Formatting the Output</vt:lpstr>
      <vt:lpstr>Functions We Need</vt:lpstr>
      <vt:lpstr>Function Prototypes</vt:lpstr>
      <vt:lpstr>Building main()</vt:lpstr>
      <vt:lpstr>Perform the Calculations</vt:lpstr>
      <vt:lpstr>Program Flow</vt:lpstr>
      <vt:lpstr>Student Grade Calculator Code</vt:lpstr>
      <vt:lpstr>PowerPoint Presentation</vt:lpstr>
      <vt:lpstr>PowerPoint Presentation</vt:lpstr>
      <vt:lpstr>Expected Output</vt:lpstr>
      <vt:lpstr>In-Class Exercise: Shopping Discount Calculator </vt:lpstr>
      <vt:lpstr>Program Requirements</vt:lpstr>
      <vt:lpstr>Required C++ Concepts</vt:lpstr>
      <vt:lpstr>Challenge: Input Validation</vt:lpstr>
      <vt:lpstr>Key Takeaway</vt:lpstr>
      <vt:lpstr>Code</vt:lpstr>
      <vt:lpstr>PowerPoint Presentation</vt:lpstr>
      <vt:lpstr>Additional Practice Questions</vt:lpstr>
      <vt:lpstr>Practice 2: Shipping Cost Calculator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Ebuka P Oguchi</dc:creator>
  <cp:lastModifiedBy>Ebuka P Oguchi</cp:lastModifiedBy>
  <cp:revision>10</cp:revision>
  <dcterms:created xsi:type="dcterms:W3CDTF">2026-10-05T17:08:22Z</dcterms:created>
  <dcterms:modified xsi:type="dcterms:W3CDTF">2026-10-07T20:18:20Z</dcterms:modified>
</cp:coreProperties>
</file>