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7" r:id="rId2"/>
    <p:sldId id="266" r:id="rId3"/>
    <p:sldId id="413" r:id="rId4"/>
    <p:sldId id="425" r:id="rId5"/>
    <p:sldId id="422" r:id="rId6"/>
    <p:sldId id="423" r:id="rId7"/>
    <p:sldId id="424" r:id="rId8"/>
    <p:sldId id="414" r:id="rId9"/>
    <p:sldId id="415" r:id="rId10"/>
    <p:sldId id="416" r:id="rId11"/>
    <p:sldId id="417" r:id="rId12"/>
    <p:sldId id="420" r:id="rId13"/>
    <p:sldId id="421" r:id="rId1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87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1040" y="18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C2A98-1BA7-024B-86B3-93C905EA3CBF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59C1E8-2FA4-194C-821B-2FCBDFEBFF3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65136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232FF-F6D7-EC40-A867-4B28077EBF28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4775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A7A06-1570-E373-61CD-822574257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C9E00-813D-7EC8-721B-3BB7035A1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BBAFC-7F7F-4F4E-3F00-C78A4589D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403D-2C57-D04C-896E-71D0F2E1A28C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826A-B2C9-7CB4-3317-953E11CF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5ACF9-3D21-ECE4-5099-1133FA77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E3E4-BB85-0145-AA91-C7156F30E2F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0130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111A3-B577-6137-4C85-7AD0E61F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4E564-D95F-AA07-AC20-021C98F5F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37E08-FCED-10ED-3D96-117C0A4A1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403D-2C57-D04C-896E-71D0F2E1A28C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C8DB1-67BC-58DA-0BF3-009C2A3C4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5427E-75DF-B6B6-31DA-2199C3FBD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E3E4-BB85-0145-AA91-C7156F30E2F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38346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6E59A-4054-A769-F248-71C190B27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0BFBE-7880-56E6-DDC9-AB03A73C7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E7590-A953-B7F4-6DC9-0DC2D7AA2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403D-2C57-D04C-896E-71D0F2E1A28C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9BAF2-7B2D-3175-1FD8-FC9B36919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1B418-44CD-1819-209C-DE1BCC25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E3E4-BB85-0145-AA91-C7156F30E2F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3232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57C02-C6E0-4602-1F53-8F2BE51B1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EA7FF-F1AD-0BD7-078B-0C1E3D01B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61720-9850-A775-444F-6B2DF147F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E4BCA-2FA5-D6F1-022C-E68711637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403D-2C57-D04C-896E-71D0F2E1A28C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2064E-2E86-B91A-F2CE-A4F8D7C7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AE8F-2692-C55E-CEA6-C2CD1CD9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E3E4-BB85-0145-AA91-C7156F30E2F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94091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64FB6-159F-3C09-4569-91A46893C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13087-9461-0C9A-87E3-B7BE69675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B5185-63D2-5332-D6EC-0C65B1836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AC699-3A88-211A-8E6F-79186541F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895176-A53C-99AD-E712-01CE34990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8A7EA2-4CD6-CA07-31E1-41D33DDB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403D-2C57-D04C-896E-71D0F2E1A28C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22FEE-F091-899A-FCD3-40536DC0E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D96A8-FEE1-295B-7F51-51707294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E3E4-BB85-0145-AA91-C7156F30E2F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36974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20804-F8D5-3507-8CA8-D9C01D73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503E7-79ED-1AE4-8E73-8473E385D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403D-2C57-D04C-896E-71D0F2E1A28C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675A9-4C74-0DBE-71F4-C08D6C99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B83AE-20E4-F7E3-A617-CD71327E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E3E4-BB85-0145-AA91-C7156F30E2F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13764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A8204E-7098-CC58-5853-4FB7FB4A0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403D-2C57-D04C-896E-71D0F2E1A28C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DF183-95C8-4034-A59F-BF1345DD0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44375-4D89-4F0A-20C9-F6A408D16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E3E4-BB85-0145-AA91-C7156F30E2F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08766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B9D4-F2B3-D91B-E965-D0BCA3D33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76D93-73FE-FBD3-B8C1-3F51EE1F2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67277-65C9-B002-97E9-E0C100D99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8F4DA-3A04-4D47-449A-209BC329F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403D-2C57-D04C-896E-71D0F2E1A28C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78A26-261A-633C-B8AE-656209795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A5C85-73EA-6456-01EA-DC68A90A1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E3E4-BB85-0145-AA91-C7156F30E2F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56582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62EAA-E4A5-0859-6116-E8FAFFAA9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FBE46D-DE24-EC1B-DCA2-531FD75C7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C1A41-714B-553F-C076-F2FEF6CE5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8FBA9-1F62-85AB-C784-F40511B7B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403D-2C57-D04C-896E-71D0F2E1A28C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70353-D7D3-E8C4-223C-3208CC097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16B48-EBFC-E2CE-0AF6-662BA9878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E3E4-BB85-0145-AA91-C7156F30E2F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7025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05AD9-0F3E-07C1-48A1-B2F5ECC26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F9EF9B-FA3F-FF6E-385D-9EE2E7CBD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8CBB2-30FE-C895-96F4-3F72398D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403D-2C57-D04C-896E-71D0F2E1A28C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B772B-72DE-1773-35F1-4C1AFBD42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BBB66-B61C-13E9-63B3-3FE3E6FA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E3E4-BB85-0145-AA91-C7156F30E2F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71562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D6530A-E4B6-722A-504A-62947A387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85B8E1-91A7-84E6-CCC4-B38FC02E2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7A743-A377-76C7-A18F-D03C56AA8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403D-2C57-D04C-896E-71D0F2E1A28C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3D7A3-7023-B4D7-3D4B-6CE00108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3E029-3EC9-294F-6F44-A342AB472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E3E4-BB85-0145-AA91-C7156F30E2F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1717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AE21B1-80FC-5BBA-BD09-53A8E221C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34718-5233-196F-839C-6B4D30116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EB214-1F47-9163-6240-1C2725728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5403D-2C57-D04C-896E-71D0F2E1A28C}" type="datetimeFigureOut">
              <a:rPr lang="en-CN" smtClean="0"/>
              <a:t>2026/4/22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679AF-5955-4374-9FAD-3966B1A2E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2DAB6-42C9-B9E4-65F4-602890F8D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0E3E4-BB85-0145-AA91-C7156F30E2F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2620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D46FA-C15D-08E9-6019-B1EF36F0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410817"/>
            <a:ext cx="11304105" cy="1279871"/>
          </a:xfrm>
        </p:spPr>
        <p:txBody>
          <a:bodyPr>
            <a:noAutofit/>
          </a:bodyPr>
          <a:lstStyle/>
          <a:p>
            <a:r>
              <a:rPr lang="en-US" b="1" dirty="0"/>
              <a:t>Computer Organization &amp; Design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B9EF0-6B17-23D6-31F4-89DBEBAF7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3200" b="1" dirty="0"/>
              <a:t>Lecture / Lab-006</a:t>
            </a:r>
            <a:endParaRPr lang="en-US" sz="3200" dirty="0"/>
          </a:p>
          <a:p>
            <a:pPr algn="ctr">
              <a:buNone/>
            </a:pPr>
            <a:br>
              <a:rPr lang="en-US" sz="3200" dirty="0"/>
            </a:br>
            <a:endParaRPr lang="en-US" sz="3200" dirty="0"/>
          </a:p>
          <a:p>
            <a:pPr marL="0" indent="0" algn="ctr">
              <a:buNone/>
            </a:pPr>
            <a:r>
              <a:rPr lang="en-US" sz="3200" b="1" dirty="0"/>
              <a:t>Logical Operations Using Integrated Circuits on Breadboard</a:t>
            </a:r>
            <a:endParaRPr lang="en-US" sz="3200" dirty="0"/>
          </a:p>
          <a:p>
            <a:pPr algn="ctr">
              <a:buNone/>
            </a:pP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62067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82C6821-27A1-DFDC-426C-EB86DC3ED4E5}"/>
              </a:ext>
            </a:extLst>
          </p:cNvPr>
          <p:cNvSpPr txBox="1"/>
          <p:nvPr/>
        </p:nvSpPr>
        <p:spPr>
          <a:xfrm>
            <a:off x="306658" y="21265"/>
            <a:ext cx="11885342" cy="5373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4400" b="1" dirty="0"/>
              <a:t>Learning Objectives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purpose of this lab is to understand the behavior of basic logic gates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Implementing </a:t>
            </a:r>
            <a:r>
              <a:rPr lang="en-US" sz="2800" b="1" dirty="0">
                <a:solidFill>
                  <a:srgbClr val="FF0000"/>
                </a:solidFill>
              </a:rPr>
              <a:t>NOT, AND, and OR gates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using digital logic ICs on a breadboard.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Students will verify the truth tables by observing LED outputs.</a:t>
            </a:r>
          </a:p>
          <a:p>
            <a:pPr>
              <a:lnSpc>
                <a:spcPct val="200000"/>
              </a:lnSpc>
            </a:pPr>
            <a:endParaRPr lang="en-C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95A5E4-1ACC-4FA2-F44F-B0E92B588168}"/>
              </a:ext>
            </a:extLst>
          </p:cNvPr>
          <p:cNvCxnSpPr>
            <a:cxnSpLocks/>
          </p:cNvCxnSpPr>
          <p:nvPr/>
        </p:nvCxnSpPr>
        <p:spPr>
          <a:xfrm>
            <a:off x="306904" y="1243958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033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25957-E0E0-0A6F-FA5C-EF3248D4F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66" y="1"/>
            <a:ext cx="10515600" cy="863580"/>
          </a:xfrm>
        </p:spPr>
        <p:txBody>
          <a:bodyPr>
            <a:normAutofit/>
          </a:bodyPr>
          <a:lstStyle/>
          <a:p>
            <a:r>
              <a:rPr lang="en-US" sz="3600" b="1" dirty="0"/>
              <a:t>Materials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4DB938-175F-1B65-FA2E-DA0D3A3EAEE2}"/>
              </a:ext>
            </a:extLst>
          </p:cNvPr>
          <p:cNvCxnSpPr>
            <a:cxnSpLocks/>
          </p:cNvCxnSpPr>
          <p:nvPr/>
        </p:nvCxnSpPr>
        <p:spPr>
          <a:xfrm>
            <a:off x="244272" y="739294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E51857-CEDC-6605-B7BA-6BE986222B83}"/>
              </a:ext>
            </a:extLst>
          </p:cNvPr>
          <p:cNvSpPr txBox="1"/>
          <p:nvPr/>
        </p:nvSpPr>
        <p:spPr>
          <a:xfrm>
            <a:off x="364299" y="632689"/>
            <a:ext cx="3868303" cy="3917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Breadboard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Jumper wires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5V power supply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LEDs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330</a:t>
            </a:r>
            <a:r>
              <a:rPr lang="el-GR" sz="2400" dirty="0"/>
              <a:t>Ω </a:t>
            </a:r>
            <a:r>
              <a:rPr lang="en-US" sz="2400" dirty="0"/>
              <a:t>resistors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Breadboard power supply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Logic ICs: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676BEA7-1B7C-0D33-0DB9-EA4422466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836013"/>
              </p:ext>
            </p:extLst>
          </p:nvPr>
        </p:nvGraphicFramePr>
        <p:xfrm>
          <a:off x="1131845" y="500495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4183346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458965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IC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007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/>
                        <a:t>7404</a:t>
                      </a:r>
                      <a:endParaRPr lang="en-C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39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/>
                        <a:t>7408</a:t>
                      </a:r>
                      <a:endParaRPr lang="en-C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3344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 dirty="0"/>
                        <a:t>7432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31166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6F4531A-C721-CED9-7E15-39F6EAF84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216" y="845900"/>
            <a:ext cx="2265066" cy="18301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D3754C-53B4-8475-E42A-3636192D6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761" y="1057623"/>
            <a:ext cx="1289098" cy="14425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B3DC83D-D559-103A-23D5-F2802962E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287" y="1082234"/>
            <a:ext cx="1852999" cy="13933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A115A6-06DB-8DD9-463C-631B0D5F4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780" y="3372327"/>
            <a:ext cx="1541553" cy="9689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B3825F3-53B7-8314-330D-91C5587A8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9845" y="3218337"/>
            <a:ext cx="1422400" cy="161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56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7D592-5915-9646-2BE1-7B3C03779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222E-7158-284C-8FBF-4CB503142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72" y="0"/>
            <a:ext cx="10515600" cy="863580"/>
          </a:xfrm>
        </p:spPr>
        <p:txBody>
          <a:bodyPr>
            <a:normAutofit/>
          </a:bodyPr>
          <a:lstStyle/>
          <a:p>
            <a:r>
              <a:rPr lang="en-US" sz="3600" b="1" dirty="0"/>
              <a:t>Component Description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297DB5-A64F-2514-8798-2B81B6F6A7E9}"/>
              </a:ext>
            </a:extLst>
          </p:cNvPr>
          <p:cNvCxnSpPr>
            <a:cxnSpLocks/>
          </p:cNvCxnSpPr>
          <p:nvPr/>
        </p:nvCxnSpPr>
        <p:spPr>
          <a:xfrm>
            <a:off x="244272" y="739294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58A4E1D-AF91-0B03-80F4-DEC0519623E3}"/>
              </a:ext>
            </a:extLst>
          </p:cNvPr>
          <p:cNvSpPr txBox="1"/>
          <p:nvPr/>
        </p:nvSpPr>
        <p:spPr>
          <a:xfrm>
            <a:off x="0" y="595360"/>
            <a:ext cx="8050665" cy="5209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Breadboard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Used to build and test circuits without soldering.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Power rails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Red line → VCC (+ voltage)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Blue line → GND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Terminal strips (middle area)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center section is where components go.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Each row of 5 holes is connected horizontally: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center gap separates the two halves so you can place IC chips.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 Center gap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Used for ICs like logic chips.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Pins on opposite sides are not connected, which prevents short circuits.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75FD44-29D9-F434-190F-D6385CE2F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035007"/>
              </p:ext>
            </p:extLst>
          </p:nvPr>
        </p:nvGraphicFramePr>
        <p:xfrm>
          <a:off x="440604" y="5033296"/>
          <a:ext cx="812799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1">
                  <a:extLst>
                    <a:ext uri="{9D8B030D-6E8A-4147-A177-3AD203B41FA5}">
                      <a16:colId xmlns:a16="http://schemas.microsoft.com/office/drawing/2014/main" val="1697169766"/>
                    </a:ext>
                  </a:extLst>
                </a:gridCol>
                <a:gridCol w="2446867">
                  <a:extLst>
                    <a:ext uri="{9D8B030D-6E8A-4147-A177-3AD203B41FA5}">
                      <a16:colId xmlns:a16="http://schemas.microsoft.com/office/drawing/2014/main" val="1430011876"/>
                    </a:ext>
                  </a:extLst>
                </a:gridCol>
                <a:gridCol w="3141131">
                  <a:extLst>
                    <a:ext uri="{9D8B030D-6E8A-4147-A177-3AD203B41FA5}">
                      <a16:colId xmlns:a16="http://schemas.microsoft.com/office/drawing/2014/main" val="1740799998"/>
                    </a:ext>
                  </a:extLst>
                </a:gridCol>
              </a:tblGrid>
              <a:tr h="361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Connection 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250984"/>
                  </a:ext>
                </a:extLst>
              </a:tr>
              <a:tr h="361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Breadboard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Temporary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No soldering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718111"/>
                  </a:ext>
                </a:extLst>
              </a:tr>
              <a:tr h="3617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 err="1"/>
                        <a:t>Perfboard</a:t>
                      </a:r>
                      <a:r>
                        <a:rPr lang="en-US" b="0" dirty="0"/>
                        <a:t> / Proto 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Permanent circuit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Solder 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121212"/>
                  </a:ext>
                </a:extLst>
              </a:tr>
              <a:tr h="633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PCB (Printed Circuit Board)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Professional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Manufactured copper traces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8708343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7BDC2E63-1066-F33A-A96A-C8FBDE0E7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593" y="1052944"/>
            <a:ext cx="2693905" cy="2239493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DB93E1E-0804-A186-A58C-F9654A1454B1}"/>
              </a:ext>
            </a:extLst>
          </p:cNvPr>
          <p:cNvCxnSpPr>
            <a:cxnSpLocks/>
          </p:cNvCxnSpPr>
          <p:nvPr/>
        </p:nvCxnSpPr>
        <p:spPr>
          <a:xfrm>
            <a:off x="6570133" y="739294"/>
            <a:ext cx="355600" cy="471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0E12A5A-EA56-3FA0-2F77-06DA5D1569EE}"/>
              </a:ext>
            </a:extLst>
          </p:cNvPr>
          <p:cNvSpPr txBox="1"/>
          <p:nvPr/>
        </p:nvSpPr>
        <p:spPr>
          <a:xfrm>
            <a:off x="6172679" y="431790"/>
            <a:ext cx="115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Power rail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045FABD-54B1-6324-66F9-734A0629C305}"/>
              </a:ext>
            </a:extLst>
          </p:cNvPr>
          <p:cNvCxnSpPr>
            <a:cxnSpLocks/>
          </p:cNvCxnSpPr>
          <p:nvPr/>
        </p:nvCxnSpPr>
        <p:spPr>
          <a:xfrm>
            <a:off x="7419225" y="2820998"/>
            <a:ext cx="487595" cy="277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9950F3D-9530-A1DF-2A11-35AB4F5806A9}"/>
              </a:ext>
            </a:extLst>
          </p:cNvPr>
          <p:cNvCxnSpPr>
            <a:cxnSpLocks/>
          </p:cNvCxnSpPr>
          <p:nvPr/>
        </p:nvCxnSpPr>
        <p:spPr>
          <a:xfrm flipH="1">
            <a:off x="7906820" y="2415733"/>
            <a:ext cx="37968" cy="682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B8E1CBE-6CEB-3272-7EED-682F30F74321}"/>
              </a:ext>
            </a:extLst>
          </p:cNvPr>
          <p:cNvSpPr txBox="1"/>
          <p:nvPr/>
        </p:nvSpPr>
        <p:spPr>
          <a:xfrm>
            <a:off x="7419225" y="3059668"/>
            <a:ext cx="1354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Circuit Area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B6CF954-0CAB-9DB1-F441-A0A284D11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806" y="1185138"/>
            <a:ext cx="1975104" cy="197510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89B7219-C8A7-AC70-C02E-BCE3124FB035}"/>
              </a:ext>
            </a:extLst>
          </p:cNvPr>
          <p:cNvSpPr txBox="1"/>
          <p:nvPr/>
        </p:nvSpPr>
        <p:spPr>
          <a:xfrm>
            <a:off x="10430151" y="2661686"/>
            <a:ext cx="116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Perfboard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45BE48C-A3CA-1A0C-FDBA-4A466760F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8526" y="105641"/>
            <a:ext cx="1828800" cy="11049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E2C3D6C-2FA9-B6AD-4E85-1BA04AF42627}"/>
              </a:ext>
            </a:extLst>
          </p:cNvPr>
          <p:cNvSpPr txBox="1"/>
          <p:nvPr/>
        </p:nvSpPr>
        <p:spPr>
          <a:xfrm>
            <a:off x="9034167" y="1162293"/>
            <a:ext cx="29540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/>
              <a:t>Components soldered on perfboard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2A629AE-4BDE-9057-AC3D-56AB761581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584" y="3935066"/>
            <a:ext cx="1638300" cy="12319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E9E065B-D807-8A80-CA61-ADF2683C46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759" y="5272386"/>
            <a:ext cx="1739900" cy="11557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B2E99AC-8071-6DC9-CD18-1D1D22B5847B}"/>
              </a:ext>
            </a:extLst>
          </p:cNvPr>
          <p:cNvSpPr txBox="1"/>
          <p:nvPr/>
        </p:nvSpPr>
        <p:spPr>
          <a:xfrm>
            <a:off x="10350149" y="4795332"/>
            <a:ext cx="184185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/>
              <a:t>PCB fabrication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</a:t>
            </a:r>
            <a:r>
              <a:rPr lang="en-CN" sz="1400" dirty="0"/>
              <a:t>opper coating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</a:t>
            </a:r>
            <a:r>
              <a:rPr lang="en-CN" sz="1400" dirty="0"/>
              <a:t>hotolithography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</a:t>
            </a:r>
            <a:r>
              <a:rPr lang="en-CN" sz="1400" dirty="0"/>
              <a:t>hemical Etching</a:t>
            </a:r>
          </a:p>
        </p:txBody>
      </p:sp>
    </p:spTree>
    <p:extLst>
      <p:ext uri="{BB962C8B-B14F-4D97-AF65-F5344CB8AC3E}">
        <p14:creationId xmlns:p14="http://schemas.microsoft.com/office/powerpoint/2010/main" val="3422063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0DD25-BFED-F2DB-6D99-085B01AAE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A257-6A2E-4BD5-CF47-1752C7236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72" y="0"/>
            <a:ext cx="10515600" cy="863580"/>
          </a:xfrm>
        </p:spPr>
        <p:txBody>
          <a:bodyPr>
            <a:normAutofit/>
          </a:bodyPr>
          <a:lstStyle/>
          <a:p>
            <a:r>
              <a:rPr lang="en-US" sz="3600" b="1" dirty="0"/>
              <a:t>Component Description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5F071F-4B7E-5820-E3B4-D32B84770017}"/>
              </a:ext>
            </a:extLst>
          </p:cNvPr>
          <p:cNvCxnSpPr>
            <a:cxnSpLocks/>
          </p:cNvCxnSpPr>
          <p:nvPr/>
        </p:nvCxnSpPr>
        <p:spPr>
          <a:xfrm>
            <a:off x="244272" y="739294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8FDACA6-3971-C3DB-79FE-AECBED9EC5A4}"/>
              </a:ext>
            </a:extLst>
          </p:cNvPr>
          <p:cNvSpPr txBox="1"/>
          <p:nvPr/>
        </p:nvSpPr>
        <p:spPr>
          <a:xfrm>
            <a:off x="364299" y="632689"/>
            <a:ext cx="3037948" cy="5930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Resistor color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B532C1-AB25-591B-2D36-79AE5E86B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70" y="1332341"/>
            <a:ext cx="5041900" cy="4025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B49E35-A837-2657-9B7B-D7357CF57827}"/>
              </a:ext>
            </a:extLst>
          </p:cNvPr>
          <p:cNvSpPr txBox="1"/>
          <p:nvPr/>
        </p:nvSpPr>
        <p:spPr>
          <a:xfrm>
            <a:off x="6422600" y="1040799"/>
            <a:ext cx="45050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 (left → right):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4-Band Resistor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Digit₁ – Digit₂ – Multiplier – Tolerance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9DB03A-B2F8-23EA-2442-5B06A9464141}"/>
              </a:ext>
            </a:extLst>
          </p:cNvPr>
          <p:cNvSpPr txBox="1"/>
          <p:nvPr/>
        </p:nvSpPr>
        <p:spPr>
          <a:xfrm>
            <a:off x="6033368" y="1964129"/>
            <a:ext cx="56993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5-Band Resistor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Digit₁ – Digit₂ – Digit₃ – Multiplier – Tolerance</a:t>
            </a:r>
          </a:p>
          <a:p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9561819-0344-4501-6BB4-360E2361BA5A}"/>
                  </a:ext>
                </a:extLst>
              </p:cNvPr>
              <p:cNvSpPr txBox="1"/>
              <p:nvPr/>
            </p:nvSpPr>
            <p:spPr>
              <a:xfrm>
                <a:off x="6241312" y="3264195"/>
                <a:ext cx="5113195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Example: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Red – Violet – Brown – Gold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27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10 = 270 ohms(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±5</m:t>
                    </m:r>
                  </m:oMath>
                </a14:m>
                <a:r>
                  <a:rPr lang="en-US" dirty="0"/>
                  <a:t>%)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Orange – Orange – Brown – Gold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33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10 = 330 ohms(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±5</m:t>
                    </m:r>
                  </m:oMath>
                </a14:m>
                <a:r>
                  <a:rPr lang="en-US" dirty="0"/>
                  <a:t>%)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Brown – Black – Black – Red – Brown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100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100 = 10,000ohms= 10kohms(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%)</a:t>
                </a:r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9561819-0344-4501-6BB4-360E2361B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312" y="3264195"/>
                <a:ext cx="5113195" cy="2308324"/>
              </a:xfrm>
              <a:prstGeom prst="rect">
                <a:avLst/>
              </a:prstGeom>
              <a:blipFill>
                <a:blip r:embed="rId3"/>
                <a:stretch>
                  <a:fillRect l="-990" t="-109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230E223-BDE7-A6B4-5C6A-6B42D28A864E}"/>
              </a:ext>
            </a:extLst>
          </p:cNvPr>
          <p:cNvSpPr txBox="1"/>
          <p:nvPr/>
        </p:nvSpPr>
        <p:spPr>
          <a:xfrm>
            <a:off x="262466" y="5827001"/>
            <a:ext cx="73055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readings of resistor with color code Red – Black – Red – Gold?</a:t>
            </a:r>
          </a:p>
          <a:p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0476ED8-1DA7-6FBD-AFFA-832458EFDF2D}"/>
                  </a:ext>
                </a:extLst>
              </p:cNvPr>
              <p:cNvSpPr txBox="1"/>
              <p:nvPr/>
            </p:nvSpPr>
            <p:spPr>
              <a:xfrm>
                <a:off x="7410893" y="6081483"/>
                <a:ext cx="399269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20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100 = 2,000ohms= 2kohms(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%)</a:t>
                </a:r>
              </a:p>
              <a:p>
                <a:endParaRPr lang="en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0476ED8-1DA7-6FBD-AFFA-832458EFD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893" y="6081483"/>
                <a:ext cx="3992696" cy="646331"/>
              </a:xfrm>
              <a:prstGeom prst="rect">
                <a:avLst/>
              </a:prstGeom>
              <a:blipFill>
                <a:blip r:embed="rId4"/>
                <a:stretch>
                  <a:fillRect l="-1266" t="-5882" r="-3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F8B5F358-9862-F02F-ECC7-D2477ADD6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8956" y="202108"/>
            <a:ext cx="1541553" cy="96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4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F4CEB-F7B1-4664-A04D-2E4F84E42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FCC0-9C7E-9859-E8AD-5FF8D329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66" y="1"/>
            <a:ext cx="10515600" cy="863580"/>
          </a:xfrm>
        </p:spPr>
        <p:txBody>
          <a:bodyPr>
            <a:normAutofit/>
          </a:bodyPr>
          <a:lstStyle/>
          <a:p>
            <a:r>
              <a:rPr lang="en-US" sz="3600" b="1" dirty="0"/>
              <a:t>Component Description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6D4518-BD72-C71A-2205-5CE14EE10F0F}"/>
              </a:ext>
            </a:extLst>
          </p:cNvPr>
          <p:cNvCxnSpPr>
            <a:cxnSpLocks/>
          </p:cNvCxnSpPr>
          <p:nvPr/>
        </p:nvCxnSpPr>
        <p:spPr>
          <a:xfrm>
            <a:off x="244272" y="739294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92498B6-4244-F622-BB85-A1BE402A418C}"/>
              </a:ext>
            </a:extLst>
          </p:cNvPr>
          <p:cNvSpPr txBox="1"/>
          <p:nvPr/>
        </p:nvSpPr>
        <p:spPr>
          <a:xfrm>
            <a:off x="0" y="665635"/>
            <a:ext cx="3791423" cy="5930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LED (light emitting diode)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58F79A-2C99-77F5-C8F2-16B1440B0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680956"/>
              </p:ext>
            </p:extLst>
          </p:nvPr>
        </p:nvGraphicFramePr>
        <p:xfrm>
          <a:off x="244272" y="1436444"/>
          <a:ext cx="4942959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653">
                  <a:extLst>
                    <a:ext uri="{9D8B030D-6E8A-4147-A177-3AD203B41FA5}">
                      <a16:colId xmlns:a16="http://schemas.microsoft.com/office/drawing/2014/main" val="2742248754"/>
                    </a:ext>
                  </a:extLst>
                </a:gridCol>
                <a:gridCol w="1232230">
                  <a:extLst>
                    <a:ext uri="{9D8B030D-6E8A-4147-A177-3AD203B41FA5}">
                      <a16:colId xmlns:a16="http://schemas.microsoft.com/office/drawing/2014/main" val="3517643173"/>
                    </a:ext>
                  </a:extLst>
                </a:gridCol>
                <a:gridCol w="2063076">
                  <a:extLst>
                    <a:ext uri="{9D8B030D-6E8A-4147-A177-3AD203B41FA5}">
                      <a16:colId xmlns:a16="http://schemas.microsoft.com/office/drawing/2014/main" val="4068930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Terminal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Name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Function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102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Anode (+)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Connects to </a:t>
                      </a:r>
                      <a:r>
                        <a:rPr lang="en-US" dirty="0" err="1"/>
                        <a:t>Vcc</a:t>
                      </a:r>
                      <a:r>
                        <a:rPr lang="en-US" dirty="0"/>
                        <a:t> through a resistor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314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Cathode (−)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Connects to GND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987107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BCB4D60-2A85-6E46-46C4-F653E6206082}"/>
              </a:ext>
            </a:extLst>
          </p:cNvPr>
          <p:cNvSpPr txBox="1"/>
          <p:nvPr/>
        </p:nvSpPr>
        <p:spPr>
          <a:xfrm>
            <a:off x="159488" y="2995966"/>
            <a:ext cx="47466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identify them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Long leg → Anode (+)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Short leg → Cathode (−)</a:t>
            </a:r>
          </a:p>
          <a:p>
            <a:r>
              <a:rPr lang="en-US" dirty="0"/>
              <a:t>Current flows:</a:t>
            </a:r>
          </a:p>
          <a:p>
            <a:r>
              <a:rPr lang="en-US" dirty="0" err="1"/>
              <a:t>Vcc</a:t>
            </a:r>
            <a:r>
              <a:rPr lang="en-US" dirty="0"/>
              <a:t> → resistor → LED (anode → cathode) → GND</a:t>
            </a:r>
            <a:endParaRPr lang="en-C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D1AAE4-1E1D-06B9-FFC4-FFB5C6342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52" y="4716748"/>
            <a:ext cx="1289098" cy="14425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E2CD3DD-F64E-6EAC-DB5F-5C6B5318A824}"/>
              </a:ext>
            </a:extLst>
          </p:cNvPr>
          <p:cNvSpPr txBox="1"/>
          <p:nvPr/>
        </p:nvSpPr>
        <p:spPr>
          <a:xfrm>
            <a:off x="6033368" y="739766"/>
            <a:ext cx="1850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N" sz="2400" dirty="0"/>
              <a:t>9v Battery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8B218FC-1B11-9C15-B7A1-FA39C9791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460376"/>
              </p:ext>
            </p:extLst>
          </p:nvPr>
        </p:nvGraphicFramePr>
        <p:xfrm>
          <a:off x="6096000" y="1392044"/>
          <a:ext cx="4481856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069">
                  <a:extLst>
                    <a:ext uri="{9D8B030D-6E8A-4147-A177-3AD203B41FA5}">
                      <a16:colId xmlns:a16="http://schemas.microsoft.com/office/drawing/2014/main" val="2742248754"/>
                    </a:ext>
                  </a:extLst>
                </a:gridCol>
                <a:gridCol w="1254642">
                  <a:extLst>
                    <a:ext uri="{9D8B030D-6E8A-4147-A177-3AD203B41FA5}">
                      <a16:colId xmlns:a16="http://schemas.microsoft.com/office/drawing/2014/main" val="3517643173"/>
                    </a:ext>
                  </a:extLst>
                </a:gridCol>
                <a:gridCol w="2137145">
                  <a:extLst>
                    <a:ext uri="{9D8B030D-6E8A-4147-A177-3AD203B41FA5}">
                      <a16:colId xmlns:a16="http://schemas.microsoft.com/office/drawing/2014/main" val="4068930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Terminal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Symbol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Role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102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/>
                        <a:t>+</a:t>
                      </a:r>
                      <a:endParaRPr lang="en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Supplies voltage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314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/>
                        <a:t>−</a:t>
                      </a:r>
                      <a:endParaRPr lang="en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 path (ground)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987107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2D1EFB7-14A5-890F-3291-21E3B968AB70}"/>
              </a:ext>
            </a:extLst>
          </p:cNvPr>
          <p:cNvSpPr txBox="1"/>
          <p:nvPr/>
        </p:nvSpPr>
        <p:spPr>
          <a:xfrm>
            <a:off x="5746454" y="3564161"/>
            <a:ext cx="643035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Lighting an LED with a 9V battery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a resistor to limit current.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+9V → 330</a:t>
            </a:r>
            <a:r>
              <a:rPr lang="el-GR" sz="1600" dirty="0"/>
              <a:t>Ω </a:t>
            </a:r>
            <a:r>
              <a:rPr lang="en-US" sz="1600" dirty="0"/>
              <a:t>resistor → LED (long leg) → LED short leg → battery −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Recommended resistor: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l-GR" dirty="0"/>
              <a:t>330 Ω – 1 </a:t>
            </a:r>
            <a:r>
              <a:rPr lang="en-US" dirty="0"/>
              <a:t>k</a:t>
            </a:r>
            <a:r>
              <a:rPr lang="el-GR" dirty="0"/>
              <a:t>Ω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Without a resistor, the LED will draw too much current </a:t>
            </a:r>
          </a:p>
          <a:p>
            <a:r>
              <a:rPr lang="en-US" dirty="0"/>
              <a:t>      and burn out immediately.</a:t>
            </a:r>
          </a:p>
          <a:p>
            <a:endParaRPr lang="en-C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1B8A54-5E6B-1088-F89F-88B84C60A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040"/>
          <a:stretch>
            <a:fillRect/>
          </a:stretch>
        </p:blipFill>
        <p:spPr>
          <a:xfrm>
            <a:off x="10932135" y="230665"/>
            <a:ext cx="1108979" cy="183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884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EC923-4CE5-6E41-09FD-A1B2DD17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24922-4C85-CCDC-969C-2E098E899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272" y="0"/>
            <a:ext cx="10515600" cy="863580"/>
          </a:xfrm>
        </p:spPr>
        <p:txBody>
          <a:bodyPr>
            <a:normAutofit/>
          </a:bodyPr>
          <a:lstStyle/>
          <a:p>
            <a:r>
              <a:rPr lang="en-US" sz="3600" b="1" dirty="0"/>
              <a:t>Component Description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BDC7B1-ACCE-8B05-EF1A-CEA0FE44A6A1}"/>
              </a:ext>
            </a:extLst>
          </p:cNvPr>
          <p:cNvCxnSpPr>
            <a:cxnSpLocks/>
          </p:cNvCxnSpPr>
          <p:nvPr/>
        </p:nvCxnSpPr>
        <p:spPr>
          <a:xfrm>
            <a:off x="244272" y="739294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9FE0C9E-FB82-71A2-75D8-9ED62FB4A413}"/>
              </a:ext>
            </a:extLst>
          </p:cNvPr>
          <p:cNvSpPr txBox="1"/>
          <p:nvPr/>
        </p:nvSpPr>
        <p:spPr>
          <a:xfrm>
            <a:off x="0" y="930379"/>
            <a:ext cx="61622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Breadboard power supply module (MB102)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BCD873-19F2-3A11-DFB9-F7C95E47D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117584"/>
              </p:ext>
            </p:extLst>
          </p:nvPr>
        </p:nvGraphicFramePr>
        <p:xfrm>
          <a:off x="301808" y="1478588"/>
          <a:ext cx="5860392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676">
                  <a:extLst>
                    <a:ext uri="{9D8B030D-6E8A-4147-A177-3AD203B41FA5}">
                      <a16:colId xmlns:a16="http://schemas.microsoft.com/office/drawing/2014/main" val="3002296852"/>
                    </a:ext>
                  </a:extLst>
                </a:gridCol>
                <a:gridCol w="4113716">
                  <a:extLst>
                    <a:ext uri="{9D8B030D-6E8A-4147-A177-3AD203B41FA5}">
                      <a16:colId xmlns:a16="http://schemas.microsoft.com/office/drawing/2014/main" val="1617351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337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Barrel jack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Connect a 9V–12V DC adapter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1759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USB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Alternative power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940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Voltage regulators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Output 5V or 3.3V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311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Jumpers (yellow pins)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Select 5V or 3.3V for each rail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4974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Power switch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Turn power on/off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032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Shows power is 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42792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2E4053E-6C9C-C8CD-7D07-7AAC397B4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077" y="4524955"/>
            <a:ext cx="2058569" cy="23330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4BA26C-9128-3167-E4CE-DC0CB175410B}"/>
              </a:ext>
            </a:extLst>
          </p:cNvPr>
          <p:cNvSpPr txBox="1"/>
          <p:nvPr/>
        </p:nvSpPr>
        <p:spPr>
          <a:xfrm>
            <a:off x="244272" y="4777855"/>
            <a:ext cx="53951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Input: 9V battery or 9–12V adapter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Output: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5V   (for most logic chips like 74LS)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3.3V (for some sensors and microcontrollers)</a:t>
            </a:r>
          </a:p>
          <a:p>
            <a:endParaRPr lang="en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B2DA38-68CF-4DB9-E6D8-515D46927BA2}"/>
              </a:ext>
            </a:extLst>
          </p:cNvPr>
          <p:cNvSpPr txBox="1"/>
          <p:nvPr/>
        </p:nvSpPr>
        <p:spPr>
          <a:xfrm>
            <a:off x="244272" y="6118706"/>
            <a:ext cx="47736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9V battery can power it, but it drains quickly. </a:t>
            </a:r>
          </a:p>
          <a:p>
            <a:r>
              <a:rPr lang="en-US" dirty="0"/>
              <a:t>A 9V or 12V wall adapter works much better.</a:t>
            </a:r>
          </a:p>
          <a:p>
            <a:endParaRPr lang="en-C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976C84-04A2-0CBE-6E84-33241FD0F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895" y="4612948"/>
            <a:ext cx="2184004" cy="164223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638C700-4AD3-09A3-F947-3F89557A6594}"/>
              </a:ext>
            </a:extLst>
          </p:cNvPr>
          <p:cNvSpPr txBox="1"/>
          <p:nvPr/>
        </p:nvSpPr>
        <p:spPr>
          <a:xfrm>
            <a:off x="6551161" y="860254"/>
            <a:ext cx="50794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Jumper wires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Connect components on a breadboard or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      between modules.</a:t>
            </a:r>
          </a:p>
          <a:p>
            <a:endParaRPr lang="en-CN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5624BAC-1EF3-ECC4-8D37-A1FEC79215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605578"/>
              </p:ext>
            </p:extLst>
          </p:nvPr>
        </p:nvGraphicFramePr>
        <p:xfrm>
          <a:off x="6650633" y="2333045"/>
          <a:ext cx="51106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0596">
                  <a:extLst>
                    <a:ext uri="{9D8B030D-6E8A-4147-A177-3AD203B41FA5}">
                      <a16:colId xmlns:a16="http://schemas.microsoft.com/office/drawing/2014/main" val="4185674169"/>
                    </a:ext>
                  </a:extLst>
                </a:gridCol>
                <a:gridCol w="3000006">
                  <a:extLst>
                    <a:ext uri="{9D8B030D-6E8A-4147-A177-3AD203B41FA5}">
                      <a16:colId xmlns:a16="http://schemas.microsoft.com/office/drawing/2014/main" val="2065449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486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Male → 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Breadboard to breadboard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128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Male → 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Breadboard to module pins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4415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Female → 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Module to module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261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6658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33AC-6ADE-A531-8633-5E4B9405F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E0493-AD50-8784-7C03-1C4CB6E3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66" y="1"/>
            <a:ext cx="10515600" cy="863580"/>
          </a:xfrm>
        </p:spPr>
        <p:txBody>
          <a:bodyPr>
            <a:normAutofit/>
          </a:bodyPr>
          <a:lstStyle/>
          <a:p>
            <a:r>
              <a:rPr lang="en-US" sz="3600" b="1" dirty="0"/>
              <a:t>Part 1: Breadboard Power Setup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1C773-56D8-01F7-E41E-5EAECC900E7A}"/>
              </a:ext>
            </a:extLst>
          </p:cNvPr>
          <p:cNvCxnSpPr>
            <a:cxnSpLocks/>
          </p:cNvCxnSpPr>
          <p:nvPr/>
        </p:nvCxnSpPr>
        <p:spPr>
          <a:xfrm>
            <a:off x="244272" y="739294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B6BD974-9D14-986B-BA4D-20436B018608}"/>
              </a:ext>
            </a:extLst>
          </p:cNvPr>
          <p:cNvSpPr txBox="1"/>
          <p:nvPr/>
        </p:nvSpPr>
        <p:spPr>
          <a:xfrm>
            <a:off x="382772" y="1073888"/>
            <a:ext cx="6395405" cy="28179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Connect 5V to the breadboard positive rail.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Connect GND to the ground rail.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Place the IC across the center gap of the breadboard.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For all </a:t>
            </a:r>
            <a:r>
              <a:rPr lang="en-US" sz="2000" b="1" dirty="0"/>
              <a:t>74xx ICs</a:t>
            </a:r>
            <a:r>
              <a:rPr lang="en-US" sz="2000" dirty="0"/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Pin 14 → </a:t>
            </a:r>
            <a:r>
              <a:rPr lang="en-US" sz="2000" dirty="0" err="1"/>
              <a:t>Vcc</a:t>
            </a:r>
            <a:r>
              <a:rPr lang="en-US" sz="2000" dirty="0"/>
              <a:t> (5V)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Pin 7  → GND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CDD91C-5320-A220-9B64-CD9DE963F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354" y="378951"/>
            <a:ext cx="3094103" cy="29737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E6F5E1-C571-580D-AFD4-A001C51F2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107" y="3505301"/>
            <a:ext cx="3896596" cy="32644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9AC1B3-B381-F942-56D9-54428A5F3AB8}"/>
              </a:ext>
            </a:extLst>
          </p:cNvPr>
          <p:cNvSpPr txBox="1"/>
          <p:nvPr/>
        </p:nvSpPr>
        <p:spPr>
          <a:xfrm>
            <a:off x="315550" y="4295554"/>
            <a:ext cx="58445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VCC = where voltage comes from (+5V)-&gt;Power supply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GND =  where curent returns (0V reference)-&gt;Ground</a:t>
            </a:r>
          </a:p>
          <a:p>
            <a:r>
              <a:rPr lang="en-CN" dirty="0"/>
              <a:t>Current moves from VCC-&gt; components-&gt;GND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C11629-1900-0AF4-E26D-DE8A807095A3}"/>
              </a:ext>
            </a:extLst>
          </p:cNvPr>
          <p:cNvCxnSpPr/>
          <p:nvPr/>
        </p:nvCxnSpPr>
        <p:spPr>
          <a:xfrm>
            <a:off x="9260958" y="2190307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A0909F2-11BE-E296-9C86-C16747E35CD9}"/>
              </a:ext>
            </a:extLst>
          </p:cNvPr>
          <p:cNvSpPr txBox="1"/>
          <p:nvPr/>
        </p:nvSpPr>
        <p:spPr>
          <a:xfrm>
            <a:off x="7153107" y="2647507"/>
            <a:ext cx="634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VCC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DE927A-AE24-4945-FC9E-5DB014A7E0E0}"/>
              </a:ext>
            </a:extLst>
          </p:cNvPr>
          <p:cNvSpPr txBox="1"/>
          <p:nvPr/>
        </p:nvSpPr>
        <p:spPr>
          <a:xfrm>
            <a:off x="9926765" y="3051227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GND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05886F-F0CA-631D-2AF3-822417168128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7470181" y="1956391"/>
            <a:ext cx="425090" cy="691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479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53755-F959-CF16-5F16-79EEF09B5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EAC9-E0A4-495A-C6D2-BE476BD0F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66" y="1"/>
            <a:ext cx="10515600" cy="863580"/>
          </a:xfrm>
        </p:spPr>
        <p:txBody>
          <a:bodyPr>
            <a:normAutofit/>
          </a:bodyPr>
          <a:lstStyle/>
          <a:p>
            <a:r>
              <a:rPr lang="en-US" sz="3600" b="1" dirty="0"/>
              <a:t>Part 2: NOT Gate (7404)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6268AC-3BF0-B646-C578-7CE0711A46A6}"/>
              </a:ext>
            </a:extLst>
          </p:cNvPr>
          <p:cNvCxnSpPr>
            <a:cxnSpLocks/>
          </p:cNvCxnSpPr>
          <p:nvPr/>
        </p:nvCxnSpPr>
        <p:spPr>
          <a:xfrm>
            <a:off x="244272" y="739294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5C44BD9-BE5B-517F-04B6-3A8E95B41292}"/>
              </a:ext>
            </a:extLst>
          </p:cNvPr>
          <p:cNvSpPr txBox="1"/>
          <p:nvPr/>
        </p:nvSpPr>
        <p:spPr>
          <a:xfrm>
            <a:off x="262466" y="977500"/>
            <a:ext cx="2160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Gate behavior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C97440-5DE5-B916-EB2F-A8EBBDBA6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00309"/>
              </p:ext>
            </p:extLst>
          </p:nvPr>
        </p:nvGraphicFramePr>
        <p:xfrm>
          <a:off x="661704" y="1704902"/>
          <a:ext cx="334094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471">
                  <a:extLst>
                    <a:ext uri="{9D8B030D-6E8A-4147-A177-3AD203B41FA5}">
                      <a16:colId xmlns:a16="http://schemas.microsoft.com/office/drawing/2014/main" val="4026582723"/>
                    </a:ext>
                  </a:extLst>
                </a:gridCol>
                <a:gridCol w="1670471">
                  <a:extLst>
                    <a:ext uri="{9D8B030D-6E8A-4147-A177-3AD203B41FA5}">
                      <a16:colId xmlns:a16="http://schemas.microsoft.com/office/drawing/2014/main" val="2791755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NOT A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44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2289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74592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CAD361-FD5A-2E07-169E-6D08C9F5DAF9}"/>
              </a:ext>
            </a:extLst>
          </p:cNvPr>
          <p:cNvSpPr txBox="1"/>
          <p:nvPr/>
        </p:nvSpPr>
        <p:spPr>
          <a:xfrm>
            <a:off x="448532" y="3144714"/>
            <a:ext cx="26902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Example pins</a:t>
            </a:r>
          </a:p>
          <a:p>
            <a:pPr lvl="1"/>
            <a:r>
              <a:rPr lang="en-US" dirty="0"/>
              <a:t>Pin 1 → input A</a:t>
            </a:r>
          </a:p>
          <a:p>
            <a:pPr lvl="1"/>
            <a:r>
              <a:rPr lang="en-US" dirty="0"/>
              <a:t>Pin 2 → output NOT A</a:t>
            </a:r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598DD2-1C9E-BD6C-B0C1-3E86AB8C4A59}"/>
              </a:ext>
            </a:extLst>
          </p:cNvPr>
          <p:cNvSpPr txBox="1"/>
          <p:nvPr/>
        </p:nvSpPr>
        <p:spPr>
          <a:xfrm>
            <a:off x="417844" y="4087381"/>
            <a:ext cx="510242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</a:p>
          <a:p>
            <a:pPr lvl="1"/>
            <a:r>
              <a:rPr lang="en-US" dirty="0"/>
              <a:t>Connect pin 14 → 5V</a:t>
            </a:r>
          </a:p>
          <a:p>
            <a:pPr lvl="1"/>
            <a:r>
              <a:rPr lang="en-US" dirty="0"/>
              <a:t>Connect pin 7 → GND</a:t>
            </a:r>
          </a:p>
          <a:p>
            <a:pPr lvl="1"/>
            <a:r>
              <a:rPr lang="en-US" dirty="0"/>
              <a:t>Connect pin 1 → input switch</a:t>
            </a:r>
          </a:p>
          <a:p>
            <a:pPr lvl="1"/>
            <a:r>
              <a:rPr lang="en-US" dirty="0"/>
              <a:t>Connect pin 2 → LED → resistor → GND</a:t>
            </a:r>
          </a:p>
          <a:p>
            <a:pPr lvl="1"/>
            <a:r>
              <a:rPr lang="en-US" dirty="0"/>
              <a:t> Toggle the input and observe the output LED.</a:t>
            </a:r>
          </a:p>
          <a:p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A91EC0-664B-EA67-3C8B-E9EF14E4F784}"/>
              </a:ext>
            </a:extLst>
          </p:cNvPr>
          <p:cNvSpPr txBox="1"/>
          <p:nvPr/>
        </p:nvSpPr>
        <p:spPr>
          <a:xfrm>
            <a:off x="448532" y="5880500"/>
            <a:ext cx="28536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Expected behavior:</a:t>
            </a:r>
          </a:p>
          <a:p>
            <a:pPr lvl="1"/>
            <a:r>
              <a:rPr lang="en-US" dirty="0"/>
              <a:t>Input LOW  → LED ON</a:t>
            </a:r>
          </a:p>
          <a:p>
            <a:pPr lvl="1"/>
            <a:r>
              <a:rPr lang="en-US" dirty="0"/>
              <a:t>Input HIGH → LED OFF</a:t>
            </a:r>
            <a:endParaRPr lang="en-C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05266A-CEAA-3E06-4A16-59154F60C7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8" r="3211" b="6939"/>
          <a:stretch>
            <a:fillRect/>
          </a:stretch>
        </p:blipFill>
        <p:spPr>
          <a:xfrm>
            <a:off x="4512971" y="863581"/>
            <a:ext cx="7352769" cy="31749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7E742E-F69B-AB7B-29CD-29F8586BBD66}"/>
              </a:ext>
            </a:extLst>
          </p:cNvPr>
          <p:cNvSpPr txBox="1"/>
          <p:nvPr/>
        </p:nvSpPr>
        <p:spPr>
          <a:xfrm>
            <a:off x="4578" y="2458331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GND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7D3E9A-F3AE-EFBB-BDA0-FDE2D65C108A}"/>
              </a:ext>
            </a:extLst>
          </p:cNvPr>
          <p:cNvSpPr txBox="1"/>
          <p:nvPr/>
        </p:nvSpPr>
        <p:spPr>
          <a:xfrm>
            <a:off x="40806" y="2076496"/>
            <a:ext cx="634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VCC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1112F7-F500-2368-BF80-87214D8A102E}"/>
              </a:ext>
            </a:extLst>
          </p:cNvPr>
          <p:cNvSpPr txBox="1"/>
          <p:nvPr/>
        </p:nvSpPr>
        <p:spPr>
          <a:xfrm>
            <a:off x="2592836" y="2076496"/>
            <a:ext cx="1409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LED GLOWS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BA9732-249D-22F4-F9AB-0DB440D7F0B2}"/>
              </a:ext>
            </a:extLst>
          </p:cNvPr>
          <p:cNvSpPr txBox="1"/>
          <p:nvPr/>
        </p:nvSpPr>
        <p:spPr>
          <a:xfrm>
            <a:off x="2840501" y="2458331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OFF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295F56C-5D97-80BB-B311-25561757C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488" y="4299527"/>
            <a:ext cx="3344736" cy="233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59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461B9-79E8-22CA-8D0F-C1F27B46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E298-5BA0-7B2B-CA0D-B5C298D8D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66" y="1"/>
            <a:ext cx="10515600" cy="863580"/>
          </a:xfrm>
        </p:spPr>
        <p:txBody>
          <a:bodyPr>
            <a:normAutofit/>
          </a:bodyPr>
          <a:lstStyle/>
          <a:p>
            <a:r>
              <a:rPr lang="en-US" sz="3600" b="1" dirty="0"/>
              <a:t>Part 3: AND Gate (7408)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0629D5-0161-0EE2-C343-D3A22724C159}"/>
              </a:ext>
            </a:extLst>
          </p:cNvPr>
          <p:cNvCxnSpPr>
            <a:cxnSpLocks/>
          </p:cNvCxnSpPr>
          <p:nvPr/>
        </p:nvCxnSpPr>
        <p:spPr>
          <a:xfrm>
            <a:off x="244272" y="739294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E78D132-CFBC-DAF7-A27D-F9ABA05B8C49}"/>
              </a:ext>
            </a:extLst>
          </p:cNvPr>
          <p:cNvSpPr txBox="1"/>
          <p:nvPr/>
        </p:nvSpPr>
        <p:spPr>
          <a:xfrm>
            <a:off x="262466" y="9073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Truth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11AEA8-7BB9-A392-B70A-3624DC581B6D}"/>
              </a:ext>
            </a:extLst>
          </p:cNvPr>
          <p:cNvSpPr txBox="1"/>
          <p:nvPr/>
        </p:nvSpPr>
        <p:spPr>
          <a:xfrm>
            <a:off x="262466" y="3309973"/>
            <a:ext cx="20585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Gate pins</a:t>
            </a:r>
          </a:p>
          <a:p>
            <a:pPr lvl="1"/>
            <a:r>
              <a:rPr lang="en-US" dirty="0"/>
              <a:t>Pin 1 → input A</a:t>
            </a:r>
          </a:p>
          <a:p>
            <a:pPr lvl="1"/>
            <a:r>
              <a:rPr lang="en-US" dirty="0"/>
              <a:t>Pin 2 → input B</a:t>
            </a:r>
          </a:p>
          <a:p>
            <a:pPr lvl="1"/>
            <a:r>
              <a:rPr lang="en-US" dirty="0"/>
              <a:t>Pin 3 → output</a:t>
            </a:r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CC3612-C808-88FC-C9FE-DCF6FA303D63}"/>
              </a:ext>
            </a:extLst>
          </p:cNvPr>
          <p:cNvSpPr txBox="1"/>
          <p:nvPr/>
        </p:nvSpPr>
        <p:spPr>
          <a:xfrm>
            <a:off x="244272" y="4789239"/>
            <a:ext cx="57878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</a:p>
          <a:p>
            <a:pPr lvl="1"/>
            <a:r>
              <a:rPr lang="en-US" dirty="0"/>
              <a:t>Connect two input wires or switches to pins 1 and 2.</a:t>
            </a:r>
          </a:p>
          <a:p>
            <a:pPr lvl="1"/>
            <a:r>
              <a:rPr lang="en-US" dirty="0"/>
              <a:t>Connect pin 3 → LED → resistor → GND.</a:t>
            </a:r>
          </a:p>
          <a:p>
            <a:pPr lvl="1"/>
            <a:r>
              <a:rPr lang="en-US" dirty="0"/>
              <a:t>Test all input combinations.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Only when A=1 and B=1 should the LED turn on.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DA6406-C49A-7767-9889-9D2117477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485054"/>
              </p:ext>
            </p:extLst>
          </p:nvPr>
        </p:nvGraphicFramePr>
        <p:xfrm>
          <a:off x="605482" y="1366241"/>
          <a:ext cx="384294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983">
                  <a:extLst>
                    <a:ext uri="{9D8B030D-6E8A-4147-A177-3AD203B41FA5}">
                      <a16:colId xmlns:a16="http://schemas.microsoft.com/office/drawing/2014/main" val="3442227235"/>
                    </a:ext>
                  </a:extLst>
                </a:gridCol>
                <a:gridCol w="1280983">
                  <a:extLst>
                    <a:ext uri="{9D8B030D-6E8A-4147-A177-3AD203B41FA5}">
                      <a16:colId xmlns:a16="http://schemas.microsoft.com/office/drawing/2014/main" val="3063435700"/>
                    </a:ext>
                  </a:extLst>
                </a:gridCol>
                <a:gridCol w="1280983">
                  <a:extLst>
                    <a:ext uri="{9D8B030D-6E8A-4147-A177-3AD203B41FA5}">
                      <a16:colId xmlns:a16="http://schemas.microsoft.com/office/drawing/2014/main" val="4175689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 AND B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04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487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202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510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50902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E14416A2-B907-4000-28F5-345D3B1EB3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7" r="1211" b="7848"/>
          <a:stretch>
            <a:fillRect/>
          </a:stretch>
        </p:blipFill>
        <p:spPr>
          <a:xfrm>
            <a:off x="4576698" y="557185"/>
            <a:ext cx="7481103" cy="32134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592875-76BC-AE67-0589-49143F7A73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91" b="5818"/>
          <a:stretch>
            <a:fillRect/>
          </a:stretch>
        </p:blipFill>
        <p:spPr>
          <a:xfrm>
            <a:off x="7457789" y="4157330"/>
            <a:ext cx="4170882" cy="251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65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95A44-D260-5A35-4DC5-A9B9241E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BDD0-1738-316F-9A83-E5DCB4A3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66" y="1"/>
            <a:ext cx="10515600" cy="863580"/>
          </a:xfrm>
        </p:spPr>
        <p:txBody>
          <a:bodyPr>
            <a:normAutofit/>
          </a:bodyPr>
          <a:lstStyle/>
          <a:p>
            <a:r>
              <a:rPr lang="en-US" sz="3600" b="1" dirty="0"/>
              <a:t>Part 4: OR Gate (7432)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D77470D-5D33-7553-9E41-65114AF91F91}"/>
              </a:ext>
            </a:extLst>
          </p:cNvPr>
          <p:cNvCxnSpPr>
            <a:cxnSpLocks/>
          </p:cNvCxnSpPr>
          <p:nvPr/>
        </p:nvCxnSpPr>
        <p:spPr>
          <a:xfrm>
            <a:off x="244272" y="739294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EFFC0AB-FB74-EFE1-F87C-DBFF016AED63}"/>
              </a:ext>
            </a:extLst>
          </p:cNvPr>
          <p:cNvSpPr txBox="1"/>
          <p:nvPr/>
        </p:nvSpPr>
        <p:spPr>
          <a:xfrm>
            <a:off x="244272" y="888340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Truth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1CCC0-F39F-85D2-048F-83BB8B1D7E0A}"/>
              </a:ext>
            </a:extLst>
          </p:cNvPr>
          <p:cNvSpPr txBox="1"/>
          <p:nvPr/>
        </p:nvSpPr>
        <p:spPr>
          <a:xfrm>
            <a:off x="244272" y="3429000"/>
            <a:ext cx="20585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Gate pins</a:t>
            </a:r>
          </a:p>
          <a:p>
            <a:pPr lvl="1"/>
            <a:r>
              <a:rPr lang="en-US" dirty="0"/>
              <a:t>Pin 1 → input A</a:t>
            </a:r>
          </a:p>
          <a:p>
            <a:pPr lvl="1"/>
            <a:r>
              <a:rPr lang="en-US" dirty="0"/>
              <a:t>Pin 2 → input B</a:t>
            </a:r>
          </a:p>
          <a:p>
            <a:pPr lvl="1"/>
            <a:r>
              <a:rPr lang="en-US" dirty="0"/>
              <a:t>Pin 3 → output</a:t>
            </a:r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4A9805-0F47-6A96-B447-AF95073349B8}"/>
              </a:ext>
            </a:extLst>
          </p:cNvPr>
          <p:cNvSpPr txBox="1"/>
          <p:nvPr/>
        </p:nvSpPr>
        <p:spPr>
          <a:xfrm>
            <a:off x="262466" y="4832080"/>
            <a:ext cx="58705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Steps</a:t>
            </a:r>
          </a:p>
          <a:p>
            <a:pPr lvl="1"/>
            <a:r>
              <a:rPr lang="en-US" dirty="0"/>
              <a:t>Same setup as the AND gate but using the 7432 IC.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LED should turn on if either input is HIGH.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48928B-4FC7-06AA-9277-F8CDA5BB9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560569"/>
              </p:ext>
            </p:extLst>
          </p:nvPr>
        </p:nvGraphicFramePr>
        <p:xfrm>
          <a:off x="560546" y="1450514"/>
          <a:ext cx="34846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535">
                  <a:extLst>
                    <a:ext uri="{9D8B030D-6E8A-4147-A177-3AD203B41FA5}">
                      <a16:colId xmlns:a16="http://schemas.microsoft.com/office/drawing/2014/main" val="3442227235"/>
                    </a:ext>
                  </a:extLst>
                </a:gridCol>
                <a:gridCol w="1161535">
                  <a:extLst>
                    <a:ext uri="{9D8B030D-6E8A-4147-A177-3AD203B41FA5}">
                      <a16:colId xmlns:a16="http://schemas.microsoft.com/office/drawing/2014/main" val="3063435700"/>
                    </a:ext>
                  </a:extLst>
                </a:gridCol>
                <a:gridCol w="1161535">
                  <a:extLst>
                    <a:ext uri="{9D8B030D-6E8A-4147-A177-3AD203B41FA5}">
                      <a16:colId xmlns:a16="http://schemas.microsoft.com/office/drawing/2014/main" val="4175689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 OR B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04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487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9202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510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50902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C851CA9-5EF6-ED4D-4F8D-64FBE9D305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1" r="4069" b="5030"/>
          <a:stretch>
            <a:fillRect/>
          </a:stretch>
        </p:blipFill>
        <p:spPr>
          <a:xfrm>
            <a:off x="4512091" y="805216"/>
            <a:ext cx="7269519" cy="31714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0A73BE-45C9-B0B8-B2D3-0786CC129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090" y="4042598"/>
            <a:ext cx="3821766" cy="247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563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2ACE3-4818-2A09-C402-D62C9329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E587C-1D9C-79D2-506C-19DC5EEB5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66" y="1"/>
            <a:ext cx="10515600" cy="863580"/>
          </a:xfrm>
        </p:spPr>
        <p:txBody>
          <a:bodyPr>
            <a:normAutofit/>
          </a:bodyPr>
          <a:lstStyle/>
          <a:p>
            <a:r>
              <a:rPr lang="en-US" sz="3600" b="1" dirty="0"/>
              <a:t>Hardware Gates vs. MIPS Instructions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37BC53-0F6A-FDA0-9FA7-EB9D9E538390}"/>
              </a:ext>
            </a:extLst>
          </p:cNvPr>
          <p:cNvCxnSpPr>
            <a:cxnSpLocks/>
          </p:cNvCxnSpPr>
          <p:nvPr/>
        </p:nvCxnSpPr>
        <p:spPr>
          <a:xfrm>
            <a:off x="244272" y="739294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D836CA-C6FD-A094-6926-65EFFCECD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332749"/>
              </p:ext>
            </p:extLst>
          </p:nvPr>
        </p:nvGraphicFramePr>
        <p:xfrm>
          <a:off x="474136" y="1081544"/>
          <a:ext cx="81280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0118200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98276259"/>
                    </a:ext>
                  </a:extLst>
                </a:gridCol>
              </a:tblGrid>
              <a:tr h="360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MIPS instruction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301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162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31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nor with $zero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91925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3734980-7F17-2755-9976-935B5D65A33A}"/>
              </a:ext>
            </a:extLst>
          </p:cNvPr>
          <p:cNvSpPr txBox="1"/>
          <p:nvPr/>
        </p:nvSpPr>
        <p:spPr>
          <a:xfrm>
            <a:off x="332509" y="2777787"/>
            <a:ext cx="3942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lvl="1"/>
            <a:r>
              <a:rPr lang="en-US" dirty="0"/>
              <a:t>nor $t0, $t1, $zero   # bitwise NOT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52586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5A2D-5556-89F5-6600-BFF5E1F33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48CA584-559F-30B4-573D-52CF4B9130D1}"/>
              </a:ext>
            </a:extLst>
          </p:cNvPr>
          <p:cNvSpPr txBox="1"/>
          <p:nvPr/>
        </p:nvSpPr>
        <p:spPr>
          <a:xfrm>
            <a:off x="306658" y="21265"/>
            <a:ext cx="11885342" cy="5942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4400" b="1" dirty="0"/>
              <a:t>In-class Task/Assignment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Build NOT gate using IC 7404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Build AND gate using IC 7408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Build OR gate using IC 7432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Verify truth tables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Record observations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Deliverables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Students must submit: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Breadboard photo of each circuit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Completed truth tables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Short explanation of observed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>
              <a:lnSpc>
                <a:spcPct val="200000"/>
              </a:lnSpc>
            </a:pPr>
            <a:endParaRPr lang="en-C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A43FFB-E176-DE0D-8C69-CE4F944529F2}"/>
              </a:ext>
            </a:extLst>
          </p:cNvPr>
          <p:cNvCxnSpPr>
            <a:cxnSpLocks/>
          </p:cNvCxnSpPr>
          <p:nvPr/>
        </p:nvCxnSpPr>
        <p:spPr>
          <a:xfrm>
            <a:off x="306904" y="1243958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0DB924-84BF-5C0A-F93B-F8069373E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849196"/>
              </p:ext>
            </p:extLst>
          </p:nvPr>
        </p:nvGraphicFramePr>
        <p:xfrm>
          <a:off x="501845" y="5614042"/>
          <a:ext cx="5812746" cy="1097280"/>
        </p:xfrm>
        <a:graphic>
          <a:graphicData uri="http://schemas.openxmlformats.org/drawingml/2006/table">
            <a:tbl>
              <a:tblPr/>
              <a:tblGrid>
                <a:gridCol w="1937582">
                  <a:extLst>
                    <a:ext uri="{9D8B030D-6E8A-4147-A177-3AD203B41FA5}">
                      <a16:colId xmlns:a16="http://schemas.microsoft.com/office/drawing/2014/main" val="2470979078"/>
                    </a:ext>
                  </a:extLst>
                </a:gridCol>
                <a:gridCol w="1937582">
                  <a:extLst>
                    <a:ext uri="{9D8B030D-6E8A-4147-A177-3AD203B41FA5}">
                      <a16:colId xmlns:a16="http://schemas.microsoft.com/office/drawing/2014/main" val="4047836037"/>
                    </a:ext>
                  </a:extLst>
                </a:gridCol>
                <a:gridCol w="1937582">
                  <a:extLst>
                    <a:ext uri="{9D8B030D-6E8A-4147-A177-3AD203B41FA5}">
                      <a16:colId xmlns:a16="http://schemas.microsoft.com/office/drawing/2014/main" val="1685760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Gate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Input(s)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Output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070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961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468297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7F804F0-536A-81E2-236F-10E3D7CA69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540" t="6702" r="3211" b="6938"/>
          <a:stretch>
            <a:fillRect/>
          </a:stretch>
        </p:blipFill>
        <p:spPr>
          <a:xfrm>
            <a:off x="7755467" y="110074"/>
            <a:ext cx="3983273" cy="29463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121B29-0258-6018-DC32-FEF766FA0E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41" t="7660" r="1211" b="7848"/>
          <a:stretch>
            <a:fillRect/>
          </a:stretch>
        </p:blipFill>
        <p:spPr>
          <a:xfrm>
            <a:off x="7902069" y="3465513"/>
            <a:ext cx="3983273" cy="29463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8630CC-F0B7-92D5-8632-42FF0E44AB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016" t="9355" r="4070" b="5030"/>
          <a:stretch>
            <a:fillRect/>
          </a:stretch>
        </p:blipFill>
        <p:spPr>
          <a:xfrm>
            <a:off x="3715870" y="1388115"/>
            <a:ext cx="3879541" cy="285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55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1012</Words>
  <Application>Microsoft Macintosh PowerPoint</Application>
  <PresentationFormat>Widescreen</PresentationFormat>
  <Paragraphs>260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Computer Organization &amp; Design</vt:lpstr>
      <vt:lpstr>PowerPoint Presentation</vt:lpstr>
      <vt:lpstr>Materials</vt:lpstr>
      <vt:lpstr>Component Description</vt:lpstr>
      <vt:lpstr>Component Description</vt:lpstr>
      <vt:lpstr>Component Description</vt:lpstr>
      <vt:lpstr>Component Description</vt:lpstr>
      <vt:lpstr>Part 1: Breadboard Power Setup</vt:lpstr>
      <vt:lpstr>Part 2: NOT Gate (7404)</vt:lpstr>
      <vt:lpstr>Part 3: AND Gate (7408)</vt:lpstr>
      <vt:lpstr>Part 4: OR Gate (7432)</vt:lpstr>
      <vt:lpstr>Hardware Gates vs. MIPS Instructions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Ebuka P Oguchi</dc:creator>
  <cp:lastModifiedBy>Ebuka P Oguchi</cp:lastModifiedBy>
  <cp:revision>14</cp:revision>
  <dcterms:created xsi:type="dcterms:W3CDTF">2026-04-01T16:05:02Z</dcterms:created>
  <dcterms:modified xsi:type="dcterms:W3CDTF">2026-04-22T17:46:12Z</dcterms:modified>
</cp:coreProperties>
</file>