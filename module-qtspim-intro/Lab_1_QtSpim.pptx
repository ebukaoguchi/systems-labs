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68" r:id="rId2"/>
    <p:sldId id="263" r:id="rId3"/>
    <p:sldId id="262" r:id="rId4"/>
    <p:sldId id="260" r:id="rId5"/>
    <p:sldId id="258" r:id="rId6"/>
    <p:sldId id="259" r:id="rId7"/>
    <p:sldId id="257" r:id="rId8"/>
    <p:sldId id="269" r:id="rId9"/>
    <p:sldId id="256" r:id="rId10"/>
    <p:sldId id="278" r:id="rId11"/>
    <p:sldId id="266" r:id="rId12"/>
    <p:sldId id="261" r:id="rId13"/>
    <p:sldId id="264" r:id="rId14"/>
    <p:sldId id="265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49"/>
    <p:restoredTop sz="91403"/>
  </p:normalViewPr>
  <p:slideViewPr>
    <p:cSldViewPr snapToGrid="0" showGuides="1">
      <p:cViewPr varScale="1">
        <p:scale>
          <a:sx n="94" d="100"/>
          <a:sy n="94" d="100"/>
        </p:scale>
        <p:origin x="232" y="2496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3150C-224C-C844-995D-1C45786ACCBA}" type="datetimeFigureOut">
              <a:rPr lang="en-CN" smtClean="0"/>
              <a:t>2026/8/23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A1021-F99C-6244-97FF-EF54883A61A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235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20FBE-30E7-912C-2E82-08AD77EDB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B497D-3EC3-B8D5-4844-0AE362DB5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5D26E-598A-650D-C7AF-E1D233A54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9FDA-B0DB-F80D-F504-E4F0AB1C6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A1021-F99C-6244-97FF-EF54883A61A3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12789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A1021-F99C-6244-97FF-EF54883A61A3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2798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A1021-F99C-6244-97FF-EF54883A61A3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13313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A1021-F99C-6244-97FF-EF54883A61A3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99138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A1021-F99C-6244-97FF-EF54883A61A3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04149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A1021-F99C-6244-97FF-EF54883A61A3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26327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E1D28-1811-0D6D-6543-1E7E1A728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621FB-41AC-53AF-61B7-61F84747C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A64B2-BAA7-5DE9-03A0-1956C60E7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5C844-854D-1B43-B657-3B1661A522D9}" type="datetimeFigureOut">
              <a:rPr lang="en-CN" smtClean="0"/>
              <a:t>2026/8/23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91751-4C23-6B93-F4FB-F4F57D75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EC86-1C69-A13B-3C6D-58027A6B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DDE2-6848-5D46-B186-269A248188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8403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C33F-640A-ABD7-7459-A3786EE3C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E700B-27DD-342B-5091-9E0B627F5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CA6FD-CF1B-1001-FF98-C6D5CD7B0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5C844-854D-1B43-B657-3B1661A522D9}" type="datetimeFigureOut">
              <a:rPr lang="en-CN" smtClean="0"/>
              <a:t>2026/8/23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C58E2-E43A-8D12-9E75-5794BEE74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6F804-5941-60EC-1F5A-02107DA6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DDE2-6848-5D46-B186-269A248188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1055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6D084-2CC0-2F0F-F5F4-B34AE8697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EAD77-CEAA-7894-A2D2-38862962E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E8612-19F8-A308-390B-3EC6E1A24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5C844-854D-1B43-B657-3B1661A522D9}" type="datetimeFigureOut">
              <a:rPr lang="en-CN" smtClean="0"/>
              <a:t>2026/8/23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BFAE3-0CDC-35C2-90FC-425E2A2AF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E4555-5134-CEFA-DF02-B106CC8F1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DDE2-6848-5D46-B186-269A248188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5156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6FC7-FFBB-D518-F754-3BFB5623A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0B53D-78F7-21BB-6415-4B81B9AF1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05A61-4E4B-D197-7A5B-C424611B5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842F3-B9B6-B020-48B7-F5DDA1A3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5C844-854D-1B43-B657-3B1661A522D9}" type="datetimeFigureOut">
              <a:rPr lang="en-CN" smtClean="0"/>
              <a:t>2026/8/23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F6B69-B4BF-82BF-10FA-B0DFD226D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5C0D4-6341-1B1B-B429-14050B7B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DDE2-6848-5D46-B186-269A248188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79023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FE22C-2CA5-CD15-D46D-D41F5ADFC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3A39A-BA8F-DEF2-76F8-AC7CB70F2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45EDE-C5DB-2A60-585F-26DB6A221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03B80-6840-E82F-3130-CEC6BBFA17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CB8D3-D032-3177-6EF3-D04C6F063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6F84D2-39FC-1C57-F53A-A2A8EC39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5C844-854D-1B43-B657-3B1661A522D9}" type="datetimeFigureOut">
              <a:rPr lang="en-CN" smtClean="0"/>
              <a:t>2026/8/23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60E32C-1D97-A467-57B0-D2A1B4BDF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E55D9A-1B3C-E6CF-9399-395F03CD3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DDE2-6848-5D46-B186-269A248188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92879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97F1B-B213-3F15-1C0D-FD73E8FB4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62CDB4-8FA9-3F85-C8FB-2DEEB81C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5C844-854D-1B43-B657-3B1661A522D9}" type="datetimeFigureOut">
              <a:rPr lang="en-CN" smtClean="0"/>
              <a:t>2026/8/23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591ED3-F462-4156-F8A2-93BFD68A0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EEB6A-19FB-E4C8-B2B9-D9BFF6C9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DDE2-6848-5D46-B186-269A248188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83621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1CB7B1-D416-D4F3-B9A3-83B59213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5C844-854D-1B43-B657-3B1661A522D9}" type="datetimeFigureOut">
              <a:rPr lang="en-CN" smtClean="0"/>
              <a:t>2026/8/23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FE12F-677D-5AA3-5B0D-A7FD04938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08F80-984A-969C-A35C-B5E0620AF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DDE2-6848-5D46-B186-269A248188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99104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CE6B3-16D1-9719-EB73-672D73FCB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094E2-F988-4E5F-4637-F3D42AC83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A67FA-2B97-1425-26C6-BA5408EF4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96BC3-60C5-5CF6-8965-41F6D665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5C844-854D-1B43-B657-3B1661A522D9}" type="datetimeFigureOut">
              <a:rPr lang="en-CN" smtClean="0"/>
              <a:t>2026/8/23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D86AB-9571-2676-D56A-FC3BB79F8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D680E-CA9C-C55C-8561-47B64B3C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DDE2-6848-5D46-B186-269A248188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3698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4E7F-DC3E-4DD3-CA7A-7533CD186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41EA5-E3EF-D648-76EF-0B96F1E87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15475-1C2A-9A68-C3E3-C91FFD224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31C44-5713-B575-D3F6-6945D125E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5C844-854D-1B43-B657-3B1661A522D9}" type="datetimeFigureOut">
              <a:rPr lang="en-CN" smtClean="0"/>
              <a:t>2026/8/23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8A571-18C4-C885-83A4-AC8261801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7BE88-F7C8-D7A5-5777-5459218E5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DDE2-6848-5D46-B186-269A248188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1866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72777-4E94-E9BF-104D-4BE83A72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175C7-927D-EDBB-0974-C7C7A6E72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37265-A89E-4817-4FB6-321FE573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5C844-854D-1B43-B657-3B1661A522D9}" type="datetimeFigureOut">
              <a:rPr lang="en-CN" smtClean="0"/>
              <a:t>2026/8/23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10C2B-2B66-310B-ED57-29A0784F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58B00-1FDC-C845-17B8-7028F827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DDE2-6848-5D46-B186-269A248188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1901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0FE10-2BE5-1C25-827E-2918FFFA52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5816E-2476-C547-0B79-F3D53F5D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47522-3F72-1BE2-63CF-0F548865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5C844-854D-1B43-B657-3B1661A522D9}" type="datetimeFigureOut">
              <a:rPr lang="en-CN" smtClean="0"/>
              <a:t>2026/8/23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9AE57-4251-3143-912D-F4A9FEF24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6E1B2-3230-C2CF-1518-CECCA1920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CDDE2-6848-5D46-B186-269A248188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095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0A3B9C-F162-EF57-8F76-B5D3FCCD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EB4EF-1E5A-8CAD-D3DB-24276DCDC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1ED24-9026-1715-38D8-8757BFE10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5C844-854D-1B43-B657-3B1661A522D9}" type="datetimeFigureOut">
              <a:rPr lang="en-CN" smtClean="0"/>
              <a:t>2026/8/23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855E3-6AE0-23EA-AD89-AF4A7AA21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23437-B1A0-9435-8AFE-F41A413E8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CDDE2-6848-5D46-B186-269A248188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03430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B085-7D3D-57E4-8A41-717819B50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4" y="844826"/>
            <a:ext cx="10287001" cy="5406887"/>
          </a:xfrm>
        </p:spPr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en-US" sz="4800" dirty="0"/>
              <a:t>Lab 1: Introduction to </a:t>
            </a:r>
            <a:r>
              <a:rPr lang="en-US" sz="4800" dirty="0" err="1"/>
              <a:t>QtSpim</a:t>
            </a:r>
            <a:br>
              <a:rPr lang="en-US" dirty="0"/>
            </a:br>
            <a:r>
              <a:rPr lang="en-US" sz="3100" dirty="0"/>
              <a:t>Course: CIS 216  Lab- Computer Organization</a:t>
            </a:r>
            <a:br>
              <a:rPr lang="en-US" sz="3100" dirty="0"/>
            </a:br>
            <a:br>
              <a:rPr lang="en-US" dirty="0"/>
            </a:b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24178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F22DB-C7B2-547F-0632-DFD0EADB0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FF9337-4621-8973-A907-266DC34822BE}"/>
              </a:ext>
            </a:extLst>
          </p:cNvPr>
          <p:cNvSpPr txBox="1"/>
          <p:nvPr/>
        </p:nvSpPr>
        <p:spPr>
          <a:xfrm>
            <a:off x="421532" y="101837"/>
            <a:ext cx="101790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MIPS Assembly Language Programming Using </a:t>
            </a:r>
            <a:r>
              <a:rPr lang="en-US" sz="3200" dirty="0" err="1"/>
              <a:t>QtSpim</a:t>
            </a:r>
            <a:endParaRPr lang="en-US" sz="3200" dirty="0"/>
          </a:p>
          <a:p>
            <a:endParaRPr lang="en-CN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48350E0-0732-E158-3662-F7AAF8C22B92}"/>
              </a:ext>
            </a:extLst>
          </p:cNvPr>
          <p:cNvCxnSpPr>
            <a:cxnSpLocks/>
          </p:cNvCxnSpPr>
          <p:nvPr/>
        </p:nvCxnSpPr>
        <p:spPr>
          <a:xfrm flipV="1">
            <a:off x="107004" y="643796"/>
            <a:ext cx="11663464" cy="5659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515A817-3F7D-EE52-67C2-08A8D25009FB}"/>
              </a:ext>
            </a:extLst>
          </p:cNvPr>
          <p:cNvSpPr txBox="1"/>
          <p:nvPr/>
        </p:nvSpPr>
        <p:spPr>
          <a:xfrm>
            <a:off x="421532" y="902653"/>
            <a:ext cx="9150903" cy="4563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CN" sz="2400" dirty="0"/>
              <a:t>Learning Objectives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CN" sz="2400" dirty="0"/>
              <a:t>By the end of this lab, students will be able to: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CN" sz="2400" dirty="0"/>
              <a:t>Load and run a MIPS program in QtSpim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CN" sz="2400" dirty="0"/>
              <a:t>Identify registers, memory, and instructions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CN" sz="2400" dirty="0"/>
              <a:t>Explain how data moves: memory -&gt; registers-&gt; ALU-&gt;memory</a:t>
            </a:r>
          </a:p>
        </p:txBody>
      </p:sp>
    </p:spTree>
    <p:extLst>
      <p:ext uri="{BB962C8B-B14F-4D97-AF65-F5344CB8AC3E}">
        <p14:creationId xmlns:p14="http://schemas.microsoft.com/office/powerpoint/2010/main" val="3430220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93327-8B5D-9E31-65BE-0024ACAEB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F331A5-7A32-05BD-EF5E-4721CAD8286C}"/>
              </a:ext>
            </a:extLst>
          </p:cNvPr>
          <p:cNvSpPr txBox="1"/>
          <p:nvPr/>
        </p:nvSpPr>
        <p:spPr>
          <a:xfrm>
            <a:off x="421532" y="101837"/>
            <a:ext cx="101790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MIPS Assembly Language Programming Using </a:t>
            </a:r>
            <a:r>
              <a:rPr lang="en-US" sz="3200" dirty="0" err="1"/>
              <a:t>QtSpim</a:t>
            </a:r>
            <a:endParaRPr lang="en-US" sz="3200" dirty="0"/>
          </a:p>
          <a:p>
            <a:endParaRPr lang="en-CN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BF7125-9243-D50E-55F8-A2A9C1BFC1F1}"/>
              </a:ext>
            </a:extLst>
          </p:cNvPr>
          <p:cNvCxnSpPr>
            <a:cxnSpLocks/>
          </p:cNvCxnSpPr>
          <p:nvPr/>
        </p:nvCxnSpPr>
        <p:spPr>
          <a:xfrm flipV="1">
            <a:off x="107004" y="643796"/>
            <a:ext cx="11663464" cy="5659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461476-3A19-2288-B63F-6143C25EF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4" y="1619388"/>
            <a:ext cx="9132044" cy="51367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D29AE14-9DFA-1E24-953A-B4649D5BCB14}"/>
              </a:ext>
            </a:extLst>
          </p:cNvPr>
          <p:cNvSpPr/>
          <p:nvPr/>
        </p:nvSpPr>
        <p:spPr>
          <a:xfrm>
            <a:off x="4393424" y="4000957"/>
            <a:ext cx="2859349" cy="162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B62B94-FCE1-558E-0DAB-4DD5986B4BF2}"/>
              </a:ext>
            </a:extLst>
          </p:cNvPr>
          <p:cNvSpPr/>
          <p:nvPr/>
        </p:nvSpPr>
        <p:spPr>
          <a:xfrm>
            <a:off x="4378857" y="2040201"/>
            <a:ext cx="2859349" cy="162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543265-E155-D17F-108D-DC1E8C229652}"/>
              </a:ext>
            </a:extLst>
          </p:cNvPr>
          <p:cNvSpPr/>
          <p:nvPr/>
        </p:nvSpPr>
        <p:spPr>
          <a:xfrm>
            <a:off x="443271" y="1825028"/>
            <a:ext cx="1444106" cy="181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7BDDB6-03C2-FCB9-279E-F467BB5D433B}"/>
              </a:ext>
            </a:extLst>
          </p:cNvPr>
          <p:cNvSpPr/>
          <p:nvPr/>
        </p:nvSpPr>
        <p:spPr>
          <a:xfrm>
            <a:off x="5236152" y="1761324"/>
            <a:ext cx="926758" cy="181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E6EB53-804E-9CBE-422D-BEC56CAF2188}"/>
              </a:ext>
            </a:extLst>
          </p:cNvPr>
          <p:cNvCxnSpPr>
            <a:cxnSpLocks/>
          </p:cNvCxnSpPr>
          <p:nvPr/>
        </p:nvCxnSpPr>
        <p:spPr>
          <a:xfrm flipH="1" flipV="1">
            <a:off x="1037968" y="1658778"/>
            <a:ext cx="146021" cy="1532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53BB856-F2E5-999C-7441-971054E6DD2E}"/>
              </a:ext>
            </a:extLst>
          </p:cNvPr>
          <p:cNvSpPr/>
          <p:nvPr/>
        </p:nvSpPr>
        <p:spPr>
          <a:xfrm>
            <a:off x="421532" y="744378"/>
            <a:ext cx="543334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1DF218-7C66-225B-AA0C-DD4EC1508FFA}"/>
              </a:ext>
            </a:extLst>
          </p:cNvPr>
          <p:cNvSpPr txBox="1"/>
          <p:nvPr/>
        </p:nvSpPr>
        <p:spPr>
          <a:xfrm>
            <a:off x="443271" y="814944"/>
            <a:ext cx="5501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Int Regs holds the integers, addresses (your program)</a:t>
            </a:r>
          </a:p>
          <a:p>
            <a:r>
              <a:rPr lang="en-CN" dirty="0"/>
              <a:t>FP Regs holds the Floating-point values (FP programs)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A63E2B-2B07-9084-CECC-390392611E91}"/>
              </a:ext>
            </a:extLst>
          </p:cNvPr>
          <p:cNvSpPr/>
          <p:nvPr/>
        </p:nvSpPr>
        <p:spPr>
          <a:xfrm>
            <a:off x="7394756" y="744378"/>
            <a:ext cx="3822262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3B767D-4CD5-7529-C4FC-798FFBBF9A7A}"/>
              </a:ext>
            </a:extLst>
          </p:cNvPr>
          <p:cNvSpPr txBox="1"/>
          <p:nvPr/>
        </p:nvSpPr>
        <p:spPr>
          <a:xfrm>
            <a:off x="7394756" y="889278"/>
            <a:ext cx="3951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Data holds variables (your program)</a:t>
            </a:r>
          </a:p>
          <a:p>
            <a:r>
              <a:rPr lang="en-CN" dirty="0"/>
              <a:t>Text holds instructions (your program)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E2E0214-9DD5-BFC8-D868-5E4214E8FCD9}"/>
              </a:ext>
            </a:extLst>
          </p:cNvPr>
          <p:cNvCxnSpPr>
            <a:cxnSpLocks/>
            <a:endCxn id="31" idx="1"/>
          </p:cNvCxnSpPr>
          <p:nvPr/>
        </p:nvCxnSpPr>
        <p:spPr>
          <a:xfrm flipV="1">
            <a:off x="6111010" y="1212444"/>
            <a:ext cx="1283746" cy="5222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4F8A314-84F5-995D-93AE-E0308A50E10E}"/>
              </a:ext>
            </a:extLst>
          </p:cNvPr>
          <p:cNvSpPr/>
          <p:nvPr/>
        </p:nvSpPr>
        <p:spPr>
          <a:xfrm>
            <a:off x="8004356" y="3425227"/>
            <a:ext cx="3766112" cy="9915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D8F8B7-EED7-0449-6E7D-F757D06BD339}"/>
              </a:ext>
            </a:extLst>
          </p:cNvPr>
          <p:cNvSpPr txBox="1"/>
          <p:nvPr/>
        </p:nvSpPr>
        <p:spPr>
          <a:xfrm>
            <a:off x="8004356" y="3429000"/>
            <a:ext cx="37813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Reserved for OS (kernel code)</a:t>
            </a:r>
          </a:p>
          <a:p>
            <a:r>
              <a:rPr lang="en-US" dirty="0"/>
              <a:t>C</a:t>
            </a:r>
            <a:r>
              <a:rPr lang="en-CN" dirty="0"/>
              <a:t>ontains: </a:t>
            </a:r>
          </a:p>
          <a:p>
            <a:r>
              <a:rPr lang="en-CN" dirty="0"/>
              <a:t>syscall handlers, exception handling</a:t>
            </a:r>
          </a:p>
          <a:p>
            <a:endParaRPr lang="en-CN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A85CC72-5CD4-C526-7869-2AA693DA8F51}"/>
              </a:ext>
            </a:extLst>
          </p:cNvPr>
          <p:cNvCxnSpPr>
            <a:cxnSpLocks/>
          </p:cNvCxnSpPr>
          <p:nvPr/>
        </p:nvCxnSpPr>
        <p:spPr>
          <a:xfrm flipV="1">
            <a:off x="6600825" y="3773074"/>
            <a:ext cx="1388287" cy="2278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5F72B733-6736-150C-A074-E131CE44C172}"/>
              </a:ext>
            </a:extLst>
          </p:cNvPr>
          <p:cNvSpPr/>
          <p:nvPr/>
        </p:nvSpPr>
        <p:spPr>
          <a:xfrm>
            <a:off x="7394755" y="2086279"/>
            <a:ext cx="4522361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F44E672-8675-E0F9-FB86-8ED2C1F256F5}"/>
              </a:ext>
            </a:extLst>
          </p:cNvPr>
          <p:cNvCxnSpPr>
            <a:cxnSpLocks/>
          </p:cNvCxnSpPr>
          <p:nvPr/>
        </p:nvCxnSpPr>
        <p:spPr>
          <a:xfrm>
            <a:off x="6415087" y="2249057"/>
            <a:ext cx="979668" cy="346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35B1B03-A1F1-E5E4-CE70-BEE4C2B8C67C}"/>
              </a:ext>
            </a:extLst>
          </p:cNvPr>
          <p:cNvSpPr txBox="1"/>
          <p:nvPr/>
        </p:nvSpPr>
        <p:spPr>
          <a:xfrm>
            <a:off x="7350418" y="2086279"/>
            <a:ext cx="46789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Portion of the text segment for user programs</a:t>
            </a:r>
          </a:p>
          <a:p>
            <a:r>
              <a:rPr lang="en-US" dirty="0"/>
              <a:t>C</a:t>
            </a:r>
            <a:r>
              <a:rPr lang="en-CN" dirty="0"/>
              <a:t>ontains:</a:t>
            </a:r>
          </a:p>
          <a:p>
            <a:r>
              <a:rPr lang="en-US" dirty="0"/>
              <a:t>S</a:t>
            </a:r>
            <a:r>
              <a:rPr lang="en-CN" dirty="0"/>
              <a:t>tartup code and your main function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D022FDD-4696-F2EA-10E9-443573F27CE4}"/>
              </a:ext>
            </a:extLst>
          </p:cNvPr>
          <p:cNvSpPr/>
          <p:nvPr/>
        </p:nvSpPr>
        <p:spPr>
          <a:xfrm>
            <a:off x="107003" y="5057295"/>
            <a:ext cx="4835699" cy="16988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0F0A8E-E666-28A7-2728-76CE01DA77AA}"/>
              </a:ext>
            </a:extLst>
          </p:cNvPr>
          <p:cNvSpPr/>
          <p:nvPr/>
        </p:nvSpPr>
        <p:spPr>
          <a:xfrm>
            <a:off x="6057414" y="5392794"/>
            <a:ext cx="4294317" cy="922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526FBC-3CFE-6137-875D-B198ED55D1A3}"/>
              </a:ext>
            </a:extLst>
          </p:cNvPr>
          <p:cNvSpPr txBox="1"/>
          <p:nvPr/>
        </p:nvSpPr>
        <p:spPr>
          <a:xfrm>
            <a:off x="6096000" y="5637645"/>
            <a:ext cx="4294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Console-&gt; messages and program output</a:t>
            </a:r>
          </a:p>
        </p:txBody>
      </p:sp>
    </p:spTree>
    <p:extLst>
      <p:ext uri="{BB962C8B-B14F-4D97-AF65-F5344CB8AC3E}">
        <p14:creationId xmlns:p14="http://schemas.microsoft.com/office/powerpoint/2010/main" val="1516093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5DF7B-D0AE-EDEF-31AB-7A6242BC2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0D9A09-1571-EA7F-E6FD-DBBA1B39E7AD}"/>
              </a:ext>
            </a:extLst>
          </p:cNvPr>
          <p:cNvSpPr txBox="1"/>
          <p:nvPr/>
        </p:nvSpPr>
        <p:spPr>
          <a:xfrm>
            <a:off x="610006" y="68619"/>
            <a:ext cx="101790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MIPS Assembly Language Programming Using </a:t>
            </a:r>
            <a:r>
              <a:rPr lang="en-US" sz="3200" dirty="0" err="1"/>
              <a:t>QtSpim</a:t>
            </a:r>
            <a:endParaRPr lang="en-US" sz="3200" dirty="0"/>
          </a:p>
          <a:p>
            <a:endParaRPr lang="en-CN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99EA8A-467C-3145-E433-46A25DC14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2025623"/>
            <a:ext cx="9252854" cy="2405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FEEB89-FDC0-917B-24DB-8282BC6D9EDF}"/>
              </a:ext>
            </a:extLst>
          </p:cNvPr>
          <p:cNvSpPr txBox="1"/>
          <p:nvPr/>
        </p:nvSpPr>
        <p:spPr>
          <a:xfrm>
            <a:off x="794657" y="1230086"/>
            <a:ext cx="55162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b="1" dirty="0"/>
              <a:t>Ignore this: </a:t>
            </a:r>
            <a:r>
              <a:rPr lang="en-CN" dirty="0"/>
              <a:t>This is the </a:t>
            </a:r>
            <a:r>
              <a:rPr lang="en-CN" b="1" dirty="0"/>
              <a:t>startup code </a:t>
            </a:r>
            <a:r>
              <a:rPr lang="en-CN" dirty="0"/>
              <a:t>before the main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B25323-09BD-4A5E-5671-8D41ECF2F6B5}"/>
              </a:ext>
            </a:extLst>
          </p:cNvPr>
          <p:cNvSpPr txBox="1"/>
          <p:nvPr/>
        </p:nvSpPr>
        <p:spPr>
          <a:xfrm>
            <a:off x="391886" y="4506686"/>
            <a:ext cx="48735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Purpose:</a:t>
            </a:r>
          </a:p>
          <a:p>
            <a:endParaRPr lang="en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It mimics what a real operating system does: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n-CN" dirty="0"/>
              <a:t>oad argc, argv,envp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</a:t>
            </a:r>
            <a:r>
              <a:rPr lang="en-CN" dirty="0"/>
              <a:t>alls main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58B8F-D174-8A4E-0357-BF1304FFCA1F}"/>
              </a:ext>
            </a:extLst>
          </p:cNvPr>
          <p:cNvSpPr/>
          <p:nvPr/>
        </p:nvSpPr>
        <p:spPr>
          <a:xfrm>
            <a:off x="6031732" y="4049486"/>
            <a:ext cx="2859349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53F956-DC90-2C3F-636A-7DB89994030C}"/>
              </a:ext>
            </a:extLst>
          </p:cNvPr>
          <p:cNvCxnSpPr>
            <a:cxnSpLocks/>
          </p:cNvCxnSpPr>
          <p:nvPr/>
        </p:nvCxnSpPr>
        <p:spPr>
          <a:xfrm>
            <a:off x="7363839" y="4506686"/>
            <a:ext cx="272374" cy="4836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884D67E-6354-390E-29A2-E60699BB1D31}"/>
              </a:ext>
            </a:extLst>
          </p:cNvPr>
          <p:cNvSpPr txBox="1"/>
          <p:nvPr/>
        </p:nvSpPr>
        <p:spPr>
          <a:xfrm>
            <a:off x="7149830" y="4901120"/>
            <a:ext cx="3014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Shutdown after main returns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8BF8D1-2801-FF65-781C-156EBC78D973}"/>
              </a:ext>
            </a:extLst>
          </p:cNvPr>
          <p:cNvSpPr/>
          <p:nvPr/>
        </p:nvSpPr>
        <p:spPr>
          <a:xfrm>
            <a:off x="6031731" y="1797023"/>
            <a:ext cx="3229001" cy="217714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283771-97AD-7D4B-BF07-74C256C2563C}"/>
              </a:ext>
            </a:extLst>
          </p:cNvPr>
          <p:cNvCxnSpPr>
            <a:cxnSpLocks/>
          </p:cNvCxnSpPr>
          <p:nvPr/>
        </p:nvCxnSpPr>
        <p:spPr>
          <a:xfrm flipV="1">
            <a:off x="8725711" y="1414752"/>
            <a:ext cx="758757" cy="37599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D5A8AB8-557A-D1D4-868C-257A1112768B}"/>
              </a:ext>
            </a:extLst>
          </p:cNvPr>
          <p:cNvSpPr txBox="1"/>
          <p:nvPr/>
        </p:nvSpPr>
        <p:spPr>
          <a:xfrm>
            <a:off x="9429171" y="1210556"/>
            <a:ext cx="1469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Startup code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CF5B582-A812-6EDA-6065-947C1A05BD6A}"/>
              </a:ext>
            </a:extLst>
          </p:cNvPr>
          <p:cNvCxnSpPr>
            <a:cxnSpLocks/>
          </p:cNvCxnSpPr>
          <p:nvPr/>
        </p:nvCxnSpPr>
        <p:spPr>
          <a:xfrm flipV="1">
            <a:off x="107004" y="643796"/>
            <a:ext cx="11663464" cy="5659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75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ADDFD-C0BD-5058-ABE5-DCB533B44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A8BE7E-7E4C-C76D-ABF1-F86205BFFC34}"/>
              </a:ext>
            </a:extLst>
          </p:cNvPr>
          <p:cNvSpPr txBox="1"/>
          <p:nvPr/>
        </p:nvSpPr>
        <p:spPr>
          <a:xfrm>
            <a:off x="595375" y="152520"/>
            <a:ext cx="101790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MIPS Assembly Language Programming Using </a:t>
            </a:r>
            <a:r>
              <a:rPr lang="en-US" sz="3200" dirty="0" err="1"/>
              <a:t>QtSpim</a:t>
            </a:r>
            <a:endParaRPr lang="en-US" sz="3200" dirty="0"/>
          </a:p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3CA409-35A9-0A39-C2D5-3BF3A7C5AD09}"/>
              </a:ext>
            </a:extLst>
          </p:cNvPr>
          <p:cNvSpPr txBox="1"/>
          <p:nvPr/>
        </p:nvSpPr>
        <p:spPr>
          <a:xfrm>
            <a:off x="694608" y="826939"/>
            <a:ext cx="524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b="1" dirty="0"/>
              <a:t>Ignore this: </a:t>
            </a:r>
            <a:r>
              <a:rPr lang="en-CN" dirty="0"/>
              <a:t>This is the </a:t>
            </a:r>
            <a:r>
              <a:rPr lang="en-CN" b="1" dirty="0"/>
              <a:t>kernel code </a:t>
            </a:r>
            <a:r>
              <a:rPr lang="en-CN" dirty="0"/>
              <a:t>after the main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A22FB-9780-EB41-1590-E1CC4AD64791}"/>
              </a:ext>
            </a:extLst>
          </p:cNvPr>
          <p:cNvSpPr txBox="1"/>
          <p:nvPr/>
        </p:nvSpPr>
        <p:spPr>
          <a:xfrm>
            <a:off x="418063" y="4957858"/>
            <a:ext cx="48620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Purpose:</a:t>
            </a:r>
          </a:p>
          <a:p>
            <a:endParaRPr lang="en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Handles syscalls, exceptions, and interrupts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Inserted by </a:t>
            </a:r>
            <a:r>
              <a:rPr lang="en-US" dirty="0" err="1"/>
              <a:t>QtSpim</a:t>
            </a:r>
            <a:r>
              <a:rPr lang="en-US" dirty="0"/>
              <a:t>, not written by you</a:t>
            </a:r>
            <a:endParaRPr lang="en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Runs in kernel mode</a:t>
            </a:r>
            <a:endParaRPr lang="en-CN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3A11DC-6AA6-965B-E3B4-B4CD5484152D}"/>
              </a:ext>
            </a:extLst>
          </p:cNvPr>
          <p:cNvCxnSpPr>
            <a:cxnSpLocks/>
          </p:cNvCxnSpPr>
          <p:nvPr/>
        </p:nvCxnSpPr>
        <p:spPr>
          <a:xfrm flipV="1">
            <a:off x="107004" y="731696"/>
            <a:ext cx="11663464" cy="5659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1438D3E-F2A0-1429-9185-D5B7BBEF0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75" y="1333985"/>
            <a:ext cx="7857961" cy="34878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15BB47-DE82-534C-CDA5-1A87C6BD7024}"/>
              </a:ext>
            </a:extLst>
          </p:cNvPr>
          <p:cNvSpPr txBox="1"/>
          <p:nvPr/>
        </p:nvSpPr>
        <p:spPr>
          <a:xfrm>
            <a:off x="5280100" y="5025279"/>
            <a:ext cx="4255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Saves registers $k0,$k1,$at,$v0,$a0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</a:t>
            </a:r>
            <a:r>
              <a:rPr lang="en-CN" dirty="0"/>
              <a:t>heck for syscall, interrupt or bad pc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</a:t>
            </a:r>
            <a:r>
              <a:rPr lang="en-CN" dirty="0"/>
              <a:t>erform requested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ABCE11-6EA7-5266-84F2-962EF1165F72}"/>
              </a:ext>
            </a:extLst>
          </p:cNvPr>
          <p:cNvSpPr txBox="1"/>
          <p:nvPr/>
        </p:nvSpPr>
        <p:spPr>
          <a:xfrm>
            <a:off x="5280100" y="5948609"/>
            <a:ext cx="3551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</a:t>
            </a:r>
            <a:r>
              <a:rPr lang="en-CN" dirty="0"/>
              <a:t>rint string, print integer, exit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en-CN" dirty="0"/>
              <a:t>estores registers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en-CN" dirty="0"/>
              <a:t>eturns user code or terminate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761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32257-73FB-A0E8-E915-93C8C5D8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BC8F5-4451-2D22-295C-8FB85A45A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020" y="234695"/>
            <a:ext cx="11201400" cy="1221581"/>
          </a:xfrm>
        </p:spPr>
        <p:txBody>
          <a:bodyPr>
            <a:normAutofit fontScale="90000"/>
          </a:bodyPr>
          <a:lstStyle/>
          <a:p>
            <a:r>
              <a:rPr lang="en-US" dirty="0"/>
              <a:t>MIPS Assembly Language Programming Using </a:t>
            </a:r>
            <a:r>
              <a:rPr lang="en-US" dirty="0" err="1"/>
              <a:t>QtSpim</a:t>
            </a:r>
            <a:br>
              <a:rPr lang="en-US" dirty="0"/>
            </a:br>
            <a:endParaRPr lang="en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3A07BC-67AD-FDAE-5744-1E6B7A78E83B}"/>
              </a:ext>
            </a:extLst>
          </p:cNvPr>
          <p:cNvSpPr txBox="1"/>
          <p:nvPr/>
        </p:nvSpPr>
        <p:spPr>
          <a:xfrm>
            <a:off x="3437951" y="1430780"/>
            <a:ext cx="1355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CN" dirty="0"/>
              <a:t>yscall; exit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5394D3-B372-00F7-E960-65AD9E9FC125}"/>
              </a:ext>
            </a:extLst>
          </p:cNvPr>
          <p:cNvSpPr txBox="1"/>
          <p:nvPr/>
        </p:nvSpPr>
        <p:spPr>
          <a:xfrm>
            <a:off x="3437951" y="3064676"/>
            <a:ext cx="2767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0xa (hex) = 10 ; exit syscall</a:t>
            </a:r>
          </a:p>
        </p:txBody>
      </p:sp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7E00265-E62C-1181-A0E1-9B81AFDE6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8" y="1227137"/>
            <a:ext cx="2260600" cy="5461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C977EFC-6003-7731-E8CA-8CD000AA6A8F}"/>
              </a:ext>
            </a:extLst>
          </p:cNvPr>
          <p:cNvSpPr/>
          <p:nvPr/>
        </p:nvSpPr>
        <p:spPr>
          <a:xfrm>
            <a:off x="237906" y="1456276"/>
            <a:ext cx="3033931" cy="3183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D5AE32-757D-1593-D769-4E4F5319F4BC}"/>
              </a:ext>
            </a:extLst>
          </p:cNvPr>
          <p:cNvSpPr/>
          <p:nvPr/>
        </p:nvSpPr>
        <p:spPr>
          <a:xfrm>
            <a:off x="237907" y="3147323"/>
            <a:ext cx="3033930" cy="20403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22" name="Picture 21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71C333C7-4533-17A7-66DA-75C0EF026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137" y="1227137"/>
            <a:ext cx="1595437" cy="54737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1E7CA4B-4523-177F-DA9D-65487A24C7E7}"/>
              </a:ext>
            </a:extLst>
          </p:cNvPr>
          <p:cNvSpPr/>
          <p:nvPr/>
        </p:nvSpPr>
        <p:spPr>
          <a:xfrm>
            <a:off x="9027101" y="1430780"/>
            <a:ext cx="3033931" cy="3183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7D9650-2040-C983-2DAF-ADB119570044}"/>
              </a:ext>
            </a:extLst>
          </p:cNvPr>
          <p:cNvSpPr/>
          <p:nvPr/>
        </p:nvSpPr>
        <p:spPr>
          <a:xfrm>
            <a:off x="9027101" y="3326980"/>
            <a:ext cx="3033930" cy="20403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68B5D5-4A8A-41A9-4576-21E039885867}"/>
              </a:ext>
            </a:extLst>
          </p:cNvPr>
          <p:cNvSpPr/>
          <p:nvPr/>
        </p:nvSpPr>
        <p:spPr>
          <a:xfrm>
            <a:off x="237906" y="4343804"/>
            <a:ext cx="3033930" cy="20403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623591-634B-FBF8-828B-4446100A7096}"/>
              </a:ext>
            </a:extLst>
          </p:cNvPr>
          <p:cNvSpPr/>
          <p:nvPr/>
        </p:nvSpPr>
        <p:spPr>
          <a:xfrm>
            <a:off x="9055674" y="4783704"/>
            <a:ext cx="3033930" cy="20403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6E0906-4072-216C-DDF6-216BB376766E}"/>
              </a:ext>
            </a:extLst>
          </p:cNvPr>
          <p:cNvSpPr/>
          <p:nvPr/>
        </p:nvSpPr>
        <p:spPr>
          <a:xfrm>
            <a:off x="237905" y="1481772"/>
            <a:ext cx="3033931" cy="3183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46B1C1-68EA-0A74-1C71-0A9A5F51587B}"/>
              </a:ext>
            </a:extLst>
          </p:cNvPr>
          <p:cNvCxnSpPr>
            <a:cxnSpLocks/>
          </p:cNvCxnSpPr>
          <p:nvPr/>
        </p:nvCxnSpPr>
        <p:spPr>
          <a:xfrm>
            <a:off x="237905" y="903589"/>
            <a:ext cx="1154723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469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87FA5-17DB-39E4-9D29-BC91B9C0D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365125"/>
            <a:ext cx="11201400" cy="1221581"/>
          </a:xfrm>
        </p:spPr>
        <p:txBody>
          <a:bodyPr>
            <a:normAutofit fontScale="90000"/>
          </a:bodyPr>
          <a:lstStyle/>
          <a:p>
            <a:r>
              <a:rPr lang="en-US" dirty="0"/>
              <a:t>MIPS Assembly Language Programming Using </a:t>
            </a:r>
            <a:r>
              <a:rPr lang="en-US" dirty="0" err="1"/>
              <a:t>QtSpim</a:t>
            </a:r>
            <a:br>
              <a:rPr lang="en-US" dirty="0"/>
            </a:br>
            <a:endParaRPr lang="en-CN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1D1F0D-0192-052F-22C7-385098B03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388" y="1774032"/>
            <a:ext cx="9994900" cy="2540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016191-9C2F-A8C0-D005-0F16914985EE}"/>
              </a:ext>
            </a:extLst>
          </p:cNvPr>
          <p:cNvSpPr/>
          <p:nvPr/>
        </p:nvSpPr>
        <p:spPr>
          <a:xfrm>
            <a:off x="7158038" y="1586706"/>
            <a:ext cx="3443287" cy="3042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AE0ECC-7B85-A551-5BF8-D398DF38E86A}"/>
              </a:ext>
            </a:extLst>
          </p:cNvPr>
          <p:cNvSpPr/>
          <p:nvPr/>
        </p:nvSpPr>
        <p:spPr>
          <a:xfrm>
            <a:off x="2443164" y="1586706"/>
            <a:ext cx="4379912" cy="304244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099E1F-4493-BE5E-89EF-86178B945C71}"/>
              </a:ext>
            </a:extLst>
          </p:cNvPr>
          <p:cNvCxnSpPr>
            <a:cxnSpLocks/>
          </p:cNvCxnSpPr>
          <p:nvPr/>
        </p:nvCxnSpPr>
        <p:spPr>
          <a:xfrm>
            <a:off x="8324852" y="4629150"/>
            <a:ext cx="272374" cy="4836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D76D4F-DD7B-772B-FDC4-4BDB3C5C4271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633120" y="4629150"/>
            <a:ext cx="281780" cy="48360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BD5EFDC-1EA2-0FF2-AC33-B3D00A21FD6B}"/>
              </a:ext>
            </a:extLst>
          </p:cNvPr>
          <p:cNvSpPr txBox="1"/>
          <p:nvPr/>
        </p:nvSpPr>
        <p:spPr>
          <a:xfrm>
            <a:off x="8172451" y="5112753"/>
            <a:ext cx="1767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My Source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F179A-1F97-8EB9-6F78-E069C8ADE7A7}"/>
              </a:ext>
            </a:extLst>
          </p:cNvPr>
          <p:cNvSpPr txBox="1"/>
          <p:nvPr/>
        </p:nvSpPr>
        <p:spPr>
          <a:xfrm>
            <a:off x="3700463" y="5138084"/>
            <a:ext cx="3948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QtSpim executes machine ready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03F8E-48F1-B82A-237F-42CB31646DE2}"/>
              </a:ext>
            </a:extLst>
          </p:cNvPr>
          <p:cNvSpPr/>
          <p:nvPr/>
        </p:nvSpPr>
        <p:spPr>
          <a:xfrm>
            <a:off x="820615" y="1207477"/>
            <a:ext cx="2965940" cy="393060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D6C4AC-7B80-814F-C458-33D76FB057CC}"/>
              </a:ext>
            </a:extLst>
          </p:cNvPr>
          <p:cNvCxnSpPr>
            <a:cxnSpLocks/>
          </p:cNvCxnSpPr>
          <p:nvPr/>
        </p:nvCxnSpPr>
        <p:spPr>
          <a:xfrm flipH="1">
            <a:off x="3059423" y="5138084"/>
            <a:ext cx="26281" cy="47099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71A8640-EEB8-7135-4A8B-BD58CF680562}"/>
              </a:ext>
            </a:extLst>
          </p:cNvPr>
          <p:cNvSpPr txBox="1"/>
          <p:nvPr/>
        </p:nvSpPr>
        <p:spPr>
          <a:xfrm>
            <a:off x="2661138" y="5507416"/>
            <a:ext cx="5312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Disassembly view: shows the instruction in memory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6A3BDD-992E-FFEF-0456-CA27FF61F5BD}"/>
              </a:ext>
            </a:extLst>
          </p:cNvPr>
          <p:cNvCxnSpPr>
            <a:cxnSpLocks/>
          </p:cNvCxnSpPr>
          <p:nvPr/>
        </p:nvCxnSpPr>
        <p:spPr>
          <a:xfrm flipH="1">
            <a:off x="1055324" y="4161692"/>
            <a:ext cx="459412" cy="233118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D592125-2925-77C1-44B4-B23F21865814}"/>
              </a:ext>
            </a:extLst>
          </p:cNvPr>
          <p:cNvSpPr txBox="1"/>
          <p:nvPr/>
        </p:nvSpPr>
        <p:spPr>
          <a:xfrm>
            <a:off x="445477" y="6424246"/>
            <a:ext cx="6160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[00400044] =&gt; the address(PC) of that instruction in memory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44F252-61AB-3437-7153-55043A4C3B57}"/>
              </a:ext>
            </a:extLst>
          </p:cNvPr>
          <p:cNvCxnSpPr>
            <a:cxnSpLocks/>
          </p:cNvCxnSpPr>
          <p:nvPr/>
        </p:nvCxnSpPr>
        <p:spPr>
          <a:xfrm flipH="1">
            <a:off x="2377987" y="4161692"/>
            <a:ext cx="555738" cy="199292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8DBFCD4-2ABA-142A-133D-8C2DF57E6E0E}"/>
              </a:ext>
            </a:extLst>
          </p:cNvPr>
          <p:cNvSpPr txBox="1"/>
          <p:nvPr/>
        </p:nvSpPr>
        <p:spPr>
          <a:xfrm>
            <a:off x="2476407" y="6060671"/>
            <a:ext cx="5341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CN" dirty="0"/>
              <a:t>he 32 bit machine code (the bits the CPU executes)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87F6127-04CA-6371-F852-2C9C3EDE00D4}"/>
              </a:ext>
            </a:extLst>
          </p:cNvPr>
          <p:cNvCxnSpPr>
            <a:cxnSpLocks/>
          </p:cNvCxnSpPr>
          <p:nvPr/>
        </p:nvCxnSpPr>
        <p:spPr>
          <a:xfrm flipV="1">
            <a:off x="240456" y="975915"/>
            <a:ext cx="11663464" cy="5659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542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EDED-DBD8-BC31-70D6-E3147690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93786"/>
            <a:ext cx="11922368" cy="1137138"/>
          </a:xfrm>
        </p:spPr>
        <p:txBody>
          <a:bodyPr>
            <a:normAutofit fontScale="90000"/>
          </a:bodyPr>
          <a:lstStyle/>
          <a:p>
            <a:r>
              <a:rPr lang="en-US" dirty="0"/>
              <a:t>Reading </a:t>
            </a:r>
            <a:r>
              <a:rPr lang="en-US" dirty="0" err="1"/>
              <a:t>QtSpim’s</a:t>
            </a:r>
            <a:r>
              <a:rPr lang="en-US" dirty="0"/>
              <a:t>  Text Segment  (Address vs Instruction)</a:t>
            </a:r>
            <a:br>
              <a:rPr lang="en-US" b="1" dirty="0"/>
            </a:br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9F857-D18C-541D-5E3B-D475C75D424B}"/>
              </a:ext>
            </a:extLst>
          </p:cNvPr>
          <p:cNvSpPr txBox="1"/>
          <p:nvPr/>
        </p:nvSpPr>
        <p:spPr>
          <a:xfrm>
            <a:off x="293077" y="1113692"/>
            <a:ext cx="7775911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Address (PC)</a:t>
            </a:r>
            <a:r>
              <a:rPr lang="en-US" dirty="0"/>
              <a:t>: 0x00400024  → where the instruction lives in memory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Machine code</a:t>
            </a:r>
            <a:r>
              <a:rPr lang="en-US" dirty="0"/>
              <a:t>: 0x3c011001  → the 32-bit bits stored at that address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Decoded assembly</a:t>
            </a:r>
            <a:r>
              <a:rPr lang="en-US" dirty="0"/>
              <a:t>: </a:t>
            </a:r>
            <a:r>
              <a:rPr lang="en-US" dirty="0" err="1"/>
              <a:t>lui</a:t>
            </a:r>
            <a:r>
              <a:rPr lang="en-US" dirty="0"/>
              <a:t> $1, 4097 → human-readable form of the same bits</a:t>
            </a:r>
          </a:p>
          <a:p>
            <a:endParaRPr lang="en-CN" dirty="0"/>
          </a:p>
        </p:txBody>
      </p:sp>
      <p:pic>
        <p:nvPicPr>
          <p:cNvPr id="7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619BEA-C9D0-CEBB-647A-FAF5318D2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9609"/>
          <a:stretch>
            <a:fillRect/>
          </a:stretch>
        </p:blipFill>
        <p:spPr>
          <a:xfrm>
            <a:off x="6378804" y="3514963"/>
            <a:ext cx="5036543" cy="254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4062DF-F811-7C69-BCB5-267382637931}"/>
              </a:ext>
            </a:extLst>
          </p:cNvPr>
          <p:cNvSpPr txBox="1"/>
          <p:nvPr/>
        </p:nvSpPr>
        <p:spPr>
          <a:xfrm>
            <a:off x="378069" y="2549939"/>
            <a:ext cx="73797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1" dirty="0"/>
              <a:t>Key idea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CPU </a:t>
            </a:r>
            <a:r>
              <a:rPr lang="en-US" b="1" dirty="0"/>
              <a:t>fetches and executes machine code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QtSpim</a:t>
            </a:r>
            <a:r>
              <a:rPr lang="en-US" dirty="0"/>
              <a:t> </a:t>
            </a:r>
            <a:r>
              <a:rPr lang="en-US" b="1" dirty="0"/>
              <a:t>decodes</a:t>
            </a:r>
            <a:r>
              <a:rPr lang="en-US" dirty="0"/>
              <a:t> machine code into assembly so humans can read it.</a:t>
            </a:r>
          </a:p>
          <a:p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4AE2D6-F400-9965-0755-03E99D578BA8}"/>
              </a:ext>
            </a:extLst>
          </p:cNvPr>
          <p:cNvSpPr txBox="1"/>
          <p:nvPr/>
        </p:nvSpPr>
        <p:spPr>
          <a:xfrm>
            <a:off x="378069" y="3915508"/>
            <a:ext cx="800392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Why 0x3c011001 is 32 bits</a:t>
            </a:r>
            <a:endParaRPr lang="en-US" dirty="0"/>
          </a:p>
          <a:p>
            <a:pPr lvl="1"/>
            <a:r>
              <a:rPr lang="en-US" dirty="0"/>
              <a:t>8 hex digits × 4 bits per hex digit = </a:t>
            </a:r>
            <a:r>
              <a:rPr lang="en-US" b="1" dirty="0"/>
              <a:t>32 bits</a:t>
            </a:r>
            <a:endParaRPr lang="en-US" dirty="0"/>
          </a:p>
          <a:p>
            <a:pPr lvl="1"/>
            <a:r>
              <a:rPr lang="en-US" dirty="0"/>
              <a:t>Binary (grouped):</a:t>
            </a:r>
          </a:p>
          <a:p>
            <a:pPr lvl="1"/>
            <a:r>
              <a:rPr lang="en-US" dirty="0"/>
              <a:t>0011 1100 0000 0001 0001 0000 0000 0001</a:t>
            </a:r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Memory is byte-addressed</a:t>
            </a:r>
            <a:endParaRPr lang="en-US" dirty="0"/>
          </a:p>
          <a:p>
            <a:pPr lvl="1"/>
            <a:r>
              <a:rPr lang="en-US" dirty="0"/>
              <a:t>1 address = 1 byte</a:t>
            </a:r>
          </a:p>
          <a:p>
            <a:pPr lvl="1"/>
            <a:r>
              <a:rPr lang="en-US" dirty="0"/>
              <a:t>1 MIPS instruction = 4 bytes ⇒ instruction addresses usually increase by </a:t>
            </a:r>
            <a:r>
              <a:rPr lang="en-US" b="1" dirty="0"/>
              <a:t>4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…20, …24, …28, …2C</a:t>
            </a:r>
          </a:p>
          <a:p>
            <a:endParaRPr lang="en-C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8881B-3BB8-F4CF-E350-93F699A65388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152401" y="662355"/>
            <a:ext cx="11628294" cy="84087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482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85CDD3-F2F2-1C3A-F037-D9FED60A50BB}"/>
              </a:ext>
            </a:extLst>
          </p:cNvPr>
          <p:cNvSpPr txBox="1"/>
          <p:nvPr/>
        </p:nvSpPr>
        <p:spPr>
          <a:xfrm>
            <a:off x="610006" y="68619"/>
            <a:ext cx="101790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MIPS Assembly Language Programming Using </a:t>
            </a:r>
            <a:r>
              <a:rPr lang="en-US" sz="3200" dirty="0" err="1"/>
              <a:t>QtSpim</a:t>
            </a:r>
            <a:endParaRPr lang="en-US" sz="3200" dirty="0"/>
          </a:p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2027DB-A4B1-17DD-8E7C-AEFABAB12758}"/>
              </a:ext>
            </a:extLst>
          </p:cNvPr>
          <p:cNvSpPr txBox="1"/>
          <p:nvPr/>
        </p:nvSpPr>
        <p:spPr>
          <a:xfrm>
            <a:off x="249445" y="930393"/>
            <a:ext cx="113785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N" sz="2000" b="1" dirty="0"/>
              <a:t>Write a MIPS assembly program that loads two integers from memory, adds them, and stores the result back into memory</a:t>
            </a:r>
            <a:endParaRPr lang="en-CN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5B7A3C-D28C-FB6F-3BDF-2321AFF38156}"/>
              </a:ext>
            </a:extLst>
          </p:cNvPr>
          <p:cNvCxnSpPr>
            <a:cxnSpLocks/>
          </p:cNvCxnSpPr>
          <p:nvPr/>
        </p:nvCxnSpPr>
        <p:spPr>
          <a:xfrm flipV="1">
            <a:off x="107004" y="643796"/>
            <a:ext cx="11663464" cy="5659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AA4912D-C0F3-0979-535B-22AEBDD1C56D}"/>
              </a:ext>
            </a:extLst>
          </p:cNvPr>
          <p:cNvSpPr txBox="1"/>
          <p:nvPr/>
        </p:nvSpPr>
        <p:spPr>
          <a:xfrm>
            <a:off x="610006" y="1988067"/>
            <a:ext cx="416011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.data</a:t>
            </a:r>
          </a:p>
          <a:p>
            <a:r>
              <a:rPr lang="en-US" dirty="0"/>
              <a:t>num1: .word 28</a:t>
            </a:r>
          </a:p>
          <a:p>
            <a:r>
              <a:rPr lang="en-US" dirty="0"/>
              <a:t>num2: .word 228</a:t>
            </a:r>
          </a:p>
          <a:p>
            <a:r>
              <a:rPr lang="en-US" dirty="0"/>
              <a:t>sum:  .word 0</a:t>
            </a:r>
          </a:p>
          <a:p>
            <a:endParaRPr lang="en-US" dirty="0"/>
          </a:p>
          <a:p>
            <a:r>
              <a:rPr lang="en-US" dirty="0"/>
              <a:t>.text</a:t>
            </a:r>
          </a:p>
          <a:p>
            <a:r>
              <a:rPr lang="en-US" dirty="0"/>
              <a:t>.</a:t>
            </a:r>
            <a:r>
              <a:rPr lang="en-US" dirty="0" err="1"/>
              <a:t>globl</a:t>
            </a:r>
            <a:r>
              <a:rPr lang="en-US" dirty="0"/>
              <a:t> main</a:t>
            </a:r>
          </a:p>
          <a:p>
            <a:r>
              <a:rPr lang="en-US" dirty="0"/>
              <a:t>main:</a:t>
            </a:r>
          </a:p>
          <a:p>
            <a:r>
              <a:rPr lang="en-US" dirty="0"/>
              <a:t>    </a:t>
            </a:r>
            <a:r>
              <a:rPr lang="en-US" dirty="0" err="1"/>
              <a:t>lw</a:t>
            </a:r>
            <a:r>
              <a:rPr lang="en-US" dirty="0"/>
              <a:t>  $t0, num1      # load num1 into $t0</a:t>
            </a:r>
          </a:p>
          <a:p>
            <a:r>
              <a:rPr lang="en-US" dirty="0"/>
              <a:t>    </a:t>
            </a:r>
            <a:r>
              <a:rPr lang="en-US" dirty="0" err="1"/>
              <a:t>lw</a:t>
            </a:r>
            <a:r>
              <a:rPr lang="en-US" dirty="0"/>
              <a:t>  $t1, num2      # load num2 into $t1</a:t>
            </a:r>
          </a:p>
          <a:p>
            <a:r>
              <a:rPr lang="en-US" dirty="0"/>
              <a:t>    add $t2, $t1, $t0  # $t2 = num2 + num1</a:t>
            </a:r>
          </a:p>
          <a:p>
            <a:r>
              <a:rPr lang="en-US" dirty="0"/>
              <a:t>    </a:t>
            </a:r>
            <a:r>
              <a:rPr lang="en-US" dirty="0" err="1"/>
              <a:t>sw</a:t>
            </a:r>
            <a:r>
              <a:rPr lang="en-US" dirty="0"/>
              <a:t>  $t2, sum       # store result into sum</a:t>
            </a:r>
          </a:p>
          <a:p>
            <a:endParaRPr lang="en-US" dirty="0"/>
          </a:p>
          <a:p>
            <a:r>
              <a:rPr lang="en-US" dirty="0"/>
              <a:t>    li  $v0, 10        # exit</a:t>
            </a:r>
          </a:p>
          <a:p>
            <a:r>
              <a:rPr lang="en-US" dirty="0"/>
              <a:t>    </a:t>
            </a:r>
            <a:r>
              <a:rPr lang="en-US" dirty="0" err="1"/>
              <a:t>syscall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DD3DC8-9D11-9FB1-2CFC-166E28CE68BA}"/>
              </a:ext>
            </a:extLst>
          </p:cNvPr>
          <p:cNvSpPr txBox="1"/>
          <p:nvPr/>
        </p:nvSpPr>
        <p:spPr>
          <a:xfrm>
            <a:off x="7043738" y="1871663"/>
            <a:ext cx="357982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Initial data (in memory)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</a:t>
            </a:r>
            <a:r>
              <a:rPr lang="en-CN" dirty="0"/>
              <a:t>um1 = 28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N" dirty="0"/>
              <a:t>Num2 = 228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n-CN" dirty="0"/>
              <a:t>um =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N" dirty="0"/>
              <a:t>Execution (main)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n-CN" dirty="0"/>
              <a:t>oads num1 into $t0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n-CN" dirty="0"/>
              <a:t>oads num2 into $t1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N" dirty="0"/>
              <a:t>Adds them: $t2 = $t1 + $t0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n-CN" dirty="0"/>
              <a:t>tores the result into sum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N" dirty="0"/>
              <a:t>Exits the program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N" dirty="0"/>
              <a:t>Final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n-CN" dirty="0"/>
              <a:t>um = 256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2F12E5-85D4-D130-3FB9-422298A64CAE}"/>
              </a:ext>
            </a:extLst>
          </p:cNvPr>
          <p:cNvSpPr/>
          <p:nvPr/>
        </p:nvSpPr>
        <p:spPr>
          <a:xfrm>
            <a:off x="7043738" y="1868280"/>
            <a:ext cx="3579826" cy="35181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D2003-8A7A-3130-CDC5-CAB59D161D02}"/>
              </a:ext>
            </a:extLst>
          </p:cNvPr>
          <p:cNvSpPr txBox="1"/>
          <p:nvPr/>
        </p:nvSpPr>
        <p:spPr>
          <a:xfrm>
            <a:off x="5938735" y="5866051"/>
            <a:ext cx="6056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E0E0E"/>
                </a:solidFill>
                <a:effectLst/>
                <a:latin typeface=".AppleSystemUIFont"/>
              </a:rPr>
              <a:t>This program loads two values from memory, adds them using the ALU, stores the result back in memory, and exits.</a:t>
            </a:r>
          </a:p>
          <a:p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899CB-31D0-B22D-836E-04D46EB260CD}"/>
              </a:ext>
            </a:extLst>
          </p:cNvPr>
          <p:cNvSpPr txBox="1"/>
          <p:nvPr/>
        </p:nvSpPr>
        <p:spPr>
          <a:xfrm>
            <a:off x="2690062" y="1868280"/>
            <a:ext cx="3755131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Tells the assembler that what follows </a:t>
            </a:r>
            <a:r>
              <a:rPr lang="en-US" sz="1400" b="1" dirty="0"/>
              <a:t>are </a:t>
            </a:r>
          </a:p>
          <a:p>
            <a:r>
              <a:rPr lang="en-US" sz="1400" b="1" dirty="0"/>
              <a:t>variables/constants </a:t>
            </a:r>
            <a:r>
              <a:rPr lang="en-US" sz="1400" dirty="0"/>
              <a:t>stored in memory (RAM).</a:t>
            </a:r>
          </a:p>
          <a:p>
            <a:r>
              <a:rPr lang="en-US" sz="1400" dirty="0"/>
              <a:t>Example: </a:t>
            </a:r>
            <a:r>
              <a:rPr lang="en-US" sz="1400" dirty="0" err="1"/>
              <a:t>var_a</a:t>
            </a:r>
            <a:r>
              <a:rPr lang="en-US" sz="1400" dirty="0"/>
              <a:t>: .word 40 reserves 4 bytes and </a:t>
            </a:r>
          </a:p>
          <a:p>
            <a:r>
              <a:rPr lang="en-US" sz="1400" dirty="0"/>
              <a:t>initializes it to 40.</a:t>
            </a:r>
          </a:p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E8238-967A-9AFA-5475-DDEE064DA58B}"/>
              </a:ext>
            </a:extLst>
          </p:cNvPr>
          <p:cNvSpPr txBox="1"/>
          <p:nvPr/>
        </p:nvSpPr>
        <p:spPr>
          <a:xfrm>
            <a:off x="2690062" y="2961776"/>
            <a:ext cx="431996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Tells the assembler that what follows are instructions </a:t>
            </a:r>
          </a:p>
          <a:p>
            <a:r>
              <a:rPr lang="en-US" sz="1400" dirty="0"/>
              <a:t>(machine code) stored in the program’s code area.</a:t>
            </a:r>
          </a:p>
          <a:p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0560A-5F52-2347-5253-54472E81216F}"/>
              </a:ext>
            </a:extLst>
          </p:cNvPr>
          <p:cNvSpPr txBox="1"/>
          <p:nvPr/>
        </p:nvSpPr>
        <p:spPr>
          <a:xfrm>
            <a:off x="2690062" y="3565263"/>
            <a:ext cx="38752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Makes the label </a:t>
            </a:r>
            <a:r>
              <a:rPr lang="en-US" sz="1400" b="1" dirty="0"/>
              <a:t>main visible outside this file</a:t>
            </a:r>
            <a:r>
              <a:rPr lang="en-US" sz="1400" dirty="0"/>
              <a:t> </a:t>
            </a:r>
          </a:p>
          <a:p>
            <a:r>
              <a:rPr lang="en-US" sz="1400" dirty="0"/>
              <a:t>(exported symbol). </a:t>
            </a:r>
            <a:r>
              <a:rPr lang="en-US" sz="1400" dirty="0" err="1"/>
              <a:t>QtSpim</a:t>
            </a:r>
            <a:r>
              <a:rPr lang="en-US" sz="1400" dirty="0"/>
              <a:t> uses it to find where </a:t>
            </a:r>
          </a:p>
          <a:p>
            <a:r>
              <a:rPr lang="en-US" sz="1400" dirty="0"/>
              <a:t>your program starts.</a:t>
            </a:r>
          </a:p>
          <a:p>
            <a:endParaRPr lang="en-C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CAF518-301F-7E7B-4B2F-EE0546282F48}"/>
              </a:ext>
            </a:extLst>
          </p:cNvPr>
          <p:cNvCxnSpPr>
            <a:cxnSpLocks/>
          </p:cNvCxnSpPr>
          <p:nvPr/>
        </p:nvCxnSpPr>
        <p:spPr>
          <a:xfrm flipV="1">
            <a:off x="1423555" y="2058226"/>
            <a:ext cx="1266507" cy="846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8F7B7F3-9AE0-C1C6-DAB6-19E753C3BC8F}"/>
              </a:ext>
            </a:extLst>
          </p:cNvPr>
          <p:cNvCxnSpPr>
            <a:cxnSpLocks/>
          </p:cNvCxnSpPr>
          <p:nvPr/>
        </p:nvCxnSpPr>
        <p:spPr>
          <a:xfrm flipV="1">
            <a:off x="1184363" y="3240911"/>
            <a:ext cx="1505699" cy="2361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72B201D-A79E-17B4-9123-FEAC23696B8A}"/>
              </a:ext>
            </a:extLst>
          </p:cNvPr>
          <p:cNvCxnSpPr>
            <a:cxnSpLocks/>
          </p:cNvCxnSpPr>
          <p:nvPr/>
        </p:nvCxnSpPr>
        <p:spPr>
          <a:xfrm flipV="1">
            <a:off x="1817617" y="3756242"/>
            <a:ext cx="838734" cy="939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702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DB03-3848-1625-CF0B-0972860E1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72" y="146917"/>
            <a:ext cx="11547763" cy="653184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QtSpim</a:t>
            </a:r>
            <a:r>
              <a:rPr lang="en-US" b="1" dirty="0"/>
              <a:t> </a:t>
            </a:r>
            <a:r>
              <a:rPr lang="en-US" b="1" dirty="0" err="1"/>
              <a:t>Syscall</a:t>
            </a:r>
            <a:r>
              <a:rPr lang="en-US" b="1" dirty="0"/>
              <a:t> Codes </a:t>
            </a:r>
            <a:endParaRPr lang="en-C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68728B-80EE-7ABF-F7B6-0E085016C6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3903540"/>
              </p:ext>
            </p:extLst>
          </p:nvPr>
        </p:nvGraphicFramePr>
        <p:xfrm>
          <a:off x="813953" y="1471879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5270809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31332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Syscall</a:t>
                      </a:r>
                      <a:r>
                        <a:rPr lang="en-US" b="1" dirty="0"/>
                        <a:t> code ($v0$)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Service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461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print_int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386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print_string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816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read_int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292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read_string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921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4780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print_char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5328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read_char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173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exit2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4874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DFB799-B114-30C5-032E-827DBEF88A5D}"/>
              </a:ext>
            </a:extLst>
          </p:cNvPr>
          <p:cNvSpPr txBox="1"/>
          <p:nvPr/>
        </p:nvSpPr>
        <p:spPr>
          <a:xfrm>
            <a:off x="374073" y="5450045"/>
            <a:ext cx="37946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Printing on console: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move $a0, $t2 #value to print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 $v0, 1 #</a:t>
            </a:r>
            <a:r>
              <a:rPr lang="en-US" dirty="0" err="1"/>
              <a:t>print_int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syscall</a:t>
            </a:r>
            <a:endParaRPr lang="en-US" dirty="0"/>
          </a:p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5C747-2DA2-67E6-B098-65FCA588D177}"/>
              </a:ext>
            </a:extLst>
          </p:cNvPr>
          <p:cNvSpPr txBox="1"/>
          <p:nvPr/>
        </p:nvSpPr>
        <p:spPr>
          <a:xfrm>
            <a:off x="4821381" y="5569527"/>
            <a:ext cx="33759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 $a0, 10 #newline character '\n'</a:t>
            </a:r>
          </a:p>
          <a:p>
            <a:r>
              <a:rPr lang="en-US" dirty="0"/>
              <a:t>li $v0, 11 #</a:t>
            </a:r>
            <a:r>
              <a:rPr lang="en-US" dirty="0" err="1"/>
              <a:t>print_char</a:t>
            </a:r>
            <a:endParaRPr lang="en-US" dirty="0"/>
          </a:p>
          <a:p>
            <a:r>
              <a:rPr lang="en-US" dirty="0" err="1"/>
              <a:t>syscall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3C654D-5322-4FEF-F6BE-BF59DFD01630}"/>
              </a:ext>
            </a:extLst>
          </p:cNvPr>
          <p:cNvSpPr txBox="1"/>
          <p:nvPr/>
        </p:nvSpPr>
        <p:spPr>
          <a:xfrm>
            <a:off x="8551718" y="5481217"/>
            <a:ext cx="35152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</a:t>
            </a:r>
            <a:r>
              <a:rPr lang="en-US" dirty="0" err="1"/>
              <a:t>print_string</a:t>
            </a:r>
            <a:r>
              <a:rPr lang="en-US" dirty="0"/>
              <a:t> (</a:t>
            </a:r>
            <a:r>
              <a:rPr lang="en-US" dirty="0" err="1"/>
              <a:t>syscall</a:t>
            </a:r>
            <a:r>
              <a:rPr lang="en-US" dirty="0"/>
              <a:t> 4): print msg</a:t>
            </a:r>
          </a:p>
          <a:p>
            <a:r>
              <a:rPr lang="en-US" dirty="0"/>
              <a:t>la $a0, msg</a:t>
            </a:r>
          </a:p>
          <a:p>
            <a:r>
              <a:rPr lang="en-US" dirty="0"/>
              <a:t>li $v0, 4</a:t>
            </a:r>
          </a:p>
          <a:p>
            <a:r>
              <a:rPr lang="en-US" dirty="0" err="1"/>
              <a:t>syscall</a:t>
            </a:r>
            <a:endParaRPr lang="en-US" dirty="0"/>
          </a:p>
          <a:p>
            <a:endParaRPr lang="en-C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5FD225-F85D-B998-0B10-0FD471288E80}"/>
              </a:ext>
            </a:extLst>
          </p:cNvPr>
          <p:cNvCxnSpPr>
            <a:cxnSpLocks/>
          </p:cNvCxnSpPr>
          <p:nvPr/>
        </p:nvCxnSpPr>
        <p:spPr>
          <a:xfrm flipV="1">
            <a:off x="176645" y="746442"/>
            <a:ext cx="11604050" cy="53659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335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6A3EF-FB82-D1E6-83AF-B48672A6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35" y="116646"/>
            <a:ext cx="10515600" cy="837511"/>
          </a:xfrm>
        </p:spPr>
        <p:txBody>
          <a:bodyPr/>
          <a:lstStyle/>
          <a:p>
            <a:r>
              <a:rPr lang="en-CN" dirty="0"/>
              <a:t>Student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754E2-5BFF-45C0-8D23-F581A134B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270" y="1505837"/>
            <a:ext cx="10515600" cy="3276228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50000"/>
              </a:lnSpc>
            </a:pPr>
            <a:r>
              <a:rPr lang="en-CN" sz="2400" dirty="0"/>
              <a:t>Task1: Replace        </a:t>
            </a:r>
            <a:r>
              <a:rPr lang="en-US" sz="2400" dirty="0"/>
              <a:t>num1: .word 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		                  num2: .word 7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Load and run the program in </a:t>
            </a:r>
            <a:r>
              <a:rPr lang="en-US" sz="2400" dirty="0" err="1"/>
              <a:t>QtSpim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Step through instructions until </a:t>
            </a:r>
            <a:r>
              <a:rPr lang="en-US" sz="2400" dirty="0" err="1"/>
              <a:t>sw</a:t>
            </a:r>
            <a:r>
              <a:rPr lang="en-US" sz="2400" dirty="0"/>
              <a:t> executes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Verify result</a:t>
            </a:r>
          </a:p>
          <a:p>
            <a:pPr marL="0" indent="0">
              <a:buNone/>
            </a:pPr>
            <a:endParaRPr lang="en-C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95E936-38FF-479A-E6BE-05D6A09A671C}"/>
              </a:ext>
            </a:extLst>
          </p:cNvPr>
          <p:cNvCxnSpPr>
            <a:cxnSpLocks/>
          </p:cNvCxnSpPr>
          <p:nvPr/>
        </p:nvCxnSpPr>
        <p:spPr>
          <a:xfrm flipV="1">
            <a:off x="0" y="782944"/>
            <a:ext cx="11663464" cy="5659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0383A7E-1016-739C-1ED2-61476DA86CD4}"/>
              </a:ext>
            </a:extLst>
          </p:cNvPr>
          <p:cNvSpPr txBox="1"/>
          <p:nvPr/>
        </p:nvSpPr>
        <p:spPr>
          <a:xfrm>
            <a:off x="500270" y="5352163"/>
            <a:ext cx="58778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400" dirty="0"/>
              <a:t>Task 2: Add </a:t>
            </a:r>
            <a:r>
              <a:rPr lang="en-US" sz="2400" dirty="0"/>
              <a:t>0xFFFFFFFF and 0x80000000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85070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4F9BC-A96D-E430-0867-4F79AC94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F91A9E-7C48-4005-018C-AF3DBE5041CC}"/>
              </a:ext>
            </a:extLst>
          </p:cNvPr>
          <p:cNvSpPr txBox="1"/>
          <p:nvPr/>
        </p:nvSpPr>
        <p:spPr>
          <a:xfrm>
            <a:off x="610006" y="68619"/>
            <a:ext cx="101790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Hexadecimal Representation</a:t>
            </a:r>
          </a:p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52FA22-E657-FE51-1429-29704868D6DD}"/>
              </a:ext>
            </a:extLst>
          </p:cNvPr>
          <p:cNvSpPr txBox="1"/>
          <p:nvPr/>
        </p:nvSpPr>
        <p:spPr>
          <a:xfrm>
            <a:off x="249445" y="930393"/>
            <a:ext cx="65838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num1: .word 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num2: .word 7</a:t>
            </a:r>
            <a:endParaRPr lang="en-CN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4F0E37-F8F0-C6BD-0E2C-7A6E91068654}"/>
              </a:ext>
            </a:extLst>
          </p:cNvPr>
          <p:cNvCxnSpPr>
            <a:cxnSpLocks/>
          </p:cNvCxnSpPr>
          <p:nvPr/>
        </p:nvCxnSpPr>
        <p:spPr>
          <a:xfrm flipV="1">
            <a:off x="107004" y="637011"/>
            <a:ext cx="5988996" cy="6338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4ED4338-F473-77A7-156C-3F739EB05726}"/>
              </a:ext>
            </a:extLst>
          </p:cNvPr>
          <p:cNvSpPr/>
          <p:nvPr/>
        </p:nvSpPr>
        <p:spPr>
          <a:xfrm>
            <a:off x="374900" y="2366134"/>
            <a:ext cx="1665080" cy="6034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1BE78B-E4B4-3110-5003-D511B45763F9}"/>
              </a:ext>
            </a:extLst>
          </p:cNvPr>
          <p:cNvSpPr txBox="1"/>
          <p:nvPr/>
        </p:nvSpPr>
        <p:spPr>
          <a:xfrm>
            <a:off x="500355" y="2483197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b="1" dirty="0"/>
              <a:t>Sum = 12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E42AC0-5395-C77D-F358-C79EB2127352}"/>
              </a:ext>
            </a:extLst>
          </p:cNvPr>
          <p:cNvGraphicFramePr>
            <a:graphicFrameLocks noGrp="1"/>
          </p:cNvGraphicFramePr>
          <p:nvPr/>
        </p:nvGraphicFramePr>
        <p:xfrm>
          <a:off x="249445" y="3759428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598707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5662002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577785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62492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N" dirty="0"/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Hex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526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N" dirty="0"/>
                        <a:t>$t0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0x1c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num1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848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N" dirty="0"/>
                        <a:t>$t1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0xe4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num2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97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N" dirty="0"/>
                        <a:t>$t2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0x100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994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N" dirty="0"/>
                        <a:t>$t0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0x5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num1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519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N" dirty="0"/>
                        <a:t>$t1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0x7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num2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53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N" dirty="0"/>
                        <a:t>$t2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0xc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0545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5783F7-9618-91F1-0E10-DA5C9FFAC36D}"/>
              </a:ext>
            </a:extLst>
          </p:cNvPr>
          <p:cNvGraphicFramePr>
            <a:graphicFrameLocks noGrp="1"/>
          </p:cNvGraphicFramePr>
          <p:nvPr/>
        </p:nvGraphicFramePr>
        <p:xfrm>
          <a:off x="8880447" y="320040"/>
          <a:ext cx="3062108" cy="6217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0187">
                  <a:extLst>
                    <a:ext uri="{9D8B030D-6E8A-4147-A177-3AD203B41FA5}">
                      <a16:colId xmlns:a16="http://schemas.microsoft.com/office/drawing/2014/main" val="2124180477"/>
                    </a:ext>
                  </a:extLst>
                </a:gridCol>
                <a:gridCol w="1251218">
                  <a:extLst>
                    <a:ext uri="{9D8B030D-6E8A-4147-A177-3AD203B41FA5}">
                      <a16:colId xmlns:a16="http://schemas.microsoft.com/office/drawing/2014/main" val="2144030961"/>
                    </a:ext>
                  </a:extLst>
                </a:gridCol>
                <a:gridCol w="1020703">
                  <a:extLst>
                    <a:ext uri="{9D8B030D-6E8A-4147-A177-3AD203B41FA5}">
                      <a16:colId xmlns:a16="http://schemas.microsoft.com/office/drawing/2014/main" val="436205977"/>
                    </a:ext>
                  </a:extLst>
                </a:gridCol>
              </a:tblGrid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Hexa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229887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204615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442144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521054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047200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365557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460819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306429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369779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584100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632046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509158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855554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669646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171256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935104"/>
                  </a:ext>
                </a:extLst>
              </a:tr>
              <a:tr h="268116">
                <a:tc>
                  <a:txBody>
                    <a:bodyPr/>
                    <a:lstStyle/>
                    <a:p>
                      <a:r>
                        <a:rPr lang="en-CN" sz="1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6568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FD89959-2CE8-F195-A531-607ABEF53B63}"/>
              </a:ext>
            </a:extLst>
          </p:cNvPr>
          <p:cNvSpPr txBox="1"/>
          <p:nvPr/>
        </p:nvSpPr>
        <p:spPr>
          <a:xfrm>
            <a:off x="343709" y="1783097"/>
            <a:ext cx="680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Verify the result by observing the hexadecimal values in the register</a:t>
            </a:r>
          </a:p>
        </p:txBody>
      </p:sp>
    </p:spTree>
    <p:extLst>
      <p:ext uri="{BB962C8B-B14F-4D97-AF65-F5344CB8AC3E}">
        <p14:creationId xmlns:p14="http://schemas.microsoft.com/office/powerpoint/2010/main" val="3859325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8FDE5-DE9F-98A1-5C45-06A75944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DE9BCE-A07A-EA60-0F92-D0696B3C24D7}"/>
              </a:ext>
            </a:extLst>
          </p:cNvPr>
          <p:cNvSpPr txBox="1"/>
          <p:nvPr/>
        </p:nvSpPr>
        <p:spPr>
          <a:xfrm>
            <a:off x="610006" y="68619"/>
            <a:ext cx="101790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How to Identify Registers, Memory &amp; Instructions</a:t>
            </a:r>
          </a:p>
          <a:p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E4957-68FB-7215-579A-44F63A1D596B}"/>
              </a:ext>
            </a:extLst>
          </p:cNvPr>
          <p:cNvSpPr txBox="1"/>
          <p:nvPr/>
        </p:nvSpPr>
        <p:spPr>
          <a:xfrm>
            <a:off x="362998" y="1157026"/>
            <a:ext cx="31293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N" dirty="0"/>
              <a:t>Define in the .data section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.data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num1: .word 28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num2: .word 228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sum:  .word 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N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9B78FE2-6B00-D086-FFE3-D6DE3A034F1A}"/>
              </a:ext>
            </a:extLst>
          </p:cNvPr>
          <p:cNvCxnSpPr>
            <a:cxnSpLocks/>
          </p:cNvCxnSpPr>
          <p:nvPr/>
        </p:nvCxnSpPr>
        <p:spPr>
          <a:xfrm flipV="1">
            <a:off x="107004" y="643796"/>
            <a:ext cx="11663464" cy="5659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F570C1F-5706-94DA-75FC-8BBF65BC006C}"/>
              </a:ext>
            </a:extLst>
          </p:cNvPr>
          <p:cNvSpPr txBox="1"/>
          <p:nvPr/>
        </p:nvSpPr>
        <p:spPr>
          <a:xfrm>
            <a:off x="320286" y="3429000"/>
            <a:ext cx="50668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Shown in int Regs ($t0, $t1, $t2, etc)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lw</a:t>
            </a:r>
            <a:r>
              <a:rPr lang="en-US" dirty="0"/>
              <a:t>  $t0, num1      # load memory -&gt; register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lw</a:t>
            </a:r>
            <a:r>
              <a:rPr lang="en-US" dirty="0"/>
              <a:t>  $t1, num2</a:t>
            </a:r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E5934-F562-3344-8AAE-C20C2AE0839B}"/>
              </a:ext>
            </a:extLst>
          </p:cNvPr>
          <p:cNvSpPr txBox="1"/>
          <p:nvPr/>
        </p:nvSpPr>
        <p:spPr>
          <a:xfrm>
            <a:off x="431888" y="5377808"/>
            <a:ext cx="4092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Shown in the Text/User Text Segment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$t2, $t1, $t0</a:t>
            </a:r>
            <a:endParaRPr lang="en-CN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960F32F-1344-00C7-C526-48F0FA050955}"/>
              </a:ext>
            </a:extLst>
          </p:cNvPr>
          <p:cNvSpPr/>
          <p:nvPr/>
        </p:nvSpPr>
        <p:spPr>
          <a:xfrm>
            <a:off x="3617419" y="1295465"/>
            <a:ext cx="838494" cy="110168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44440966-2BC0-231C-A64B-AFB18FA4FFD7}"/>
              </a:ext>
            </a:extLst>
          </p:cNvPr>
          <p:cNvSpPr/>
          <p:nvPr/>
        </p:nvSpPr>
        <p:spPr>
          <a:xfrm>
            <a:off x="5257506" y="3429001"/>
            <a:ext cx="838494" cy="92333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9723A9B-1627-A649-3167-EEAC6732B49E}"/>
              </a:ext>
            </a:extLst>
          </p:cNvPr>
          <p:cNvSpPr/>
          <p:nvPr/>
        </p:nvSpPr>
        <p:spPr>
          <a:xfrm>
            <a:off x="4575760" y="5473295"/>
            <a:ext cx="838494" cy="64633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A81E0A-DD88-5909-63FB-49B67873A74E}"/>
              </a:ext>
            </a:extLst>
          </p:cNvPr>
          <p:cNvSpPr txBox="1"/>
          <p:nvPr/>
        </p:nvSpPr>
        <p:spPr>
          <a:xfrm>
            <a:off x="4455913" y="1657506"/>
            <a:ext cx="5936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Memory</a:t>
            </a:r>
            <a:r>
              <a:rPr lang="en-CN" dirty="0"/>
              <a:t> -&gt; these values live in the memory not in the CPU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5D8B78-D7BD-BDB6-FB98-849B4A30A00E}"/>
              </a:ext>
            </a:extLst>
          </p:cNvPr>
          <p:cNvSpPr txBox="1"/>
          <p:nvPr/>
        </p:nvSpPr>
        <p:spPr>
          <a:xfrm>
            <a:off x="6096000" y="3705999"/>
            <a:ext cx="5480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Registers -&gt; temporarily holds values for computation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206780-0F71-F6A6-73E9-A88900B46391}"/>
              </a:ext>
            </a:extLst>
          </p:cNvPr>
          <p:cNvSpPr txBox="1"/>
          <p:nvPr/>
        </p:nvSpPr>
        <p:spPr>
          <a:xfrm>
            <a:off x="5465211" y="5611794"/>
            <a:ext cx="5670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Instructions</a:t>
            </a:r>
            <a:r>
              <a:rPr lang="en-CN" dirty="0"/>
              <a:t> -&gt; tells the CPU what operation to perform</a:t>
            </a:r>
          </a:p>
        </p:txBody>
      </p:sp>
    </p:spTree>
    <p:extLst>
      <p:ext uri="{BB962C8B-B14F-4D97-AF65-F5344CB8AC3E}">
        <p14:creationId xmlns:p14="http://schemas.microsoft.com/office/powerpoint/2010/main" val="1773903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74A5E-8134-40AC-C346-421082D5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C9A908-5597-DB2C-522A-3DB688400C2D}"/>
              </a:ext>
            </a:extLst>
          </p:cNvPr>
          <p:cNvSpPr txBox="1"/>
          <p:nvPr/>
        </p:nvSpPr>
        <p:spPr>
          <a:xfrm>
            <a:off x="610006" y="68619"/>
            <a:ext cx="1017905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How Data Moves (Step-by-Step)</a:t>
            </a:r>
          </a:p>
          <a:p>
            <a:endParaRPr lang="en-CN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5A1FA5-E747-6BB4-D016-BEB27862EC51}"/>
              </a:ext>
            </a:extLst>
          </p:cNvPr>
          <p:cNvCxnSpPr>
            <a:cxnSpLocks/>
          </p:cNvCxnSpPr>
          <p:nvPr/>
        </p:nvCxnSpPr>
        <p:spPr>
          <a:xfrm flipV="1">
            <a:off x="107004" y="643796"/>
            <a:ext cx="11663464" cy="56595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CB8CF33-1385-FDFC-3F74-C39B3C8CE60A}"/>
              </a:ext>
            </a:extLst>
          </p:cNvPr>
          <p:cNvSpPr txBox="1"/>
          <p:nvPr/>
        </p:nvSpPr>
        <p:spPr>
          <a:xfrm>
            <a:off x="228031" y="978356"/>
            <a:ext cx="9881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Data is loaded from memory into registers, processed by the ALU, and stored back into memory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0C9A3A-96C1-087F-C9EC-DE9FCBF914CF}"/>
              </a:ext>
            </a:extLst>
          </p:cNvPr>
          <p:cNvSpPr/>
          <p:nvPr/>
        </p:nvSpPr>
        <p:spPr>
          <a:xfrm>
            <a:off x="1854660" y="1883884"/>
            <a:ext cx="3624550" cy="9144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550AE8-4654-4565-BEDE-F4B62A6042AF}"/>
              </a:ext>
            </a:extLst>
          </p:cNvPr>
          <p:cNvSpPr txBox="1"/>
          <p:nvPr/>
        </p:nvSpPr>
        <p:spPr>
          <a:xfrm>
            <a:off x="1667374" y="2017918"/>
            <a:ext cx="36245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lw</a:t>
            </a:r>
            <a:r>
              <a:rPr lang="en-US" dirty="0"/>
              <a:t>  $t0, num1      # $t0 =28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lw</a:t>
            </a:r>
            <a:r>
              <a:rPr lang="en-US" dirty="0"/>
              <a:t>  $t1, num2.     #$t1 = 228</a:t>
            </a:r>
            <a:endParaRPr lang="en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1583EC-E491-C57D-AFE2-4EAA13AEE8FE}"/>
              </a:ext>
            </a:extLst>
          </p:cNvPr>
          <p:cNvSpPr txBox="1"/>
          <p:nvPr/>
        </p:nvSpPr>
        <p:spPr>
          <a:xfrm>
            <a:off x="1667374" y="1498137"/>
            <a:ext cx="2038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 -&gt; register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4C9FBC-D0DA-D6AB-5B6D-B518A68F7D1A}"/>
              </a:ext>
            </a:extLst>
          </p:cNvPr>
          <p:cNvSpPr/>
          <p:nvPr/>
        </p:nvSpPr>
        <p:spPr>
          <a:xfrm>
            <a:off x="5208103" y="3612995"/>
            <a:ext cx="3041905" cy="9144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37E4A2-BB02-070C-91C8-CB784DB11239}"/>
              </a:ext>
            </a:extLst>
          </p:cNvPr>
          <p:cNvSpPr txBox="1"/>
          <p:nvPr/>
        </p:nvSpPr>
        <p:spPr>
          <a:xfrm>
            <a:off x="5458739" y="3815476"/>
            <a:ext cx="20938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$t2, $t1, $t0</a:t>
            </a:r>
            <a:endParaRPr lang="en-CN" dirty="0"/>
          </a:p>
          <a:p>
            <a:endParaRPr lang="en-C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A93571-7F45-87E9-1A10-48A70F12A898}"/>
              </a:ext>
            </a:extLst>
          </p:cNvPr>
          <p:cNvSpPr txBox="1"/>
          <p:nvPr/>
        </p:nvSpPr>
        <p:spPr>
          <a:xfrm>
            <a:off x="5464407" y="3236288"/>
            <a:ext cx="1803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Registers -&gt; ALU</a:t>
            </a:r>
          </a:p>
        </p:txBody>
      </p: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760CD51C-E4A0-7D7C-4693-6F1153977F9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93603" y="3074935"/>
            <a:ext cx="1176401" cy="652600"/>
          </a:xfrm>
          <a:prstGeom prst="curvedConnector3">
            <a:avLst>
              <a:gd name="adj1" fmla="val 10069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7FCE483-59E3-6A5A-D9C8-63AAFC550599}"/>
              </a:ext>
            </a:extLst>
          </p:cNvPr>
          <p:cNvSpPr/>
          <p:nvPr/>
        </p:nvSpPr>
        <p:spPr>
          <a:xfrm>
            <a:off x="8210162" y="4965244"/>
            <a:ext cx="3734718" cy="9144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4F3B30-472F-BB7C-DDB4-AFCD676CE673}"/>
              </a:ext>
            </a:extLst>
          </p:cNvPr>
          <p:cNvSpPr txBox="1"/>
          <p:nvPr/>
        </p:nvSpPr>
        <p:spPr>
          <a:xfrm>
            <a:off x="9395705" y="5237778"/>
            <a:ext cx="1400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CN" dirty="0"/>
              <a:t>w $t2, sum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F06E81-EEC7-1102-9C2D-9F39A8CDB5EE}"/>
              </a:ext>
            </a:extLst>
          </p:cNvPr>
          <p:cNvSpPr txBox="1"/>
          <p:nvPr/>
        </p:nvSpPr>
        <p:spPr>
          <a:xfrm>
            <a:off x="9250523" y="4542145"/>
            <a:ext cx="2214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Registers -&gt; Memory</a:t>
            </a:r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476382CB-AD1A-AA52-121A-7E2D8848788D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6150917" y="4542145"/>
            <a:ext cx="2059245" cy="880299"/>
          </a:xfrm>
          <a:prstGeom prst="curvedConnector3">
            <a:avLst>
              <a:gd name="adj1" fmla="val 162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451971E-BFC1-8A15-8401-7E9989EC7692}"/>
              </a:ext>
            </a:extLst>
          </p:cNvPr>
          <p:cNvSpPr txBox="1"/>
          <p:nvPr/>
        </p:nvSpPr>
        <p:spPr>
          <a:xfrm>
            <a:off x="2620641" y="4542145"/>
            <a:ext cx="38474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ALU adds register values and stores </a:t>
            </a:r>
          </a:p>
          <a:p>
            <a:r>
              <a:rPr lang="en-CN" dirty="0"/>
              <a:t>results in another register ($t2 = 256)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B5091B-9D61-DCE3-8C56-D8E8ADD0FB07}"/>
              </a:ext>
            </a:extLst>
          </p:cNvPr>
          <p:cNvSpPr txBox="1"/>
          <p:nvPr/>
        </p:nvSpPr>
        <p:spPr>
          <a:xfrm>
            <a:off x="8631475" y="6029538"/>
            <a:ext cx="345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CN" dirty="0"/>
              <a:t>esult is written back to memory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471041-2A73-0903-BD81-30E76975C6DF}"/>
              </a:ext>
            </a:extLst>
          </p:cNvPr>
          <p:cNvSpPr txBox="1"/>
          <p:nvPr/>
        </p:nvSpPr>
        <p:spPr>
          <a:xfrm>
            <a:off x="167085" y="2882474"/>
            <a:ext cx="4330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Data is loaded from memory into registers</a:t>
            </a:r>
          </a:p>
          <a:p>
            <a:r>
              <a:rPr lang="en-CN" dirty="0"/>
              <a:t>CPU can’t compute directly on memory</a:t>
            </a:r>
          </a:p>
        </p:txBody>
      </p:sp>
    </p:spTree>
    <p:extLst>
      <p:ext uri="{BB962C8B-B14F-4D97-AF65-F5344CB8AC3E}">
        <p14:creationId xmlns:p14="http://schemas.microsoft.com/office/powerpoint/2010/main" val="2441934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9F400-364F-0C2D-7CB1-987F4535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14" y="-86212"/>
            <a:ext cx="10515600" cy="971305"/>
          </a:xfrm>
        </p:spPr>
        <p:txBody>
          <a:bodyPr/>
          <a:lstStyle/>
          <a:p>
            <a:r>
              <a:rPr lang="en-US" dirty="0"/>
              <a:t>PC Path (Fetch → Next Instruction)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67BC7-11C4-5618-B5E7-A8F0EC8D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461" y="1021620"/>
            <a:ext cx="11547231" cy="583051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PC (Program Counter): </a:t>
            </a:r>
            <a:r>
              <a:rPr lang="en-US" dirty="0"/>
              <a:t>Holds the </a:t>
            </a:r>
            <a:r>
              <a:rPr lang="en-US" b="1" dirty="0"/>
              <a:t>address of the next instruction to fetch</a:t>
            </a:r>
            <a:r>
              <a:rPr lang="en-US" dirty="0"/>
              <a:t>.</a:t>
            </a:r>
          </a:p>
          <a:p>
            <a:r>
              <a:rPr lang="en-US" b="1" dirty="0"/>
              <a:t>Normal flow (no branch/jump)</a:t>
            </a:r>
            <a:endParaRPr lang="en-US" dirty="0"/>
          </a:p>
          <a:p>
            <a:pPr lvl="1"/>
            <a:r>
              <a:rPr lang="en-US" b="1" dirty="0"/>
              <a:t>Fetch</a:t>
            </a:r>
            <a:r>
              <a:rPr lang="en-US" dirty="0"/>
              <a:t> instruction at address in PC (e.g., PC = 0x00400020)</a:t>
            </a:r>
          </a:p>
          <a:p>
            <a:pPr lvl="1"/>
            <a:r>
              <a:rPr lang="en-US" b="1" dirty="0"/>
              <a:t>Execute</a:t>
            </a:r>
            <a:r>
              <a:rPr lang="en-US" dirty="0"/>
              <a:t> that instruction</a:t>
            </a:r>
          </a:p>
          <a:p>
            <a:pPr lvl="1"/>
            <a:r>
              <a:rPr lang="en-US" b="1" dirty="0"/>
              <a:t>Update PC</a:t>
            </a:r>
            <a:r>
              <a:rPr lang="en-US" dirty="0"/>
              <a:t>: PC = PC + 4</a:t>
            </a:r>
          </a:p>
          <a:p>
            <a:pPr lvl="2"/>
            <a:r>
              <a:rPr lang="en-US" dirty="0"/>
              <a:t>Next instruction address: 0x00400024</a:t>
            </a:r>
          </a:p>
          <a:p>
            <a:r>
              <a:rPr lang="en-US" b="1" dirty="0"/>
              <a:t>If there is a branch/jump</a:t>
            </a:r>
            <a:endParaRPr lang="en-US" dirty="0"/>
          </a:p>
          <a:p>
            <a:pPr lvl="1"/>
            <a:r>
              <a:rPr lang="en-US" sz="2600" dirty="0"/>
              <a:t>Instead of PC + 4, PC becomes the </a:t>
            </a:r>
            <a:r>
              <a:rPr lang="en-US" sz="2600" b="1" dirty="0"/>
              <a:t>target address</a:t>
            </a:r>
            <a:r>
              <a:rPr lang="en-US" sz="2600" dirty="0"/>
              <a:t>:</a:t>
            </a:r>
          </a:p>
          <a:p>
            <a:pPr lvl="2"/>
            <a:r>
              <a:rPr lang="en-US" sz="2400" dirty="0" err="1"/>
              <a:t>beq</a:t>
            </a:r>
            <a:r>
              <a:rPr lang="en-US" sz="2400" dirty="0"/>
              <a:t>/</a:t>
            </a:r>
            <a:r>
              <a:rPr lang="en-US" sz="2400" dirty="0" err="1"/>
              <a:t>bne</a:t>
            </a:r>
            <a:r>
              <a:rPr lang="en-US" sz="2400" dirty="0"/>
              <a:t> (taken) → PC ← </a:t>
            </a:r>
            <a:r>
              <a:rPr lang="en-US" sz="2400" dirty="0" err="1"/>
              <a:t>branch_target</a:t>
            </a:r>
            <a:endParaRPr lang="en-US" sz="2400" dirty="0"/>
          </a:p>
          <a:p>
            <a:pPr lvl="2"/>
            <a:r>
              <a:rPr lang="en-US" sz="2400" dirty="0"/>
              <a:t>j/</a:t>
            </a:r>
            <a:r>
              <a:rPr lang="en-US" sz="2400" dirty="0" err="1"/>
              <a:t>jal</a:t>
            </a:r>
            <a:r>
              <a:rPr lang="en-US" sz="2400" dirty="0"/>
              <a:t> → PC ← </a:t>
            </a:r>
            <a:r>
              <a:rPr lang="en-US" sz="2400" dirty="0" err="1"/>
              <a:t>jump_target</a:t>
            </a:r>
            <a:endParaRPr lang="en-US" sz="2400" dirty="0"/>
          </a:p>
          <a:p>
            <a:pPr marL="914400" lvl="2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PC is like your “current page pointer”: usually goes to the next page (+4), unless you “jump” to a different page (branch/jump).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112291-AF6E-2C62-1FFB-B588C571FA20}"/>
              </a:ext>
            </a:extLst>
          </p:cNvPr>
          <p:cNvCxnSpPr>
            <a:cxnSpLocks/>
          </p:cNvCxnSpPr>
          <p:nvPr/>
        </p:nvCxnSpPr>
        <p:spPr>
          <a:xfrm>
            <a:off x="234461" y="773723"/>
            <a:ext cx="1154723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3F3A9E6E-336D-50C1-2C20-D65991EC9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096" y="3037376"/>
            <a:ext cx="3106896" cy="80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57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6EDF-20D7-AA4A-C778-67AA572F8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53" y="93785"/>
            <a:ext cx="11852032" cy="1137138"/>
          </a:xfrm>
        </p:spPr>
        <p:txBody>
          <a:bodyPr>
            <a:normAutofit fontScale="90000"/>
          </a:bodyPr>
          <a:lstStyle/>
          <a:p>
            <a:pPr algn="ctr"/>
            <a:r>
              <a:rPr lang="en-CN" dirty="0"/>
              <a:t>Int Regs: CPU state (</a:t>
            </a:r>
            <a:r>
              <a:rPr lang="en-US" dirty="0"/>
              <a:t>special registers + the 32 general-purpose registers</a:t>
            </a:r>
            <a:r>
              <a:rPr lang="en-C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88704-09F0-67BC-8E41-F12864853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53" y="1230923"/>
            <a:ext cx="11852032" cy="539261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Special registers (top block)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PC</a:t>
            </a:r>
            <a:r>
              <a:rPr lang="en-US" dirty="0"/>
              <a:t>: Program Counter: address of the next instruction to fetch/execute (0x00400044 here).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EPC</a:t>
            </a:r>
            <a:r>
              <a:rPr lang="en-US" dirty="0"/>
              <a:t>: Exception Program Counter where the CPU was when an exception occurred (0 if none yet).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Cause / </a:t>
            </a:r>
            <a:r>
              <a:rPr lang="en-US" b="1" dirty="0" err="1"/>
              <a:t>BadVAddr</a:t>
            </a:r>
            <a:r>
              <a:rPr lang="en-US" b="1" dirty="0"/>
              <a:t> / Status</a:t>
            </a:r>
            <a:r>
              <a:rPr lang="en-US" dirty="0"/>
              <a:t>: exception/interrupt bookkeeping registers (treat as OS/exception machinery for now).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HI / LO</a:t>
            </a:r>
            <a:r>
              <a:rPr lang="en-US" dirty="0"/>
              <a:t>: used by multiply/divide instructions (</a:t>
            </a:r>
            <a:r>
              <a:rPr lang="en-US" dirty="0" err="1"/>
              <a:t>mult</a:t>
            </a:r>
            <a:r>
              <a:rPr lang="en-US" dirty="0"/>
              <a:t>/div) to hold results (0 here because you haven’t used them).</a:t>
            </a:r>
          </a:p>
          <a:p>
            <a:pPr marL="514350" indent="-514350">
              <a:buFont typeface="+mj-lt"/>
              <a:buAutoNum type="arabicPeriod"/>
            </a:pPr>
            <a:endParaRPr lang="en-C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0CE3DB-6A91-EE89-5C37-0A64463B08B4}"/>
              </a:ext>
            </a:extLst>
          </p:cNvPr>
          <p:cNvCxnSpPr>
            <a:cxnSpLocks/>
          </p:cNvCxnSpPr>
          <p:nvPr/>
        </p:nvCxnSpPr>
        <p:spPr>
          <a:xfrm>
            <a:off x="322384" y="1242646"/>
            <a:ext cx="1154723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612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2CFE-5D5F-FB20-7F02-53F677C41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61" y="0"/>
            <a:ext cx="10515600" cy="916966"/>
          </a:xfrm>
        </p:spPr>
        <p:txBody>
          <a:bodyPr>
            <a:normAutofit/>
          </a:bodyPr>
          <a:lstStyle/>
          <a:p>
            <a:r>
              <a:rPr lang="en-US" dirty="0"/>
              <a:t>The 32 general-purpose registers (R0–R31)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0659-D4F3-B8D2-EEAF-890B784CD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461" y="946219"/>
            <a:ext cx="11816862" cy="570075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R0 [$zero] = 0</a:t>
            </a:r>
            <a:r>
              <a:rPr lang="en-US" dirty="0"/>
              <a:t>: always 0 (hardware-enforced).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R1 [$at]</a:t>
            </a:r>
            <a:r>
              <a:rPr lang="en-US" dirty="0"/>
              <a:t>: “assembler temporary” used internally by the assembler ($at = 	  		0x10010000 often holds a base address for data).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R2–R3 [$v0,$v1]</a:t>
            </a:r>
            <a:r>
              <a:rPr lang="en-US" dirty="0"/>
              <a:t>: return values / </a:t>
            </a:r>
            <a:r>
              <a:rPr lang="en-US" dirty="0" err="1"/>
              <a:t>syscall</a:t>
            </a:r>
            <a:r>
              <a:rPr lang="en-US" dirty="0"/>
              <a:t> code.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$v0 = a</a:t>
            </a:r>
            <a:r>
              <a:rPr lang="en-US" dirty="0"/>
              <a:t> means 0xA (decimal 10):  </a:t>
            </a:r>
            <a:r>
              <a:rPr lang="en-US" dirty="0" err="1"/>
              <a:t>syscall</a:t>
            </a:r>
            <a:r>
              <a:rPr lang="en-US" dirty="0"/>
              <a:t> -&gt;exit.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R4–R7 [$a0–$a3]</a:t>
            </a:r>
            <a:r>
              <a:rPr lang="en-US" dirty="0"/>
              <a:t>: function arguments (</a:t>
            </a:r>
            <a:r>
              <a:rPr lang="en-US" dirty="0" err="1"/>
              <a:t>QtSpim</a:t>
            </a:r>
            <a:r>
              <a:rPr lang="en-US" dirty="0"/>
              <a:t> also uses these for program startup </a:t>
            </a:r>
            <a:r>
              <a:rPr lang="en-US" dirty="0" err="1"/>
              <a:t>args</a:t>
            </a:r>
            <a:r>
              <a:rPr lang="en-US" dirty="0"/>
              <a:t>).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R8–R15 [$t0–$t7]</a:t>
            </a:r>
            <a:r>
              <a:rPr lang="en-US" dirty="0"/>
              <a:t>: temporaries (caller-saved).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R16–R23 [$s0–$s7]</a:t>
            </a:r>
            <a:r>
              <a:rPr lang="en-US" dirty="0"/>
              <a:t>: saved registers (callee-saved).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R28 [$</a:t>
            </a:r>
            <a:r>
              <a:rPr lang="en-US" b="1" dirty="0" err="1"/>
              <a:t>gp</a:t>
            </a:r>
            <a:r>
              <a:rPr lang="en-US" b="1" dirty="0"/>
              <a:t>]</a:t>
            </a:r>
            <a:r>
              <a:rPr lang="en-US" dirty="0"/>
              <a:t>: global pointer (used for some global data conventions).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R29 [$</a:t>
            </a:r>
            <a:r>
              <a:rPr lang="en-US" b="1" dirty="0" err="1"/>
              <a:t>sp</a:t>
            </a:r>
            <a:r>
              <a:rPr lang="en-US" b="1" dirty="0"/>
              <a:t>]</a:t>
            </a:r>
            <a:r>
              <a:rPr lang="en-US" dirty="0"/>
              <a:t>: stack pointer (0x7ffffe00 here).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R31 [$</a:t>
            </a:r>
            <a:r>
              <a:rPr lang="en-US" b="1" dirty="0" err="1"/>
              <a:t>ra</a:t>
            </a:r>
            <a:r>
              <a:rPr lang="en-US" b="1" dirty="0"/>
              <a:t>]</a:t>
            </a:r>
            <a:r>
              <a:rPr lang="en-US" dirty="0"/>
              <a:t>: return address (set by </a:t>
            </a:r>
            <a:r>
              <a:rPr lang="en-US" dirty="0" err="1"/>
              <a:t>jal</a:t>
            </a:r>
            <a:r>
              <a:rPr lang="en-US" dirty="0"/>
              <a:t>; here 0x00400018).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F037FBF-2CE5-CD17-56F9-0CD6F779D729}"/>
              </a:ext>
            </a:extLst>
          </p:cNvPr>
          <p:cNvCxnSpPr>
            <a:cxnSpLocks/>
          </p:cNvCxnSpPr>
          <p:nvPr/>
        </p:nvCxnSpPr>
        <p:spPr>
          <a:xfrm>
            <a:off x="234461" y="773723"/>
            <a:ext cx="1154723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426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CEDA3-86A8-73AC-0DCF-BFE45CBED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04" y="142505"/>
            <a:ext cx="11922826" cy="866898"/>
          </a:xfrm>
        </p:spPr>
        <p:txBody>
          <a:bodyPr/>
          <a:lstStyle/>
          <a:p>
            <a:r>
              <a:rPr lang="en-CN" dirty="0"/>
              <a:t>Task: Identify the following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675C37-F945-BD41-BE93-2377CAFA7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8700" y="1191986"/>
            <a:ext cx="10309855" cy="5221875"/>
          </a:xfrm>
        </p:spPr>
      </p:pic>
      <p:pic>
        <p:nvPicPr>
          <p:cNvPr id="10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D0095F-F818-F4C0-F9C5-EFBABDCF9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84564"/>
            <a:ext cx="10309855" cy="522187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C8DA92-7E44-2186-0239-65A6D01D5238}"/>
              </a:ext>
            </a:extLst>
          </p:cNvPr>
          <p:cNvCxnSpPr>
            <a:cxnSpLocks/>
          </p:cNvCxnSpPr>
          <p:nvPr/>
        </p:nvCxnSpPr>
        <p:spPr>
          <a:xfrm flipV="1">
            <a:off x="570016" y="2006930"/>
            <a:ext cx="1745672" cy="1567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14D0EF-783B-8333-A227-3675977CCA72}"/>
              </a:ext>
            </a:extLst>
          </p:cNvPr>
          <p:cNvCxnSpPr>
            <a:cxnSpLocks/>
          </p:cNvCxnSpPr>
          <p:nvPr/>
        </p:nvCxnSpPr>
        <p:spPr>
          <a:xfrm flipV="1">
            <a:off x="439387" y="4108862"/>
            <a:ext cx="3526971" cy="1365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573612-DE99-CFA7-39A6-76F05DA4889D}"/>
              </a:ext>
            </a:extLst>
          </p:cNvPr>
          <p:cNvCxnSpPr>
            <a:cxnSpLocks/>
          </p:cNvCxnSpPr>
          <p:nvPr/>
        </p:nvCxnSpPr>
        <p:spPr>
          <a:xfrm flipV="1">
            <a:off x="3823855" y="4108862"/>
            <a:ext cx="1353787" cy="2472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8E5F51-EEA4-0BF1-63FB-C244AEE93BCC}"/>
              </a:ext>
            </a:extLst>
          </p:cNvPr>
          <p:cNvCxnSpPr>
            <a:cxnSpLocks/>
          </p:cNvCxnSpPr>
          <p:nvPr/>
        </p:nvCxnSpPr>
        <p:spPr>
          <a:xfrm flipH="1" flipV="1">
            <a:off x="6761513" y="4203865"/>
            <a:ext cx="719942" cy="2511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40A8EB6-836D-4B0D-4BF3-2D4B06DFA0A9}"/>
              </a:ext>
            </a:extLst>
          </p:cNvPr>
          <p:cNvCxnSpPr>
            <a:cxnSpLocks/>
          </p:cNvCxnSpPr>
          <p:nvPr/>
        </p:nvCxnSpPr>
        <p:spPr>
          <a:xfrm flipH="1" flipV="1">
            <a:off x="9239003" y="4203865"/>
            <a:ext cx="439387" cy="2377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1C4BE55-5F94-D1F7-E36D-591BAAD59DAF}"/>
              </a:ext>
            </a:extLst>
          </p:cNvPr>
          <p:cNvSpPr txBox="1"/>
          <p:nvPr/>
        </p:nvSpPr>
        <p:spPr>
          <a:xfrm>
            <a:off x="95004" y="3617957"/>
            <a:ext cx="1065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Program </a:t>
            </a:r>
          </a:p>
          <a:p>
            <a:r>
              <a:rPr lang="en-CN" dirty="0">
                <a:solidFill>
                  <a:srgbClr val="FF0000"/>
                </a:solidFill>
              </a:rPr>
              <a:t>counter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F934BB-EF6B-98D2-99B8-B8BEABE280E0}"/>
              </a:ext>
            </a:extLst>
          </p:cNvPr>
          <p:cNvSpPr txBox="1"/>
          <p:nvPr/>
        </p:nvSpPr>
        <p:spPr>
          <a:xfrm>
            <a:off x="71253" y="5448076"/>
            <a:ext cx="1044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Memory </a:t>
            </a:r>
          </a:p>
          <a:p>
            <a:r>
              <a:rPr lang="en-CN" dirty="0">
                <a:solidFill>
                  <a:srgbClr val="FF0000"/>
                </a:solidFill>
              </a:rPr>
              <a:t>address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8DD857-ECD6-D629-FF1B-25BCCD3882CE}"/>
              </a:ext>
            </a:extLst>
          </p:cNvPr>
          <p:cNvSpPr txBox="1"/>
          <p:nvPr/>
        </p:nvSpPr>
        <p:spPr>
          <a:xfrm>
            <a:off x="2974795" y="6528012"/>
            <a:ext cx="220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32 bit machine code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C2D0BF-F470-2774-60C2-E642A4D881E6}"/>
              </a:ext>
            </a:extLst>
          </p:cNvPr>
          <p:cNvSpPr txBox="1"/>
          <p:nvPr/>
        </p:nvSpPr>
        <p:spPr>
          <a:xfrm>
            <a:off x="7481455" y="6528012"/>
            <a:ext cx="268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Readable assembly code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4606D2A-68C8-D11A-926D-0BDD74DC2D0C}"/>
              </a:ext>
            </a:extLst>
          </p:cNvPr>
          <p:cNvCxnSpPr>
            <a:cxnSpLocks/>
          </p:cNvCxnSpPr>
          <p:nvPr/>
        </p:nvCxnSpPr>
        <p:spPr>
          <a:xfrm>
            <a:off x="211312" y="889470"/>
            <a:ext cx="1154723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87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630A-7413-928F-D3D4-6FE274FE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79" y="50172"/>
            <a:ext cx="11104418" cy="973776"/>
          </a:xfrm>
        </p:spPr>
        <p:txBody>
          <a:bodyPr/>
          <a:lstStyle/>
          <a:p>
            <a:r>
              <a:rPr lang="en-CN" dirty="0"/>
              <a:t>32-bit machine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F3A49-2AD8-C9D5-8950-1ABEE4DFA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2" y="1116280"/>
            <a:ext cx="11394750" cy="5516013"/>
          </a:xfrm>
        </p:spPr>
        <p:txBody>
          <a:bodyPr/>
          <a:lstStyle/>
          <a:p>
            <a:r>
              <a:rPr lang="en-CN" dirty="0"/>
              <a:t>This is the bits the CPU executes</a:t>
            </a:r>
          </a:p>
          <a:p>
            <a:pPr lvl="1"/>
            <a:r>
              <a:rPr lang="en-CN" dirty="0"/>
              <a:t>Example: 01285020 =&gt;0x01285020</a:t>
            </a:r>
          </a:p>
          <a:p>
            <a:pPr lvl="1"/>
            <a:r>
              <a:rPr lang="en-CN" dirty="0"/>
              <a:t>QtSpim decodes it to =&gt; add $t2, $t1, $t0</a:t>
            </a:r>
          </a:p>
          <a:p>
            <a:r>
              <a:rPr lang="en-CN" dirty="0"/>
              <a:t>How does this=&gt; 0x01285020 mean this=&gt; add $t2, $t1, $t0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143D72-18C9-5E76-EA10-ED65C418AFD6}"/>
              </a:ext>
            </a:extLst>
          </p:cNvPr>
          <p:cNvSpPr/>
          <p:nvPr/>
        </p:nvSpPr>
        <p:spPr>
          <a:xfrm>
            <a:off x="3171111" y="2467424"/>
            <a:ext cx="1899654" cy="3183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083AA2-8FBC-AF8A-0897-F8587CB0EDBB}"/>
              </a:ext>
            </a:extLst>
          </p:cNvPr>
          <p:cNvSpPr/>
          <p:nvPr/>
        </p:nvSpPr>
        <p:spPr>
          <a:xfrm>
            <a:off x="7042666" y="2467424"/>
            <a:ext cx="2635723" cy="3183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81B9C-8A7B-83CE-D650-9239DA98E2AE}"/>
              </a:ext>
            </a:extLst>
          </p:cNvPr>
          <p:cNvSpPr txBox="1"/>
          <p:nvPr/>
        </p:nvSpPr>
        <p:spPr>
          <a:xfrm>
            <a:off x="9163414" y="1122817"/>
            <a:ext cx="198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The Human reads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3ECE8F-EAA4-9671-386D-000121722208}"/>
              </a:ext>
            </a:extLst>
          </p:cNvPr>
          <p:cNvSpPr/>
          <p:nvPr/>
        </p:nvSpPr>
        <p:spPr>
          <a:xfrm>
            <a:off x="9163414" y="925079"/>
            <a:ext cx="3028586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3B6B52-D960-2245-E939-28D1870E4317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8360528" y="1846015"/>
            <a:ext cx="1884516" cy="6214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409AFF4-6F27-F1EA-6EEA-1FCE611D72FE}"/>
              </a:ext>
            </a:extLst>
          </p:cNvPr>
          <p:cNvSpPr txBox="1"/>
          <p:nvPr/>
        </p:nvSpPr>
        <p:spPr>
          <a:xfrm>
            <a:off x="5925853" y="654616"/>
            <a:ext cx="198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The CPU executes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230BE18-6DAE-FC13-B5C5-199CDE3C5AA0}"/>
              </a:ext>
            </a:extLst>
          </p:cNvPr>
          <p:cNvSpPr/>
          <p:nvPr/>
        </p:nvSpPr>
        <p:spPr>
          <a:xfrm>
            <a:off x="5830784" y="353269"/>
            <a:ext cx="2608236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167626-D39E-8671-8013-7C7EF4B948F7}"/>
              </a:ext>
            </a:extLst>
          </p:cNvPr>
          <p:cNvCxnSpPr>
            <a:cxnSpLocks/>
          </p:cNvCxnSpPr>
          <p:nvPr/>
        </p:nvCxnSpPr>
        <p:spPr>
          <a:xfrm flipH="1">
            <a:off x="4991652" y="1267669"/>
            <a:ext cx="1767687" cy="11997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618C46D-134F-7DAD-C52A-98FAF90DA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082857"/>
              </p:ext>
            </p:extLst>
          </p:nvPr>
        </p:nvGraphicFramePr>
        <p:xfrm>
          <a:off x="1360669" y="3521445"/>
          <a:ext cx="812800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9835535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2669431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2601029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586148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2040662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68398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N" dirty="0"/>
                        <a:t>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shamt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funct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13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56147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266A103-9257-CE70-76D8-CC166A55C644}"/>
              </a:ext>
            </a:extLst>
          </p:cNvPr>
          <p:cNvSpPr txBox="1"/>
          <p:nvPr/>
        </p:nvSpPr>
        <p:spPr>
          <a:xfrm>
            <a:off x="347241" y="4674215"/>
            <a:ext cx="410586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</a:t>
            </a:r>
            <a:r>
              <a:rPr lang="en-US" dirty="0"/>
              <a:t> = 000000 = 0  → R-format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rs</a:t>
            </a:r>
            <a:r>
              <a:rPr lang="en-US" dirty="0"/>
              <a:t> = 01001 = 9  → </a:t>
            </a:r>
            <a:r>
              <a:rPr lang="en-US" b="1" dirty="0"/>
              <a:t>$t1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rt</a:t>
            </a:r>
            <a:r>
              <a:rPr lang="en-US" dirty="0"/>
              <a:t> = 01000 = 8  → </a:t>
            </a:r>
            <a:r>
              <a:rPr lang="en-US" b="1" dirty="0"/>
              <a:t>$t0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rd</a:t>
            </a:r>
            <a:r>
              <a:rPr lang="en-US" dirty="0"/>
              <a:t> = 01010 = 10 → </a:t>
            </a:r>
            <a:r>
              <a:rPr lang="en-US" b="1" dirty="0"/>
              <a:t>$t2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shamt</a:t>
            </a:r>
            <a:r>
              <a:rPr lang="en-US" dirty="0"/>
              <a:t> = 00000 = 0 (not used for add)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funct</a:t>
            </a:r>
            <a:r>
              <a:rPr lang="en-US" dirty="0"/>
              <a:t> = 100000 = 32 = 0x20 → </a:t>
            </a:r>
            <a:r>
              <a:rPr lang="en-US" b="1" dirty="0"/>
              <a:t>add</a:t>
            </a:r>
            <a:endParaRPr lang="en-US" dirty="0"/>
          </a:p>
          <a:p>
            <a:endParaRPr lang="en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1FC2D9-C01B-1047-7C48-0C6CC557E888}"/>
              </a:ext>
            </a:extLst>
          </p:cNvPr>
          <p:cNvSpPr txBox="1"/>
          <p:nvPr/>
        </p:nvSpPr>
        <p:spPr>
          <a:xfrm>
            <a:off x="6319777" y="4734046"/>
            <a:ext cx="4366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0x01285020 =</a:t>
            </a:r>
          </a:p>
          <a:p>
            <a:r>
              <a:rPr lang="en-US" dirty="0"/>
              <a:t>000000 01001 01000 01010 00000 100000</a:t>
            </a:r>
          </a:p>
          <a:p>
            <a:r>
              <a:rPr lang="en-US" dirty="0"/>
              <a:t>I</a:t>
            </a:r>
            <a:r>
              <a:rPr lang="en-CN" dirty="0"/>
              <a:t>s decoded to add $t2, $t1, $t0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60329C-D4DC-3F86-8F77-498EC6AB416D}"/>
              </a:ext>
            </a:extLst>
          </p:cNvPr>
          <p:cNvSpPr txBox="1"/>
          <p:nvPr/>
        </p:nvSpPr>
        <p:spPr>
          <a:xfrm>
            <a:off x="347241" y="3207822"/>
            <a:ext cx="2387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Split R-function layout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F455DF1-4275-97DB-8002-3E9F4D5D3F57}"/>
              </a:ext>
            </a:extLst>
          </p:cNvPr>
          <p:cNvCxnSpPr>
            <a:cxnSpLocks/>
          </p:cNvCxnSpPr>
          <p:nvPr/>
        </p:nvCxnSpPr>
        <p:spPr>
          <a:xfrm>
            <a:off x="234461" y="773723"/>
            <a:ext cx="5066744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489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161F6-804E-6917-1D43-6BC612930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21" y="127323"/>
            <a:ext cx="11470511" cy="810226"/>
          </a:xfrm>
        </p:spPr>
        <p:txBody>
          <a:bodyPr/>
          <a:lstStyle/>
          <a:p>
            <a:r>
              <a:rPr lang="en-CN" dirty="0"/>
              <a:t>Common funct codes(R-format: op=0)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B5E3D6-A15A-71EA-AF58-C7A47E115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1234345"/>
              </p:ext>
            </p:extLst>
          </p:nvPr>
        </p:nvGraphicFramePr>
        <p:xfrm>
          <a:off x="837237" y="1886673"/>
          <a:ext cx="8412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7791811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89216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195662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058038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Instruction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funct (bin)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funct (hex)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funct (dec)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8101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0x20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9340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100001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69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100010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8805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100100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52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100101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slt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101010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0x2A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202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001000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754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001100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223622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983284-99AD-28E5-6B47-7CD091F75106}"/>
              </a:ext>
            </a:extLst>
          </p:cNvPr>
          <p:cNvCxnSpPr>
            <a:cxnSpLocks/>
          </p:cNvCxnSpPr>
          <p:nvPr/>
        </p:nvCxnSpPr>
        <p:spPr>
          <a:xfrm>
            <a:off x="127321" y="773723"/>
            <a:ext cx="1165437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06ACB36-D257-F584-FCB3-47DE400C99E2}"/>
              </a:ext>
            </a:extLst>
          </p:cNvPr>
          <p:cNvSpPr txBox="1"/>
          <p:nvPr/>
        </p:nvSpPr>
        <p:spPr>
          <a:xfrm>
            <a:off x="358815" y="5850191"/>
            <a:ext cx="7177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Register (R) format is used for register – register operations (rs, </a:t>
            </a:r>
            <a:r>
              <a:rPr lang="en-US" dirty="0"/>
              <a:t>r</a:t>
            </a:r>
            <a:r>
              <a:rPr lang="en-CN" dirty="0"/>
              <a:t>t, 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 add $t2, $t1, $t0</a:t>
            </a:r>
          </a:p>
        </p:txBody>
      </p:sp>
    </p:spTree>
    <p:extLst>
      <p:ext uri="{BB962C8B-B14F-4D97-AF65-F5344CB8AC3E}">
        <p14:creationId xmlns:p14="http://schemas.microsoft.com/office/powerpoint/2010/main" val="912562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3F740-04A6-4904-CA50-A216E13AF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15" y="261716"/>
            <a:ext cx="10515600" cy="838642"/>
          </a:xfrm>
        </p:spPr>
        <p:txBody>
          <a:bodyPr/>
          <a:lstStyle/>
          <a:p>
            <a:r>
              <a:rPr lang="en-US" b="1" dirty="0"/>
              <a:t>Common opcodes (I/J-format) </a:t>
            </a:r>
            <a:endParaRPr lang="en-C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357F45-49DD-66EE-0F06-9019C6F7D8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918444"/>
              </p:ext>
            </p:extLst>
          </p:nvPr>
        </p:nvGraphicFramePr>
        <p:xfrm>
          <a:off x="798430" y="1554700"/>
          <a:ext cx="105156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499036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200572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49709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26181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Instruction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opcode (bin)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opcode (hex)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opcode (dec)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71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492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101011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0x2B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597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000100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149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000101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736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001000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18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001100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59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001101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744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001111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021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000010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9757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jal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000011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0x03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91202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3AF28E-A581-A66C-7D23-5207F8BFFB1E}"/>
              </a:ext>
            </a:extLst>
          </p:cNvPr>
          <p:cNvSpPr txBox="1"/>
          <p:nvPr/>
        </p:nvSpPr>
        <p:spPr>
          <a:xfrm>
            <a:off x="282615" y="5949953"/>
            <a:ext cx="96780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Immediate (I)</a:t>
            </a:r>
            <a:r>
              <a:rPr lang="en-CN" dirty="0"/>
              <a:t> format is used when you need a constant, branch, etc </a:t>
            </a:r>
            <a:r>
              <a:rPr lang="en-US" dirty="0"/>
              <a:t> Example </a:t>
            </a:r>
            <a:r>
              <a:rPr lang="en-US" dirty="0" err="1"/>
              <a:t>addi</a:t>
            </a:r>
            <a:r>
              <a:rPr lang="en-US" dirty="0"/>
              <a:t> $t0, $t0, 5</a:t>
            </a:r>
            <a:endParaRPr lang="en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Jump (J) format is used for far jumps to a target label. Example: </a:t>
            </a:r>
            <a:r>
              <a:rPr lang="en-US" dirty="0"/>
              <a:t>j label, </a:t>
            </a:r>
            <a:r>
              <a:rPr lang="en-US" dirty="0" err="1"/>
              <a:t>jal</a:t>
            </a:r>
            <a:r>
              <a:rPr lang="en-US" dirty="0"/>
              <a:t> </a:t>
            </a:r>
            <a:r>
              <a:rPr lang="en-US" dirty="0" err="1"/>
              <a:t>func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8D9158-53CF-1BF1-E4E1-90B4175B12F6}"/>
              </a:ext>
            </a:extLst>
          </p:cNvPr>
          <p:cNvCxnSpPr>
            <a:cxnSpLocks/>
          </p:cNvCxnSpPr>
          <p:nvPr/>
        </p:nvCxnSpPr>
        <p:spPr>
          <a:xfrm>
            <a:off x="282615" y="1100358"/>
            <a:ext cx="11547231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637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0D53-EC58-C64D-5565-5639E6E58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94" y="135078"/>
            <a:ext cx="11122306" cy="1189017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QtSpim</a:t>
            </a:r>
            <a:br>
              <a:rPr lang="en-US" b="1" dirty="0"/>
            </a:b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FF5E5-3135-5390-889D-E1E7470E5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063" y="1686728"/>
            <a:ext cx="10515600" cy="4351338"/>
          </a:xfrm>
        </p:spPr>
        <p:txBody>
          <a:bodyPr/>
          <a:lstStyle/>
          <a:p>
            <a:r>
              <a:rPr lang="en-US" b="1" dirty="0"/>
              <a:t>Arithmetic:</a:t>
            </a:r>
            <a:r>
              <a:rPr lang="en-US" dirty="0"/>
              <a:t> add, sub, </a:t>
            </a:r>
            <a:r>
              <a:rPr lang="en-US" dirty="0" err="1"/>
              <a:t>addi</a:t>
            </a:r>
            <a:endParaRPr lang="en-US" dirty="0"/>
          </a:p>
          <a:p>
            <a:r>
              <a:rPr lang="en-US" b="1" dirty="0"/>
              <a:t>Logical:</a:t>
            </a:r>
            <a:r>
              <a:rPr lang="en-US" dirty="0"/>
              <a:t> and, or, </a:t>
            </a:r>
            <a:r>
              <a:rPr lang="en-US" dirty="0" err="1"/>
              <a:t>xor</a:t>
            </a:r>
            <a:r>
              <a:rPr lang="en-US" dirty="0"/>
              <a:t>, nor, </a:t>
            </a:r>
            <a:r>
              <a:rPr lang="en-US" dirty="0" err="1"/>
              <a:t>andi</a:t>
            </a:r>
            <a:r>
              <a:rPr lang="en-US" dirty="0"/>
              <a:t>, </a:t>
            </a:r>
            <a:r>
              <a:rPr lang="en-US" dirty="0" err="1"/>
              <a:t>ori</a:t>
            </a:r>
            <a:endParaRPr lang="en-US" dirty="0"/>
          </a:p>
          <a:p>
            <a:r>
              <a:rPr lang="en-US" b="1" dirty="0"/>
              <a:t>Memory:</a:t>
            </a:r>
            <a:r>
              <a:rPr lang="en-US" dirty="0"/>
              <a:t> </a:t>
            </a:r>
            <a:r>
              <a:rPr lang="en-US" dirty="0" err="1"/>
              <a:t>lw</a:t>
            </a:r>
            <a:r>
              <a:rPr lang="en-US" dirty="0"/>
              <a:t>, </a:t>
            </a:r>
            <a:r>
              <a:rPr lang="en-US" dirty="0" err="1"/>
              <a:t>sw</a:t>
            </a:r>
            <a:endParaRPr lang="en-US" dirty="0"/>
          </a:p>
          <a:p>
            <a:r>
              <a:rPr lang="en-US" b="1" dirty="0"/>
              <a:t>Control flow:</a:t>
            </a:r>
            <a:r>
              <a:rPr lang="en-US" dirty="0"/>
              <a:t> </a:t>
            </a:r>
            <a:r>
              <a:rPr lang="en-US" dirty="0" err="1"/>
              <a:t>beq</a:t>
            </a:r>
            <a:r>
              <a:rPr lang="en-US" dirty="0"/>
              <a:t>, </a:t>
            </a:r>
            <a:r>
              <a:rPr lang="en-US" dirty="0" err="1"/>
              <a:t>bne</a:t>
            </a:r>
            <a:r>
              <a:rPr lang="en-US" dirty="0"/>
              <a:t>, j, </a:t>
            </a:r>
            <a:r>
              <a:rPr lang="en-US" dirty="0" err="1"/>
              <a:t>jal</a:t>
            </a:r>
            <a:r>
              <a:rPr lang="en-US" dirty="0"/>
              <a:t>, </a:t>
            </a:r>
            <a:r>
              <a:rPr lang="en-US" dirty="0" err="1"/>
              <a:t>jr</a:t>
            </a:r>
            <a:endParaRPr lang="en-US" dirty="0"/>
          </a:p>
          <a:p>
            <a:r>
              <a:rPr lang="en-US" b="1" dirty="0"/>
              <a:t>Shift:</a:t>
            </a:r>
            <a:r>
              <a:rPr lang="en-US" dirty="0"/>
              <a:t> </a:t>
            </a:r>
            <a:r>
              <a:rPr lang="en-US" dirty="0" err="1"/>
              <a:t>sll</a:t>
            </a:r>
            <a:r>
              <a:rPr lang="en-US" dirty="0"/>
              <a:t>, </a:t>
            </a:r>
            <a:r>
              <a:rPr lang="en-US" dirty="0" err="1"/>
              <a:t>srl</a:t>
            </a:r>
            <a:endParaRPr lang="en-US" dirty="0"/>
          </a:p>
          <a:p>
            <a:pPr marL="0" indent="0">
              <a:buNone/>
            </a:pPr>
            <a:endParaRPr lang="en-C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C7F1C6-47DD-4CC4-FDDE-CF0222FE9C32}"/>
              </a:ext>
            </a:extLst>
          </p:cNvPr>
          <p:cNvCxnSpPr>
            <a:cxnSpLocks/>
          </p:cNvCxnSpPr>
          <p:nvPr/>
        </p:nvCxnSpPr>
        <p:spPr>
          <a:xfrm flipV="1">
            <a:off x="231494" y="741542"/>
            <a:ext cx="11470511" cy="93361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714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3004</TotalTime>
  <Words>2006</Words>
  <Application>Microsoft Macintosh PowerPoint</Application>
  <PresentationFormat>Widescreen</PresentationFormat>
  <Paragraphs>418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.AppleSystemUIFont</vt:lpstr>
      <vt:lpstr>Aptos</vt:lpstr>
      <vt:lpstr>Aptos Display</vt:lpstr>
      <vt:lpstr>Arial</vt:lpstr>
      <vt:lpstr>Office Theme</vt:lpstr>
      <vt:lpstr>Lab 1: Introduction to QtSpim Course: CIS 216  Lab- Computer Organization  </vt:lpstr>
      <vt:lpstr>PowerPoint Presentation</vt:lpstr>
      <vt:lpstr>PowerPoint Presentation</vt:lpstr>
      <vt:lpstr>PowerPoint Presentation</vt:lpstr>
      <vt:lpstr>PowerPoint Presentation</vt:lpstr>
      <vt:lpstr>MIPS Assembly Language Programming Using QtSpim </vt:lpstr>
      <vt:lpstr>MIPS Assembly Language Programming Using QtSpim </vt:lpstr>
      <vt:lpstr>Reading QtSpim’s  Text Segment  (Address vs Instruction) </vt:lpstr>
      <vt:lpstr>PowerPoint Presentation</vt:lpstr>
      <vt:lpstr>QtSpim Syscall Codes </vt:lpstr>
      <vt:lpstr>Student Task</vt:lpstr>
      <vt:lpstr>PowerPoint Presentation</vt:lpstr>
      <vt:lpstr>PowerPoint Presentation</vt:lpstr>
      <vt:lpstr>PowerPoint Presentation</vt:lpstr>
      <vt:lpstr>PC Path (Fetch → Next Instruction)</vt:lpstr>
      <vt:lpstr>Int Regs: CPU state (special registers + the 32 general-purpose registers)</vt:lpstr>
      <vt:lpstr>The 32 general-purpose registers (R0–R31)</vt:lpstr>
      <vt:lpstr>Task: Identify the following</vt:lpstr>
      <vt:lpstr>32-bit machine code</vt:lpstr>
      <vt:lpstr>Common funct codes(R-format: op=0)</vt:lpstr>
      <vt:lpstr>Common opcodes (I/J-format) </vt:lpstr>
      <vt:lpstr>QtSpim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Ebuka Oguchi</dc:creator>
  <cp:lastModifiedBy>Ebuka P Oguchi</cp:lastModifiedBy>
  <cp:revision>14</cp:revision>
  <dcterms:created xsi:type="dcterms:W3CDTF">2026-01-16T02:26:30Z</dcterms:created>
  <dcterms:modified xsi:type="dcterms:W3CDTF">2026-08-23T18:54:29Z</dcterms:modified>
</cp:coreProperties>
</file>