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7" r:id="rId2"/>
    <p:sldId id="414" r:id="rId3"/>
    <p:sldId id="401" r:id="rId4"/>
    <p:sldId id="402" r:id="rId5"/>
    <p:sldId id="394" r:id="rId6"/>
    <p:sldId id="415" r:id="rId7"/>
    <p:sldId id="416" r:id="rId8"/>
    <p:sldId id="399" r:id="rId9"/>
    <p:sldId id="408" r:id="rId10"/>
    <p:sldId id="400" r:id="rId11"/>
    <p:sldId id="406" r:id="rId12"/>
    <p:sldId id="409" r:id="rId13"/>
    <p:sldId id="411" r:id="rId14"/>
    <p:sldId id="410" r:id="rId15"/>
    <p:sldId id="412" r:id="rId16"/>
    <p:sldId id="413" r:id="rId1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4606"/>
  </p:normalViewPr>
  <p:slideViewPr>
    <p:cSldViewPr snapToGrid="0" showGuides="1">
      <p:cViewPr varScale="1">
        <p:scale>
          <a:sx n="119" d="100"/>
          <a:sy n="119" d="100"/>
        </p:scale>
        <p:origin x="1120" y="184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5938-B678-514A-888A-F9BBBA9C667F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32FF-F6D7-EC40-A867-4B28077EBF2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796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32FF-F6D7-EC40-A867-4B28077EBF28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4775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32FF-F6D7-EC40-A867-4B28077EBF28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2389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81FA-F662-9140-E1CB-57D829D40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F6E83-F298-D714-42EE-37CD03AF8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A275A-2226-28BB-498E-52A68BCC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6306-3949-8A72-90B3-2C3CBC84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6E9B3-968E-E085-83D7-C9424E06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542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1017-B98F-6F8D-C9AA-F5D238EF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B2AD-B636-38B6-8511-47F1362B0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2CD59-66B4-9D90-6941-6454D81F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85EC8-8981-9014-E32D-79999E92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706D-C959-C6E4-D5F6-04606913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064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C834-384D-1F0C-7A0C-C0BB53C0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C13DD-600B-FA15-F363-E67E5A9D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A20F-C2CE-6A0A-E17F-F8F9311B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9E011-CADB-A09C-CF09-AAE0E2F9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762A-A929-7669-39CF-567CC0BA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310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C56E-2514-5FD0-2992-843DCD88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74A2-3B64-C22E-B6AF-A677EF75E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83F-4E47-6CF9-DAD9-E51F34E60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DC869-F519-A76D-AE92-0F408348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9BB38-2CB9-0A9A-1242-D89CEAC7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1AFAF-5CEC-1400-1EC2-81093A3F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031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B965-576A-9007-15B1-8926578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8A78D-C905-46BC-0109-EE38B739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FC007-49F1-62CC-8298-6838F430C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312A86-1C76-0A8F-A1D2-5E46F779F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D2B49-2D96-CC3A-AEA2-513A20307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EDCAA-4F5E-8656-824F-229EE673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23354-F02B-B401-2BCC-EC68579C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4097B-DC80-8DB1-D155-305FC5CB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237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D8F3-7A2A-B0EB-330C-AB8257A6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597E2-36D5-A883-6AED-FFCB940D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1FF4A-8F4B-BB58-6885-533C46C8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3FB16-BCF7-825E-BE69-4FE255D9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353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42D37-7CC2-EB6A-FCC2-74CC815E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83AAE-EC41-9D63-4BD6-CF0296B0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9027B-40BC-1F36-AF07-33A58939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761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12BF-7016-DCF8-24F7-26F6105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4567-A36E-AF65-34BB-A6194818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B7462-73DB-C119-62BA-E92A0925F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51775-95A0-575F-5773-8068343A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D593F-FF35-DB42-2FDA-00C427ED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C82C-6CDE-D9B8-9140-45DFDFD7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77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F130-F496-5E63-2A5B-F859CFC0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087BF-7EAA-BCAB-25CB-0032A2236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FACEE-7EA5-3BE4-EABD-F7FB1A16F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80637-4A11-C157-1DB9-21823C45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E88D-D947-ED28-0189-FCBA6650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581CB-5480-134C-C495-9E168FA5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375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DE11-4056-1388-F629-6D14AEB4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97330-CDA1-875F-182D-9BC2CDF5C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F5EC6-E7F9-938B-00E2-59CE2100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4DB7-53F8-E4B4-C322-CC3A2A3F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75CD-FBD2-7116-FE25-2E09C0A9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479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7EFA8-CD01-8667-B08D-2E9D5E306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78587-71AB-F7D4-549A-E6A3749C0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BE17D-0860-6974-B75E-9CAB3A91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1E37-D805-FD7A-6EA2-29D78D5F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F68CA-2422-4E61-C2C9-E6B68605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823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CD91B-B56C-2E39-1670-9B40A44B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74A46-FB10-46CF-C739-CD29A852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88A29-6E68-1CEF-3380-8CDD12FBB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A2EE1-693C-0446-9010-99D1ABCCCEB8}" type="datetimeFigureOut">
              <a:rPr lang="en-CN" smtClean="0"/>
              <a:t>2026/10/12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7482-AA72-0AF5-E9FC-CF97BA816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CAFE9-AE59-BACE-5BB8-D462BE3B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267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46FA-C15D-08E9-6019-B1EF36F0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77" y="874840"/>
            <a:ext cx="11304105" cy="1279871"/>
          </a:xfrm>
        </p:spPr>
        <p:txBody>
          <a:bodyPr>
            <a:noAutofit/>
          </a:bodyPr>
          <a:lstStyle/>
          <a:p>
            <a:r>
              <a:rPr lang="en-US" b="1" dirty="0"/>
              <a:t>Computer Organization &amp; Assembly Language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9EF0-6B17-23D6-31F4-89DBEBAF7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451" y="2316944"/>
            <a:ext cx="10515600" cy="435133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/>
              <a:t>Lecture / Lab-005</a:t>
            </a:r>
            <a:endParaRPr lang="en-US" sz="3200" dirty="0"/>
          </a:p>
          <a:p>
            <a:pPr algn="ctr">
              <a:buNone/>
            </a:pPr>
            <a:br>
              <a:rPr lang="en-US" sz="3200" dirty="0"/>
            </a:br>
            <a:endParaRPr lang="en-US" sz="3200" dirty="0"/>
          </a:p>
          <a:p>
            <a:pPr algn="ctr">
              <a:buNone/>
            </a:pPr>
            <a:r>
              <a:rPr lang="en-US" sz="3200" b="1" dirty="0"/>
              <a:t>Register Spilling in MIPS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6206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05E2-1CEA-BC1B-989E-3FA85AAF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85" y="269922"/>
            <a:ext cx="10515600" cy="822230"/>
          </a:xfrm>
        </p:spPr>
        <p:txBody>
          <a:bodyPr/>
          <a:lstStyle/>
          <a:p>
            <a:r>
              <a:rPr lang="en-CN" dirty="0"/>
              <a:t>Register Spilling in MIPS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7054B-7B35-8CC3-40F4-A09CB4702D03}"/>
              </a:ext>
            </a:extLst>
          </p:cNvPr>
          <p:cNvSpPr txBox="1"/>
          <p:nvPr/>
        </p:nvSpPr>
        <p:spPr>
          <a:xfrm>
            <a:off x="276009" y="1323833"/>
            <a:ext cx="11639981" cy="4716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800" dirty="0"/>
              <a:t>Register Spilling: Temporarily saving register values to memory (stack) </a:t>
            </a:r>
          </a:p>
          <a:p>
            <a:pPr lvl="0">
              <a:lnSpc>
                <a:spcPct val="150000"/>
              </a:lnSpc>
            </a:pPr>
            <a:r>
              <a:rPr lang="en-CN" sz="2800" dirty="0"/>
              <a:t>     so registers can be reused.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sz="2800" dirty="0"/>
              <a:t>Why? CPU registers are limited.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sz="2800" dirty="0"/>
              <a:t>$sp: Manages stack memory.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sz="2800" dirty="0"/>
              <a:t>sw / lw: Save and restore register values.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sz="2800" dirty="0"/>
              <a:t>Leaf &amp; Non-Leaf: Register spilling can occur in both types of procedures.</a:t>
            </a:r>
          </a:p>
        </p:txBody>
      </p:sp>
    </p:spTree>
    <p:extLst>
      <p:ext uri="{BB962C8B-B14F-4D97-AF65-F5344CB8AC3E}">
        <p14:creationId xmlns:p14="http://schemas.microsoft.com/office/powerpoint/2010/main" val="31747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A561-12B9-8E8A-96A2-19C6E6C4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16" y="18255"/>
            <a:ext cx="10515600" cy="1325563"/>
          </a:xfrm>
        </p:spPr>
        <p:txBody>
          <a:bodyPr/>
          <a:lstStyle/>
          <a:p>
            <a:r>
              <a:rPr lang="en-US" b="1" dirty="0"/>
              <a:t>Quick Check: Leaf vs. Non-Leaf Function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9C85-D39B-B823-F1DE-9DC7BD2F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11" y="113341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call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need to save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/>
              <a:t>Non-Leaf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Calls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MUST save and restore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460BEF-673E-7F38-F6AA-281BD9FD04F8}"/>
              </a:ext>
            </a:extLst>
          </p:cNvPr>
          <p:cNvCxnSpPr>
            <a:cxnSpLocks/>
          </p:cNvCxnSpPr>
          <p:nvPr/>
        </p:nvCxnSpPr>
        <p:spPr>
          <a:xfrm>
            <a:off x="205811" y="936310"/>
            <a:ext cx="62035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9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99CB-3EF1-F7E6-4692-CF4B945E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6" y="142934"/>
            <a:ext cx="10515600" cy="1036385"/>
          </a:xfrm>
        </p:spPr>
        <p:txBody>
          <a:bodyPr/>
          <a:lstStyle/>
          <a:p>
            <a:r>
              <a:rPr lang="en-US" b="1" dirty="0"/>
              <a:t>Quick Check: Stack Pointer ($</a:t>
            </a:r>
            <a:r>
              <a:rPr lang="en-US" b="1" dirty="0" err="1"/>
              <a:t>sp</a:t>
            </a:r>
            <a:r>
              <a:rPr lang="en-US" b="1" dirty="0"/>
              <a:t>)</a:t>
            </a: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06F038-1115-2E20-22E5-CFDEBD990FB3}"/>
              </a:ext>
            </a:extLst>
          </p:cNvPr>
          <p:cNvCxnSpPr>
            <a:cxnSpLocks/>
          </p:cNvCxnSpPr>
          <p:nvPr/>
        </p:nvCxnSpPr>
        <p:spPr>
          <a:xfrm>
            <a:off x="306904" y="965506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090804-4981-49E8-56BA-0DD4481C0C34}"/>
              </a:ext>
            </a:extLst>
          </p:cNvPr>
          <p:cNvSpPr txBox="1">
            <a:spLocks/>
          </p:cNvSpPr>
          <p:nvPr/>
        </p:nvSpPr>
        <p:spPr>
          <a:xfrm>
            <a:off x="306904" y="1030728"/>
            <a:ext cx="11954854" cy="5535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Holds address of top of stack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Stack is memory used for temporary saves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Stack grows downward (toward smaller addresses)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Allocate space: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Save value: 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Restore value: 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$t1,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Deallocate space: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086C-8327-AF05-22E9-438A4FF8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85" y="136525"/>
            <a:ext cx="10515600" cy="710129"/>
          </a:xfrm>
        </p:spPr>
        <p:txBody>
          <a:bodyPr/>
          <a:lstStyle/>
          <a:p>
            <a:r>
              <a:rPr lang="en-CN" b="1" dirty="0"/>
              <a:t>Stack Pointer ($sp)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69BE-72BA-788F-0234-1C5C36C3F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16" y="998279"/>
            <a:ext cx="8270875" cy="863302"/>
          </a:xfrm>
        </p:spPr>
        <p:txBody>
          <a:bodyPr/>
          <a:lstStyle/>
          <a:p>
            <a:r>
              <a:rPr lang="en-US" sz="2400" dirty="0"/>
              <a:t>It holds the </a:t>
            </a:r>
            <a:r>
              <a:rPr lang="en-US" sz="2400" dirty="0">
                <a:solidFill>
                  <a:srgbClr val="FF0000"/>
                </a:solidFill>
              </a:rPr>
              <a:t>address</a:t>
            </a:r>
            <a:r>
              <a:rPr lang="en-US" sz="2400" dirty="0"/>
              <a:t> of the top of the current stack frame, and it changes when you allocate/free stack space.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3B306-33F6-A078-1EAD-8ED893936590}"/>
              </a:ext>
            </a:extLst>
          </p:cNvPr>
          <p:cNvSpPr txBox="1"/>
          <p:nvPr/>
        </p:nvSpPr>
        <p:spPr>
          <a:xfrm>
            <a:off x="336607" y="2029342"/>
            <a:ext cx="276229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$a0,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$a1,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print quotient ($v0)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move $a0, $v0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exit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/>
          </a:p>
          <a:p>
            <a:endParaRPr lang="en-US" sz="800" dirty="0"/>
          </a:p>
          <a:p>
            <a:endParaRPr lang="en-CN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ABA26-2CCB-6F65-8CC1-F43FB8772888}"/>
              </a:ext>
            </a:extLst>
          </p:cNvPr>
          <p:cNvSpPr txBox="1"/>
          <p:nvPr/>
        </p:nvSpPr>
        <p:spPr>
          <a:xfrm>
            <a:off x="3390297" y="2183231"/>
            <a:ext cx="372890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leaf helper that prints newline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$a0,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NOT leaf anymore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#(it calls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so it must save/restore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/>
          </a:p>
          <a:p>
            <a:r>
              <a:rPr lang="en-US" sz="1400" dirty="0"/>
              <a:t>  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3EF08-214D-3A6C-6CEA-32B85A61DB6E}"/>
              </a:ext>
            </a:extLst>
          </p:cNvPr>
          <p:cNvSpPr txBox="1"/>
          <p:nvPr/>
        </p:nvSpPr>
        <p:spPr>
          <a:xfrm>
            <a:off x="7374679" y="2183231"/>
            <a:ext cx="4480714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  $a0, $a1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$v0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$v1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writes the return address into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264C98-8880-F37C-33F1-0B11EA0EB06F}"/>
              </a:ext>
            </a:extLst>
          </p:cNvPr>
          <p:cNvCxnSpPr>
            <a:cxnSpLocks/>
          </p:cNvCxnSpPr>
          <p:nvPr/>
        </p:nvCxnSpPr>
        <p:spPr bwMode="auto">
          <a:xfrm>
            <a:off x="3166081" y="1911388"/>
            <a:ext cx="61884" cy="42586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3541EC-5B34-C181-22E6-C628216CDEFA}"/>
              </a:ext>
            </a:extLst>
          </p:cNvPr>
          <p:cNvCxnSpPr>
            <a:cxnSpLocks/>
          </p:cNvCxnSpPr>
          <p:nvPr/>
        </p:nvCxnSpPr>
        <p:spPr bwMode="auto">
          <a:xfrm>
            <a:off x="7197241" y="2029342"/>
            <a:ext cx="0" cy="30291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0A767F-1CD4-6BDF-66AE-C954178E307B}"/>
              </a:ext>
            </a:extLst>
          </p:cNvPr>
          <p:cNvSpPr txBox="1"/>
          <p:nvPr/>
        </p:nvSpPr>
        <p:spPr>
          <a:xfrm>
            <a:off x="6852444" y="5550753"/>
            <a:ext cx="3366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A leaf function is a function that </a:t>
            </a:r>
          </a:p>
          <a:p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does not call any other function</a:t>
            </a:r>
          </a:p>
          <a:p>
            <a:endParaRPr lang="en-CN" dirty="0">
              <a:cs typeface="Courier New" panose="020703090202050204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CCAC79-6E6A-D9AA-101D-6A9A9128965F}"/>
              </a:ext>
            </a:extLst>
          </p:cNvPr>
          <p:cNvCxnSpPr>
            <a:cxnSpLocks/>
          </p:cNvCxnSpPr>
          <p:nvPr/>
        </p:nvCxnSpPr>
        <p:spPr>
          <a:xfrm>
            <a:off x="204354" y="84665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8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CE1A-2072-402F-DB6E-A354704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34" y="157902"/>
            <a:ext cx="10515600" cy="1046270"/>
          </a:xfrm>
        </p:spPr>
        <p:txBody>
          <a:bodyPr/>
          <a:lstStyle/>
          <a:p>
            <a:r>
              <a:rPr lang="en-US" b="1" dirty="0"/>
              <a:t>Register Spilling Format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4ED9E-077E-1F82-3CBC-1F37C6A6B944}"/>
              </a:ext>
            </a:extLst>
          </p:cNvPr>
          <p:cNvSpPr txBox="1"/>
          <p:nvPr/>
        </p:nvSpPr>
        <p:spPr>
          <a:xfrm>
            <a:off x="333234" y="1378424"/>
            <a:ext cx="5466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2800" dirty="0"/>
              <a:t>Saving and Restoring a Register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89BC5-15A7-EE30-DE74-F6E6973DD297}"/>
              </a:ext>
            </a:extLst>
          </p:cNvPr>
          <p:cNvSpPr txBox="1"/>
          <p:nvPr/>
        </p:nvSpPr>
        <p:spPr>
          <a:xfrm>
            <a:off x="955343" y="2442949"/>
            <a:ext cx="726352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-4    # Allocate 4 bytes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    # Save $t0 on stack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Reuse $t0 for another calculation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    # Restore original value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4     # Deallocate stack space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876FD-5C85-272D-CC41-93C8B5563E29}"/>
              </a:ext>
            </a:extLst>
          </p:cNvPr>
          <p:cNvSpPr txBox="1"/>
          <p:nvPr/>
        </p:nvSpPr>
        <p:spPr>
          <a:xfrm>
            <a:off x="235357" y="4956357"/>
            <a:ext cx="117212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200" dirty="0"/>
              <a:t>Key takeaway: Register spilling allows the CPU to reuse registers without permanently losing </a:t>
            </a:r>
          </a:p>
          <a:p>
            <a:r>
              <a:rPr lang="en-CN" sz="2200" dirty="0"/>
              <a:t>      values that will be needed later.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773E1-FA1B-F71B-CE67-81C46C66736B}"/>
              </a:ext>
            </a:extLst>
          </p:cNvPr>
          <p:cNvSpPr txBox="1"/>
          <p:nvPr/>
        </p:nvSpPr>
        <p:spPr>
          <a:xfrm>
            <a:off x="333234" y="5992437"/>
            <a:ext cx="11752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000" dirty="0"/>
              <a:t>Note that saving $ra in a non-leaf procedure preserves the return address; saving a temporary value to </a:t>
            </a:r>
          </a:p>
          <a:p>
            <a:r>
              <a:rPr lang="en-CN" sz="2000" dirty="0"/>
              <a:t>       free a register for reuse demonstrates register spilling.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97489F-1D50-9DBC-BDBC-1BCB63C859C5}"/>
              </a:ext>
            </a:extLst>
          </p:cNvPr>
          <p:cNvCxnSpPr>
            <a:cxnSpLocks/>
          </p:cNvCxnSpPr>
          <p:nvPr/>
        </p:nvCxnSpPr>
        <p:spPr>
          <a:xfrm>
            <a:off x="343417" y="1078666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45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1533-F122-058A-5408-522AE453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42" y="146762"/>
            <a:ext cx="10515600" cy="1054242"/>
          </a:xfrm>
        </p:spPr>
        <p:txBody>
          <a:bodyPr/>
          <a:lstStyle/>
          <a:p>
            <a:r>
              <a:rPr lang="en-CN" b="1" dirty="0"/>
              <a:t>Saving $ra vs. Register Spilling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8562BD-854F-B47F-623A-3B20A78775E8}"/>
              </a:ext>
            </a:extLst>
          </p:cNvPr>
          <p:cNvCxnSpPr>
            <a:cxnSpLocks/>
          </p:cNvCxnSpPr>
          <p:nvPr/>
        </p:nvCxnSpPr>
        <p:spPr>
          <a:xfrm>
            <a:off x="531901" y="996779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B99111-585F-DABE-D8CB-10EFB52A196A}"/>
              </a:ext>
            </a:extLst>
          </p:cNvPr>
          <p:cNvSpPr txBox="1"/>
          <p:nvPr/>
        </p:nvSpPr>
        <p:spPr>
          <a:xfrm>
            <a:off x="177421" y="1377316"/>
            <a:ext cx="4341894" cy="888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CN" dirty="0"/>
              <a:t>Saving $ra (Preserving Return Address)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DA538-CED5-406D-9792-D7DC9FCEC059}"/>
              </a:ext>
            </a:extLst>
          </p:cNvPr>
          <p:cNvSpPr txBox="1"/>
          <p:nvPr/>
        </p:nvSpPr>
        <p:spPr>
          <a:xfrm>
            <a:off x="627796" y="2266021"/>
            <a:ext cx="63887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Done in non-leaf procedures to preserve the return address.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Necessary because another jal overwrites $ra.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C0E013-1346-2194-FAA5-57C8CDD6E876}"/>
              </a:ext>
            </a:extLst>
          </p:cNvPr>
          <p:cNvSpPr txBox="1"/>
          <p:nvPr/>
        </p:nvSpPr>
        <p:spPr>
          <a:xfrm>
            <a:off x="177421" y="3429000"/>
            <a:ext cx="5195653" cy="1719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2. Register Spilling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# Save value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Reuse $t0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# Restore value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FE664-529A-A5E9-B0B4-F0543C7DCD15}"/>
              </a:ext>
            </a:extLst>
          </p:cNvPr>
          <p:cNvSpPr txBox="1"/>
          <p:nvPr/>
        </p:nvSpPr>
        <p:spPr>
          <a:xfrm>
            <a:off x="627796" y="5510909"/>
            <a:ext cx="52118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Done to free a register for another calculation.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Can occur in both leaf and non-leaf procedures.</a:t>
            </a:r>
          </a:p>
          <a:p>
            <a:endParaRPr lang="en-C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E0B6C77-F084-9E9C-BF05-2FA1284A5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09193"/>
              </p:ext>
            </p:extLst>
          </p:nvPr>
        </p:nvGraphicFramePr>
        <p:xfrm>
          <a:off x="5011774" y="3245563"/>
          <a:ext cx="7002805" cy="134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8769">
                  <a:extLst>
                    <a:ext uri="{9D8B030D-6E8A-4147-A177-3AD203B41FA5}">
                      <a16:colId xmlns:a16="http://schemas.microsoft.com/office/drawing/2014/main" val="2838251333"/>
                    </a:ext>
                  </a:extLst>
                </a:gridCol>
                <a:gridCol w="3744036">
                  <a:extLst>
                    <a:ext uri="{9D8B030D-6E8A-4147-A177-3AD203B41FA5}">
                      <a16:colId xmlns:a16="http://schemas.microsoft.com/office/drawing/2014/main" val="1647590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/>
                        <a:t>Saving $ra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b="1" dirty="0"/>
                        <a:t>Register Spilling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419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Preserves the return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Frees a register for reuse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053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Supports correct function returns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Supports register allocation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745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/>
                        <a:t>Common in non-leaf procedures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600" dirty="0"/>
                        <a:t>Possible in leaf and non-leaf procedures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0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47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33CD-063E-C69D-829D-5A323E8B6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98" y="136525"/>
            <a:ext cx="8259762" cy="769441"/>
          </a:xfrm>
        </p:spPr>
        <p:txBody>
          <a:bodyPr/>
          <a:lstStyle/>
          <a:p>
            <a:r>
              <a:rPr lang="en-US" b="1" dirty="0"/>
              <a:t>Register Spilling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463F3-17F8-4827-79D4-26E233419C0C}"/>
              </a:ext>
            </a:extLst>
          </p:cNvPr>
          <p:cNvSpPr txBox="1"/>
          <p:nvPr/>
        </p:nvSpPr>
        <p:spPr>
          <a:xfrm>
            <a:off x="6180764" y="1927768"/>
            <a:ext cx="6077305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C++ code idea (too many “live” variables at once)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f(int a, int b, int c, int d) {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int x = a + b;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int y = c + d;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int z = x * y;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return z + x;   // x is needed again later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A075A-A27E-07D7-E55A-A342B3CBE17E}"/>
              </a:ext>
            </a:extLst>
          </p:cNvPr>
          <p:cNvSpPr txBox="1"/>
          <p:nvPr/>
        </p:nvSpPr>
        <p:spPr>
          <a:xfrm>
            <a:off x="343417" y="1954390"/>
            <a:ext cx="611257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 in $a0, b in $a1, c in $a2, d in $a3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  $t0, $a0, $a1      # x = a + b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       # allocate space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spill x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  $t0, $a2, $a3      # y = c + d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$t1,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restore x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        # deallocate space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$t2, $t1, $t0      # z = x * 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  $v0, $t2, $t1      # return z + x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5F5045-E17D-CC91-D224-F35722DE9703}"/>
              </a:ext>
            </a:extLst>
          </p:cNvPr>
          <p:cNvCxnSpPr>
            <a:cxnSpLocks/>
          </p:cNvCxnSpPr>
          <p:nvPr/>
        </p:nvCxnSpPr>
        <p:spPr>
          <a:xfrm>
            <a:off x="7657836" y="4222006"/>
            <a:ext cx="0" cy="56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DAE06F-C91E-AEFB-BAC0-29BD76129705}"/>
              </a:ext>
            </a:extLst>
          </p:cNvPr>
          <p:cNvCxnSpPr>
            <a:cxnSpLocks/>
          </p:cNvCxnSpPr>
          <p:nvPr/>
        </p:nvCxnSpPr>
        <p:spPr>
          <a:xfrm>
            <a:off x="8669973" y="4222006"/>
            <a:ext cx="0" cy="56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429816-031C-672E-6241-B98245FC530C}"/>
              </a:ext>
            </a:extLst>
          </p:cNvPr>
          <p:cNvCxnSpPr>
            <a:cxnSpLocks/>
          </p:cNvCxnSpPr>
          <p:nvPr/>
        </p:nvCxnSpPr>
        <p:spPr>
          <a:xfrm flipH="1">
            <a:off x="7645902" y="4784252"/>
            <a:ext cx="10240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BA5D32-902D-5EB7-886C-342BA26E106D}"/>
              </a:ext>
            </a:extLst>
          </p:cNvPr>
          <p:cNvCxnSpPr>
            <a:cxnSpLocks/>
          </p:cNvCxnSpPr>
          <p:nvPr/>
        </p:nvCxnSpPr>
        <p:spPr>
          <a:xfrm>
            <a:off x="7624807" y="5632632"/>
            <a:ext cx="0" cy="702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D5255A-EFF3-B09A-BDA8-51DA0BB837B4}"/>
              </a:ext>
            </a:extLst>
          </p:cNvPr>
          <p:cNvCxnSpPr>
            <a:cxnSpLocks/>
          </p:cNvCxnSpPr>
          <p:nvPr/>
        </p:nvCxnSpPr>
        <p:spPr>
          <a:xfrm>
            <a:off x="8669973" y="5632632"/>
            <a:ext cx="0" cy="702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9C2076-3BFC-0DBB-DA7A-3D01B7278557}"/>
              </a:ext>
            </a:extLst>
          </p:cNvPr>
          <p:cNvCxnSpPr>
            <a:cxnSpLocks/>
          </p:cNvCxnSpPr>
          <p:nvPr/>
        </p:nvCxnSpPr>
        <p:spPr>
          <a:xfrm>
            <a:off x="7645902" y="6335113"/>
            <a:ext cx="10240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08A420-A59D-68DE-6B57-30E6BC1BE19E}"/>
              </a:ext>
            </a:extLst>
          </p:cNvPr>
          <p:cNvSpPr txBox="1"/>
          <p:nvPr/>
        </p:nvSpPr>
        <p:spPr>
          <a:xfrm>
            <a:off x="8003761" y="5855677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endParaRPr lang="en-CN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B4FF7-B72F-294F-4040-95CD196E49DD}"/>
              </a:ext>
            </a:extLst>
          </p:cNvPr>
          <p:cNvSpPr txBox="1"/>
          <p:nvPr/>
        </p:nvSpPr>
        <p:spPr>
          <a:xfrm>
            <a:off x="7659747" y="4742045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&lt;-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48FCC-FB7D-8BCA-78D4-6A20693AA718}"/>
              </a:ext>
            </a:extLst>
          </p:cNvPr>
          <p:cNvSpPr txBox="1"/>
          <p:nvPr/>
        </p:nvSpPr>
        <p:spPr>
          <a:xfrm>
            <a:off x="8691067" y="5855677"/>
            <a:ext cx="1425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&lt;- 0($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98B03-B02C-7DBE-FBA9-81B27F771733}"/>
              </a:ext>
            </a:extLst>
          </p:cNvPr>
          <p:cNvSpPr txBox="1"/>
          <p:nvPr/>
        </p:nvSpPr>
        <p:spPr>
          <a:xfrm>
            <a:off x="7529434" y="5309365"/>
            <a:ext cx="1191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spill:</a:t>
            </a:r>
          </a:p>
          <a:p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C7D3DC-A74C-10B0-BDE8-CC60123E1821}"/>
              </a:ext>
            </a:extLst>
          </p:cNvPr>
          <p:cNvSpPr txBox="1"/>
          <p:nvPr/>
        </p:nvSpPr>
        <p:spPr>
          <a:xfrm>
            <a:off x="7482401" y="3723896"/>
            <a:ext cx="136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spill:</a:t>
            </a:r>
          </a:p>
          <a:p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75970D-D459-9C53-18A0-2C50645D4983}"/>
              </a:ext>
            </a:extLst>
          </p:cNvPr>
          <p:cNvSpPr txBox="1"/>
          <p:nvPr/>
        </p:nvSpPr>
        <p:spPr>
          <a:xfrm>
            <a:off x="208498" y="985292"/>
            <a:ext cx="11464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many variables are alive at the same time, registers may not be sufficient. The compiler spills </a:t>
            </a:r>
          </a:p>
          <a:p>
            <a:r>
              <a:rPr lang="en-US" sz="2000" dirty="0"/>
              <a:t>       values to the stack.</a:t>
            </a:r>
            <a:endParaRPr lang="en-CN" sz="20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8952B2D-B07B-B23D-1431-7C5307D8F74B}"/>
              </a:ext>
            </a:extLst>
          </p:cNvPr>
          <p:cNvCxnSpPr>
            <a:cxnSpLocks/>
          </p:cNvCxnSpPr>
          <p:nvPr/>
        </p:nvCxnSpPr>
        <p:spPr>
          <a:xfrm>
            <a:off x="343417" y="832235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D5A24C-3BEB-467C-8B62-17312E22C848}"/>
              </a:ext>
            </a:extLst>
          </p:cNvPr>
          <p:cNvSpPr txBox="1"/>
          <p:nvPr/>
        </p:nvSpPr>
        <p:spPr>
          <a:xfrm>
            <a:off x="7604198" y="6375255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&lt;-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6636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BB87-61DD-34C4-4065-65CBE23D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57" y="-79854"/>
            <a:ext cx="10515600" cy="989542"/>
          </a:xfrm>
        </p:spPr>
        <p:txBody>
          <a:bodyPr/>
          <a:lstStyle/>
          <a:p>
            <a:r>
              <a:rPr lang="en-US" b="1" dirty="0"/>
              <a:t>Register Spilling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08D9-DB0B-879A-D241-08776A0B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80" y="909689"/>
            <a:ext cx="11819467" cy="1532298"/>
          </a:xfrm>
        </p:spPr>
        <p:txBody>
          <a:bodyPr>
            <a:normAutofit/>
          </a:bodyPr>
          <a:lstStyle/>
          <a:p>
            <a:r>
              <a:rPr lang="en-US" sz="2400" dirty="0"/>
              <a:t>Given inputs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2, b = 3, c = 4, d = 5, </a:t>
            </a:r>
            <a:r>
              <a:rPr lang="en-US" sz="2400" dirty="0"/>
              <a:t>write MIPS function f </a:t>
            </a:r>
          </a:p>
          <a:p>
            <a:pPr marL="0" indent="0">
              <a:buNone/>
            </a:pPr>
            <a:r>
              <a:rPr lang="en-US" sz="2400" dirty="0"/>
              <a:t>   that returns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 + b) (c + d) + (a + b) </a:t>
            </a:r>
            <a:r>
              <a:rPr lang="en-US" sz="2400" dirty="0"/>
              <a:t>and demonstrate register </a:t>
            </a:r>
          </a:p>
          <a:p>
            <a:pPr marL="0" indent="0">
              <a:buNone/>
            </a:pPr>
            <a:r>
              <a:rPr lang="en-US" sz="2400" dirty="0"/>
              <a:t>   spilling by saving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 = a + b </a:t>
            </a:r>
            <a:r>
              <a:rPr lang="en-US" sz="2400" dirty="0"/>
              <a:t>on the stack, reusing a register, then reloading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x.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ACFDE-0960-DFA7-0445-8177B1524F82}"/>
              </a:ext>
            </a:extLst>
          </p:cNvPr>
          <p:cNvSpPr txBox="1"/>
          <p:nvPr/>
        </p:nvSpPr>
        <p:spPr>
          <a:xfrm>
            <a:off x="6792001" y="3488942"/>
            <a:ext cx="50274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Requirement: demonstrate register spilling by</a:t>
            </a:r>
          </a:p>
          <a:p>
            <a:r>
              <a:rPr lang="en-US" dirty="0">
                <a:solidFill>
                  <a:srgbClr val="FF0000"/>
                </a:solidFill>
              </a:rPr>
              <a:t>(1) computing x = </a:t>
            </a:r>
            <a:r>
              <a:rPr lang="en-US" dirty="0" err="1">
                <a:solidFill>
                  <a:srgbClr val="FF0000"/>
                </a:solidFill>
              </a:rPr>
              <a:t>a+b</a:t>
            </a:r>
            <a:r>
              <a:rPr lang="en-US" dirty="0">
                <a:solidFill>
                  <a:srgbClr val="FF0000"/>
                </a:solidFill>
              </a:rPr>
              <a:t> into a temp register,</a:t>
            </a:r>
          </a:p>
          <a:p>
            <a:r>
              <a:rPr lang="en-US" dirty="0">
                <a:solidFill>
                  <a:srgbClr val="FF0000"/>
                </a:solidFill>
              </a:rPr>
              <a:t>(2) saving x on the stack using $</a:t>
            </a:r>
            <a:r>
              <a:rPr lang="en-US" dirty="0" err="1">
                <a:solidFill>
                  <a:srgbClr val="FF0000"/>
                </a:solidFill>
              </a:rPr>
              <a:t>sp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</a:rPr>
              <a:t>(3) reusing that temp register to compute y = </a:t>
            </a:r>
            <a:r>
              <a:rPr lang="en-US" dirty="0" err="1">
                <a:solidFill>
                  <a:srgbClr val="FF0000"/>
                </a:solidFill>
              </a:rPr>
              <a:t>c+d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</a:rPr>
              <a:t>(4) reloading x from the stack,</a:t>
            </a:r>
          </a:p>
          <a:p>
            <a:r>
              <a:rPr lang="en-US" dirty="0">
                <a:solidFill>
                  <a:srgbClr val="FF0000"/>
                </a:solidFill>
              </a:rPr>
              <a:t>(5) finishing z = x*y and return z + x.</a:t>
            </a:r>
          </a:p>
          <a:p>
            <a:endParaRPr lang="en-C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51F328-0BE4-E55E-7DE8-05E6362A81A1}"/>
              </a:ext>
            </a:extLst>
          </p:cNvPr>
          <p:cNvCxnSpPr>
            <a:cxnSpLocks/>
          </p:cNvCxnSpPr>
          <p:nvPr/>
        </p:nvCxnSpPr>
        <p:spPr>
          <a:xfrm>
            <a:off x="262180" y="708125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B1E8F4A-CEAD-3DC6-9A6C-F9E3F93DFCEC}"/>
              </a:ext>
            </a:extLst>
          </p:cNvPr>
          <p:cNvSpPr txBox="1"/>
          <p:nvPr/>
        </p:nvSpPr>
        <p:spPr>
          <a:xfrm>
            <a:off x="509606" y="2441987"/>
            <a:ext cx="51378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f(int a, int b, int c, int 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x = a + b;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y = c + d;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z = x * y;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z + x;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f(2, 3, 4, 5);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result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950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C10F-67D6-C31A-BFCD-1A9087939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55035"/>
            <a:ext cx="10515600" cy="946452"/>
          </a:xfrm>
        </p:spPr>
        <p:txBody>
          <a:bodyPr/>
          <a:lstStyle/>
          <a:p>
            <a:r>
              <a:rPr lang="en-US" b="1" dirty="0"/>
              <a:t>Register Spilling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2A045-3F59-82FA-64B0-4606F2D3BAB6}"/>
              </a:ext>
            </a:extLst>
          </p:cNvPr>
          <p:cNvSpPr txBox="1"/>
          <p:nvPr/>
        </p:nvSpPr>
        <p:spPr>
          <a:xfrm>
            <a:off x="5844435" y="190431"/>
            <a:ext cx="2654894" cy="6124754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newline: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asciiz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"\n"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 $a0, 2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 $a1, 3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 $a2, 4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 $a3, 5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#print value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move $a0, $v0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li $v0,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#print newline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la $a0, newline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li $v0,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#exit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li $v0,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/>
          </a:p>
          <a:p>
            <a:br>
              <a:rPr lang="en-US" sz="1400" dirty="0"/>
            </a:br>
            <a:r>
              <a:rPr lang="en-US" sz="1400" dirty="0"/>
              <a:t>	</a:t>
            </a:r>
            <a:endParaRPr lang="en-C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DA113-78CD-69C8-3580-57D91D507A77}"/>
              </a:ext>
            </a:extLst>
          </p:cNvPr>
          <p:cNvSpPr txBox="1"/>
          <p:nvPr/>
        </p:nvSpPr>
        <p:spPr>
          <a:xfrm>
            <a:off x="4288971" y="1698171"/>
            <a:ext cx="1847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784962-CA32-10EA-0B5D-B1A460212DAD}"/>
              </a:ext>
            </a:extLst>
          </p:cNvPr>
          <p:cNvSpPr txBox="1"/>
          <p:nvPr/>
        </p:nvSpPr>
        <p:spPr>
          <a:xfrm>
            <a:off x="8250059" y="176339"/>
            <a:ext cx="3868367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f: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add $t0, $a1, $a0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-4 #make space</a:t>
            </a: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#save x</a:t>
            </a:r>
          </a:p>
          <a:p>
            <a:pPr lvl="1"/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#reuse $t0, for y = c + d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add $t0, $a2, $a3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#reload x (restore)</a:t>
            </a: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$t1,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#t1 =x</a:t>
            </a: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 #pop space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#z = x * y</a:t>
            </a: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$t2, $t1, $t0 #$t2 = x*y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#return z + x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add $v0, $t2, $t1 #$v0 = z +x</a:t>
            </a:r>
          </a:p>
          <a:p>
            <a:pPr lvl="1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08C48-0E55-2352-6985-3DEF19932399}"/>
              </a:ext>
            </a:extLst>
          </p:cNvPr>
          <p:cNvSpPr txBox="1"/>
          <p:nvPr/>
        </p:nvSpPr>
        <p:spPr>
          <a:xfrm>
            <a:off x="174172" y="722455"/>
            <a:ext cx="4545027" cy="2129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Occurs when registers are insufficient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Compiler saves value to stack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Later reloads value when needed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Stack acts as temporary overflow storage</a:t>
            </a:r>
            <a:endParaRPr lang="en-C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813809-6344-FE4E-5567-0ACC8A792B66}"/>
              </a:ext>
            </a:extLst>
          </p:cNvPr>
          <p:cNvCxnSpPr>
            <a:cxnSpLocks/>
          </p:cNvCxnSpPr>
          <p:nvPr/>
        </p:nvCxnSpPr>
        <p:spPr>
          <a:xfrm>
            <a:off x="174172" y="926239"/>
            <a:ext cx="42995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1EFEE7-2B26-77A6-1BA6-6968BDFFFB4C}"/>
              </a:ext>
            </a:extLst>
          </p:cNvPr>
          <p:cNvSpPr txBox="1"/>
          <p:nvPr/>
        </p:nvSpPr>
        <p:spPr>
          <a:xfrm>
            <a:off x="174172" y="3461701"/>
            <a:ext cx="6725111" cy="3431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Given inputs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= 2, b = 3, c = 4, d = 5, </a:t>
            </a:r>
            <a:r>
              <a:rPr lang="en-US" dirty="0"/>
              <a:t>write MIPS function f </a:t>
            </a:r>
          </a:p>
          <a:p>
            <a:pPr>
              <a:lnSpc>
                <a:spcPct val="150000"/>
              </a:lnSpc>
            </a:pPr>
            <a:r>
              <a:rPr lang="en-US" dirty="0"/>
              <a:t>that returns </a:t>
            </a:r>
            <a:r>
              <a:rPr lang="en-US" sz="1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 + b) (c + d) + (a + b) </a:t>
            </a:r>
            <a:r>
              <a:rPr lang="en-US" dirty="0"/>
              <a:t>and demonstrate register </a:t>
            </a:r>
          </a:p>
          <a:p>
            <a:pPr>
              <a:lnSpc>
                <a:spcPct val="150000"/>
              </a:lnSpc>
            </a:pPr>
            <a:r>
              <a:rPr lang="en-US" dirty="0"/>
              <a:t>spilling by saving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 = a + b </a:t>
            </a:r>
            <a:r>
              <a:rPr lang="en-US" dirty="0"/>
              <a:t>on the stack, reusing a register, </a:t>
            </a:r>
          </a:p>
          <a:p>
            <a:pPr>
              <a:lnSpc>
                <a:spcPct val="150000"/>
              </a:lnSpc>
            </a:pPr>
            <a:r>
              <a:rPr lang="en-US" dirty="0"/>
              <a:t>then reloading x.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 = a + b;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y = c + d;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z = x * y;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z + x;  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D6926-9E64-6CDC-9C33-148620E152A7}"/>
              </a:ext>
            </a:extLst>
          </p:cNvPr>
          <p:cNvSpPr txBox="1"/>
          <p:nvPr/>
        </p:nvSpPr>
        <p:spPr>
          <a:xfrm>
            <a:off x="2263518" y="5011341"/>
            <a:ext cx="4572149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Requirement: demonstrate register spilling by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(1) computing x = a + b into a temp register,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(2) saving x on the stack using $</a:t>
            </a:r>
            <a:r>
              <a:rPr lang="en-US" sz="1600" dirty="0" err="1">
                <a:solidFill>
                  <a:srgbClr val="FF0000"/>
                </a:solidFill>
              </a:rPr>
              <a:t>sp</a:t>
            </a:r>
            <a:r>
              <a:rPr lang="en-US" sz="1600" dirty="0">
                <a:solidFill>
                  <a:srgbClr val="FF0000"/>
                </a:solidFill>
              </a:rPr>
              <a:t>,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(3) reusing that temp register to compute y = c + d,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(4) reloading x from the stack,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(5) finishing z = x * y and return z + x.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2757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5EDE-370D-951B-0DBD-CF3D74F3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4" y="19679"/>
            <a:ext cx="10515600" cy="912496"/>
          </a:xfrm>
        </p:spPr>
        <p:txBody>
          <a:bodyPr/>
          <a:lstStyle/>
          <a:p>
            <a:r>
              <a:rPr lang="en-CN" b="1" dirty="0"/>
              <a:t>In Class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403425-29F9-10C9-1384-EF216E4CFBBB}"/>
                  </a:ext>
                </a:extLst>
              </p:cNvPr>
              <p:cNvSpPr txBox="1"/>
              <p:nvPr/>
            </p:nvSpPr>
            <p:spPr>
              <a:xfrm>
                <a:off x="351598" y="932175"/>
                <a:ext cx="5662191" cy="5632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Implement using MIPS Assembly using the test values: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Compute: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=2+3=5</m:t>
                      </m:r>
                    </m:oMath>
                  </m:oMathPara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=4+5=9</m:t>
                      </m:r>
                    </m:oMath>
                  </m:oMathPara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9=45</m:t>
                    </m:r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=6+7=13</m:t>
                      </m:r>
                    </m:oMath>
                  </m:oMathPara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=8+9+17</m:t>
                      </m:r>
                    </m:oMath>
                  </m:oMathPara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 ×17=221</m:t>
                    </m:r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Return: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=45+221=266</m:t>
                      </m:r>
                    </m:oMath>
                  </m:oMathPara>
                </a14:m>
                <a:endParaRPr lang="en-US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403425-29F9-10C9-1384-EF216E4CF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98" y="932175"/>
                <a:ext cx="5662191" cy="5632311"/>
              </a:xfrm>
              <a:prstGeom prst="rect">
                <a:avLst/>
              </a:prstGeom>
              <a:blipFill>
                <a:blip r:embed="rId2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58AFCC-0E50-4D3C-A422-C295A879026F}"/>
              </a:ext>
            </a:extLst>
          </p:cNvPr>
          <p:cNvCxnSpPr>
            <a:cxnSpLocks/>
          </p:cNvCxnSpPr>
          <p:nvPr/>
        </p:nvCxnSpPr>
        <p:spPr>
          <a:xfrm>
            <a:off x="137444" y="789506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BCDA33-D03F-C928-71F3-87ED7E9C0F03}"/>
              </a:ext>
            </a:extLst>
          </p:cNvPr>
          <p:cNvSpPr txBox="1"/>
          <p:nvPr/>
        </p:nvSpPr>
        <p:spPr>
          <a:xfrm>
            <a:off x="6412541" y="1901670"/>
            <a:ext cx="583685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calculate(int a, int b, int c, int d,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int e, int f, int g, int h)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x = a + b;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y = c + d;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p = x * y;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u = e + f;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v = g + h;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q = u * v;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p + q;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3C7AB-DD18-BF93-4817-0F5E1680BE2F}"/>
              </a:ext>
            </a:extLst>
          </p:cNvPr>
          <p:cNvSpPr txBox="1"/>
          <p:nvPr/>
        </p:nvSpPr>
        <p:spPr>
          <a:xfrm>
            <a:off x="6412541" y="1559334"/>
            <a:ext cx="125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C++ CODE</a:t>
            </a:r>
          </a:p>
        </p:txBody>
      </p:sp>
    </p:spTree>
    <p:extLst>
      <p:ext uri="{BB962C8B-B14F-4D97-AF65-F5344CB8AC3E}">
        <p14:creationId xmlns:p14="http://schemas.microsoft.com/office/powerpoint/2010/main" val="2076234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F05B-0C92-A0BB-06CE-BFEF6031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82"/>
            <a:ext cx="10811933" cy="745971"/>
          </a:xfrm>
        </p:spPr>
        <p:txBody>
          <a:bodyPr>
            <a:normAutofit/>
          </a:bodyPr>
          <a:lstStyle/>
          <a:p>
            <a:r>
              <a:rPr lang="en-US" b="1" dirty="0"/>
              <a:t>Non-Leaf Procedure and Register Spilling 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A2A1F-3181-939B-1435-CD65AA404A6B}"/>
                  </a:ext>
                </a:extLst>
              </p:cNvPr>
              <p:cNvSpPr txBox="1"/>
              <p:nvPr/>
            </p:nvSpPr>
            <p:spPr>
              <a:xfrm>
                <a:off x="279400" y="1299908"/>
                <a:ext cx="9657195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Assume the following values are passed to a function f using standard MIPS calling conventions:</a:t>
                </a:r>
              </a:p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= 2, b = 3, c = 4, d = 5</a:t>
                </a:r>
              </a:p>
              <a:p>
                <a:r>
                  <a:rPr lang="en-US" dirty="0"/>
                  <a:t>Write a MIPS procedure f that computes and returns:</a:t>
                </a:r>
              </a:p>
              <a:p>
                <a:endParaRPr lang="en-US" dirty="0"/>
              </a:p>
              <a:p>
                <a:r>
                  <a:rPr lang="en-US" dirty="0"/>
                  <a:t>	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(a + b)(c + d) + (a + b)</a:t>
                </a:r>
              </a:p>
              <a:p>
                <a:endParaRPr lang="en-US" dirty="0"/>
              </a:p>
              <a:p>
                <a:r>
                  <a:rPr lang="en-US" dirty="0"/>
                  <a:t>The procedure must call another procedure g to compute the multiplication.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helper procedure g should compute:</a:t>
                </a:r>
              </a:p>
              <a:p>
                <a:endParaRPr lang="en-US" dirty="0"/>
              </a:p>
              <a:p>
                <a:r>
                  <a:rPr lang="en-US" dirty="0"/>
                  <a:t>	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g(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x,y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= 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y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A2A1F-3181-939B-1435-CD65AA404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1299908"/>
                <a:ext cx="9657195" cy="3970318"/>
              </a:xfrm>
              <a:prstGeom prst="rect">
                <a:avLst/>
              </a:prstGeom>
              <a:blipFill>
                <a:blip r:embed="rId2"/>
                <a:stretch>
                  <a:fillRect l="-657" t="-63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C0B4CE-C9F0-4CC6-20BD-F1D9A77A3766}"/>
                  </a:ext>
                </a:extLst>
              </p:cNvPr>
              <p:cNvSpPr txBox="1"/>
              <p:nvPr/>
            </p:nvSpPr>
            <p:spPr>
              <a:xfrm>
                <a:off x="4524836" y="3505200"/>
                <a:ext cx="7667164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Requirements</a:t>
                </a:r>
              </a:p>
              <a:p>
                <a:pPr lvl="1"/>
                <a:r>
                  <a:rPr lang="en-US" dirty="0"/>
                  <a:t>Use registers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$a0–$a3 </a:t>
                </a:r>
                <a:r>
                  <a:rPr lang="en-US" dirty="0"/>
                  <a:t>for inputs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$v0 </a:t>
                </a:r>
                <a:r>
                  <a:rPr lang="en-US" dirty="0"/>
                  <a:t>for the return value.</a:t>
                </a:r>
              </a:p>
              <a:p>
                <a:pPr lvl="1"/>
                <a:r>
                  <a:rPr lang="en-US" dirty="0"/>
                  <a:t>Compute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 = a + b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= c + d</a:t>
                </a:r>
              </a:p>
              <a:p>
                <a:pPr lvl="1"/>
                <a:r>
                  <a:rPr lang="en-US" dirty="0"/>
                  <a:t>Demonstrate register spilling by:</a:t>
                </a:r>
              </a:p>
              <a:p>
                <a:pPr lvl="1"/>
                <a:r>
                  <a:rPr lang="en-US" dirty="0"/>
                  <a:t>saving x on the stack</a:t>
                </a:r>
              </a:p>
              <a:p>
                <a:pPr lvl="1"/>
                <a:r>
                  <a:rPr lang="en-US" dirty="0"/>
                  <a:t>reusing a temporary register</a:t>
                </a:r>
              </a:p>
              <a:p>
                <a:pPr lvl="1"/>
                <a:r>
                  <a:rPr lang="en-US" dirty="0"/>
                  <a:t>restoring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 </a:t>
                </a:r>
                <a:r>
                  <a:rPr lang="en-US" dirty="0"/>
                  <a:t>later from memory.</a:t>
                </a:r>
              </a:p>
              <a:p>
                <a:pPr lvl="1"/>
                <a:r>
                  <a:rPr lang="en-US" dirty="0"/>
                  <a:t>Since f calls another procedure, it must correctly save and restore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$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ra.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/>
                  <a:t>The final result returned 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$v0 </a:t>
                </a:r>
                <a:r>
                  <a:rPr lang="en-US" dirty="0"/>
                  <a:t>should be: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y) + x</a:t>
                </a:r>
              </a:p>
              <a:p>
                <a:pPr lvl="1"/>
                <a:endParaRPr lang="en-US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C0B4CE-C9F0-4CC6-20BD-F1D9A77A3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836" y="3505200"/>
                <a:ext cx="7667164" cy="3693319"/>
              </a:xfrm>
              <a:prstGeom prst="rect">
                <a:avLst/>
              </a:prstGeom>
              <a:blipFill>
                <a:blip r:embed="rId3"/>
                <a:stretch>
                  <a:fillRect l="-496" t="-687" r="-4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5950D54-D966-E8F7-E838-E344D4A8FDE1}"/>
              </a:ext>
            </a:extLst>
          </p:cNvPr>
          <p:cNvSpPr txBox="1"/>
          <p:nvPr/>
        </p:nvSpPr>
        <p:spPr>
          <a:xfrm>
            <a:off x="9242370" y="4191000"/>
            <a:ext cx="21791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Expected Result</a:t>
            </a:r>
          </a:p>
          <a:p>
            <a:r>
              <a:rPr lang="en-US" dirty="0">
                <a:solidFill>
                  <a:srgbClr val="FF0000"/>
                </a:solidFill>
              </a:rPr>
              <a:t>For the given inputs:</a:t>
            </a:r>
          </a:p>
          <a:p>
            <a:r>
              <a:rPr lang="en-US" dirty="0">
                <a:solidFill>
                  <a:srgbClr val="FF0000"/>
                </a:solidFill>
              </a:rPr>
              <a:t>x = 5</a:t>
            </a:r>
          </a:p>
          <a:p>
            <a:r>
              <a:rPr lang="en-US" dirty="0">
                <a:solidFill>
                  <a:srgbClr val="FF0000"/>
                </a:solidFill>
              </a:rPr>
              <a:t>y = 9</a:t>
            </a:r>
          </a:p>
          <a:p>
            <a:r>
              <a:rPr lang="en-US" dirty="0">
                <a:solidFill>
                  <a:srgbClr val="FF0000"/>
                </a:solidFill>
              </a:rPr>
              <a:t>z = x*y = 45</a:t>
            </a:r>
          </a:p>
          <a:p>
            <a:r>
              <a:rPr lang="en-US" dirty="0">
                <a:solidFill>
                  <a:srgbClr val="FF0000"/>
                </a:solidFill>
              </a:rPr>
              <a:t>return = z + x = 50</a:t>
            </a:r>
            <a:endParaRPr lang="en-CN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8738E5-5C8D-393F-DD19-D36DC6C1A437}"/>
              </a:ext>
            </a:extLst>
          </p:cNvPr>
          <p:cNvCxnSpPr>
            <a:cxnSpLocks/>
          </p:cNvCxnSpPr>
          <p:nvPr/>
        </p:nvCxnSpPr>
        <p:spPr>
          <a:xfrm>
            <a:off x="154377" y="848773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016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87BE-D0F9-7D83-26A6-06BFAA9C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9" y="0"/>
            <a:ext cx="10515600" cy="917765"/>
          </a:xfrm>
        </p:spPr>
        <p:txBody>
          <a:bodyPr/>
          <a:lstStyle/>
          <a:p>
            <a:r>
              <a:rPr lang="en-US" b="1" dirty="0"/>
              <a:t>Non-Leaf Procedure and Register Spilling 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3F411-6EA6-D3C4-4B6E-488E3EF392CC}"/>
              </a:ext>
            </a:extLst>
          </p:cNvPr>
          <p:cNvSpPr txBox="1"/>
          <p:nvPr/>
        </p:nvSpPr>
        <p:spPr>
          <a:xfrm>
            <a:off x="1506941" y="733246"/>
            <a:ext cx="533992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Leaf function: performs multiplication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g(int x, int y)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x * 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Non-leaf function: calls another function (g)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f(int a, int b, int c, int 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x = a + b;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y = c + 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z = g(x, y);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z + x;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f(2, 3, 4, 5);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result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5B028-2D9D-5CB4-65CA-852361CA3551}"/>
              </a:ext>
            </a:extLst>
          </p:cNvPr>
          <p:cNvSpPr txBox="1"/>
          <p:nvPr/>
        </p:nvSpPr>
        <p:spPr>
          <a:xfrm>
            <a:off x="0" y="733099"/>
            <a:ext cx="131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C++ CODE:</a:t>
            </a:r>
          </a:p>
        </p:txBody>
      </p:sp>
    </p:spTree>
    <p:extLst>
      <p:ext uri="{BB962C8B-B14F-4D97-AF65-F5344CB8AC3E}">
        <p14:creationId xmlns:p14="http://schemas.microsoft.com/office/powerpoint/2010/main" val="287597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67B0-4A27-3F50-A104-6CE4C527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4" y="136526"/>
            <a:ext cx="10515600" cy="811742"/>
          </a:xfrm>
        </p:spPr>
        <p:txBody>
          <a:bodyPr/>
          <a:lstStyle/>
          <a:p>
            <a:r>
              <a:rPr lang="en-US" b="1" dirty="0"/>
              <a:t>Non-Leaf Procedure and Register Spilling 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6D117-B6AB-5069-089D-5BC2CB137CA2}"/>
              </a:ext>
            </a:extLst>
          </p:cNvPr>
          <p:cNvSpPr txBox="1"/>
          <p:nvPr/>
        </p:nvSpPr>
        <p:spPr>
          <a:xfrm>
            <a:off x="1382315" y="848773"/>
            <a:ext cx="3270447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newline: 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asciiz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"\n"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$a0,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$a1,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$a2, 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$a3,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print result in $v0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move $a0, $v0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  $v0,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newline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la   $a0, newline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  $v0, 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exit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686CA-47F7-8DC8-7046-6B61E13C3DDF}"/>
              </a:ext>
            </a:extLst>
          </p:cNvPr>
          <p:cNvSpPr txBox="1"/>
          <p:nvPr/>
        </p:nvSpPr>
        <p:spPr>
          <a:xfrm>
            <a:off x="5434533" y="622222"/>
            <a:ext cx="6603090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-8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4($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save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add   $t0, $a0, $a1      # x = a + b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spill x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add   $t0, $a2, $a3      # y = c + d (reuse $t0)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$a0, 0($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a0 =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move  $a1, $t0           # a1 = y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g                  # v0 = x*y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$t1, 0($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reload x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add   $v0, $v0, $t1      # v0 = x*y + x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4($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# restore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g(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= x*y (leaf)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$v0, $a0, $a1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sz="1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AE676-5C7D-24D0-149C-1F85FC72E453}"/>
              </a:ext>
            </a:extLst>
          </p:cNvPr>
          <p:cNvCxnSpPr>
            <a:cxnSpLocks/>
          </p:cNvCxnSpPr>
          <p:nvPr/>
        </p:nvCxnSpPr>
        <p:spPr>
          <a:xfrm>
            <a:off x="154377" y="848773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63DC6C-670F-C862-A786-618C3ED545A1}"/>
              </a:ext>
            </a:extLst>
          </p:cNvPr>
          <p:cNvSpPr txBox="1"/>
          <p:nvPr/>
        </p:nvSpPr>
        <p:spPr>
          <a:xfrm>
            <a:off x="-33907" y="890659"/>
            <a:ext cx="1416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MIPS CODE:</a:t>
            </a:r>
          </a:p>
        </p:txBody>
      </p:sp>
    </p:spTree>
    <p:extLst>
      <p:ext uri="{BB962C8B-B14F-4D97-AF65-F5344CB8AC3E}">
        <p14:creationId xmlns:p14="http://schemas.microsoft.com/office/powerpoint/2010/main" val="763369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712B3-F7B8-D23F-0C7B-E6409D4F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E65-DAA1-AFC6-F588-7C3574DC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3" y="19679"/>
            <a:ext cx="11917113" cy="912496"/>
          </a:xfrm>
        </p:spPr>
        <p:txBody>
          <a:bodyPr>
            <a:normAutofit/>
          </a:bodyPr>
          <a:lstStyle/>
          <a:p>
            <a:r>
              <a:rPr lang="en-CN" sz="3600" b="1" dirty="0"/>
              <a:t>In Class Task: </a:t>
            </a:r>
            <a:r>
              <a:rPr lang="en-CN" sz="3600" dirty="0"/>
              <a:t>Register Spilling in a Non-Leaf MIPS Procedure</a:t>
            </a:r>
            <a:endParaRPr lang="en-CN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D5BC9-1EC0-CA92-B2AB-0C29D770AD84}"/>
              </a:ext>
            </a:extLst>
          </p:cNvPr>
          <p:cNvSpPr txBox="1"/>
          <p:nvPr/>
        </p:nvSpPr>
        <p:spPr>
          <a:xfrm>
            <a:off x="137442" y="922654"/>
            <a:ext cx="7167411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Given C++ Program</a:t>
            </a:r>
          </a:p>
          <a:p>
            <a:r>
              <a:rPr lang="en-CN" dirty="0"/>
              <a:t>Translate the following C++ program into MIPS assembly using QtSPIM.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Leaf function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multiply(int x, int y)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x * y;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Non-leaf function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calculate(int a, int b, int c, int d)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x = a + b;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y = c + d;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z = multiply(x, y);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z - x;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calculate(3, 5, 4, 6);</a:t>
            </a:r>
          </a:p>
          <a:p>
            <a:pPr lvl="1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result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818F30-CA9C-CB50-5604-95B582F27254}"/>
              </a:ext>
            </a:extLst>
          </p:cNvPr>
          <p:cNvCxnSpPr>
            <a:cxnSpLocks/>
          </p:cNvCxnSpPr>
          <p:nvPr/>
        </p:nvCxnSpPr>
        <p:spPr>
          <a:xfrm>
            <a:off x="137444" y="789506"/>
            <a:ext cx="6275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EA8A05-9B3C-4B72-81DE-5C1D63556043}"/>
              </a:ext>
            </a:extLst>
          </p:cNvPr>
          <p:cNvSpPr txBox="1"/>
          <p:nvPr/>
        </p:nvSpPr>
        <p:spPr>
          <a:xfrm>
            <a:off x="10617798" y="32703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9193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66E0-C2F8-C327-012D-1C64BBB7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28" y="133114"/>
            <a:ext cx="11928143" cy="849526"/>
          </a:xfrm>
        </p:spPr>
        <p:txBody>
          <a:bodyPr>
            <a:normAutofit/>
          </a:bodyPr>
          <a:lstStyle/>
          <a:p>
            <a:r>
              <a:rPr lang="en-CN" sz="3600" b="1" dirty="0"/>
              <a:t>In Class Task: </a:t>
            </a:r>
            <a:r>
              <a:rPr lang="en-CN" sz="3600" dirty="0"/>
              <a:t>Register Spilling in a Non-Leaf MIPS Procedure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AD84E-313F-D9F0-638B-B7F0B07C5BAF}"/>
              </a:ext>
            </a:extLst>
          </p:cNvPr>
          <p:cNvSpPr txBox="1"/>
          <p:nvPr/>
        </p:nvSpPr>
        <p:spPr>
          <a:xfrm>
            <a:off x="241110" y="750627"/>
            <a:ext cx="12084783" cy="4622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dirty="0"/>
              <a:t>Requirements</a:t>
            </a:r>
          </a:p>
          <a:p>
            <a:pPr>
              <a:lnSpc>
                <a:spcPct val="150000"/>
              </a:lnSpc>
            </a:pPr>
            <a:r>
              <a:rPr lang="en-CN" dirty="0"/>
              <a:t>Your MIPS program must: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Pass arguments: Use $a0–$a3 to pass the four arguments to calculate.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Compute x: Calculate x = a + b using a temporary register.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Demonstrate register spilling: Save x on the stack using $sp and sw, then reuse the same temporary register 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        to calculate y = c + 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Implement a non-leaf procedure: calculate must call multiply using jal and correctly preserve its return address ($ra).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Implement a leaf procedure: multiply must multiply its two arguments and return the result in $v0.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Restore saved values: Reload x from the stack using lw after multiply returns, and restore $ra and $sp </a:t>
            </a:r>
          </a:p>
          <a:p>
            <a:pPr lvl="0">
              <a:lnSpc>
                <a:spcPct val="150000"/>
              </a:lnSpc>
            </a:pPr>
            <a:r>
              <a:rPr lang="en-CN" dirty="0"/>
              <a:t>       before returning to main.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Print the result: Display the final result in the QtSPIM console.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FA0BC0-3817-D212-67CF-1E3DC31D25CF}"/>
                  </a:ext>
                </a:extLst>
              </p:cNvPr>
              <p:cNvSpPr txBox="1"/>
              <p:nvPr/>
            </p:nvSpPr>
            <p:spPr>
              <a:xfrm>
                <a:off x="7956644" y="4479848"/>
                <a:ext cx="3497881" cy="2378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>
                    <a:solidFill>
                      <a:srgbClr val="FF0000"/>
                    </a:solidFill>
                  </a:rPr>
                  <a:t>Expected Output</a:t>
                </a:r>
              </a:p>
              <a:p>
                <a:r>
                  <a:rPr lang="en-CN" dirty="0">
                    <a:solidFill>
                      <a:srgbClr val="FF0000"/>
                    </a:solidFill>
                  </a:rPr>
                  <a:t>Given: </a:t>
                </a:r>
                <a:endParaRPr lang="en-CN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=3, </m:t>
                      </m:r>
                      <m:r>
                        <a:rPr lang="en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=5, </m:t>
                      </m:r>
                      <m:r>
                        <a:rPr lang="en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=4, </m:t>
                      </m:r>
                      <m:r>
                        <a:rPr lang="en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  <a:p>
                <a:r>
                  <a:rPr lang="en-CN" dirty="0">
                    <a:solidFill>
                      <a:srgbClr val="FF0000"/>
                    </a:solidFill>
                  </a:rPr>
                  <a:t>The calculations are:</a:t>
                </a:r>
                <a:endParaRPr lang="en-CN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=3+5=8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=4+6=10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=8×10=80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CN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result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N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=80−8=</m:t>
                      </m:r>
                      <m:borderBox>
                        <m:borderBoxPr>
                          <m:ctrlPr>
                            <a:rPr lang="en-CN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CN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borderBox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FA0BC0-3817-D212-67CF-1E3DC31D2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44" y="4479848"/>
                <a:ext cx="3497881" cy="2378152"/>
              </a:xfrm>
              <a:prstGeom prst="rect">
                <a:avLst/>
              </a:prstGeom>
              <a:blipFill>
                <a:blip r:embed="rId2"/>
                <a:stretch>
                  <a:fillRect l="-1449" t="-106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72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2672</Words>
  <Application>Microsoft Macintosh PowerPoint</Application>
  <PresentationFormat>Widescreen</PresentationFormat>
  <Paragraphs>425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Courier New</vt:lpstr>
      <vt:lpstr>Office Theme</vt:lpstr>
      <vt:lpstr>Computer Organization &amp; Assembly Language</vt:lpstr>
      <vt:lpstr>Register Spilling in MIPS</vt:lpstr>
      <vt:lpstr>Quick Check: Leaf vs. Non-Leaf Function</vt:lpstr>
      <vt:lpstr>Quick Check: Stack Pointer ($sp)</vt:lpstr>
      <vt:lpstr>Stack Pointer ($sp)</vt:lpstr>
      <vt:lpstr>Register Spilling Format</vt:lpstr>
      <vt:lpstr>Saving $ra vs. Register Spilling</vt:lpstr>
      <vt:lpstr>Register Spilling</vt:lpstr>
      <vt:lpstr>Register Spilling</vt:lpstr>
      <vt:lpstr>Register Spilling</vt:lpstr>
      <vt:lpstr>In Class Task</vt:lpstr>
      <vt:lpstr>Non-Leaf Procedure and Register Spilling </vt:lpstr>
      <vt:lpstr>Non-Leaf Procedure and Register Spilling </vt:lpstr>
      <vt:lpstr>Non-Leaf Procedure and Register Spilling </vt:lpstr>
      <vt:lpstr>In Class Task: Register Spilling in a Non-Leaf MIPS Procedure</vt:lpstr>
      <vt:lpstr>In Class Task: Register Spilling in a Non-Leaf MIPS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29</cp:revision>
  <dcterms:created xsi:type="dcterms:W3CDTF">2026-02-19T02:58:07Z</dcterms:created>
  <dcterms:modified xsi:type="dcterms:W3CDTF">2026-10-12T16:01:23Z</dcterms:modified>
</cp:coreProperties>
</file>