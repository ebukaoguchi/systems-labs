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67" r:id="rId2"/>
    <p:sldId id="264" r:id="rId3"/>
    <p:sldId id="265" r:id="rId4"/>
    <p:sldId id="390" r:id="rId5"/>
    <p:sldId id="411" r:id="rId6"/>
    <p:sldId id="393" r:id="rId7"/>
    <p:sldId id="412" r:id="rId8"/>
    <p:sldId id="413" r:id="rId9"/>
    <p:sldId id="416" r:id="rId10"/>
    <p:sldId id="420" r:id="rId11"/>
    <p:sldId id="402" r:id="rId12"/>
    <p:sldId id="414" r:id="rId13"/>
    <p:sldId id="415" r:id="rId14"/>
    <p:sldId id="401" r:id="rId15"/>
    <p:sldId id="403" r:id="rId16"/>
    <p:sldId id="394" r:id="rId17"/>
    <p:sldId id="417" r:id="rId18"/>
    <p:sldId id="418" r:id="rId19"/>
    <p:sldId id="419" r:id="rId20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847"/>
    <p:restoredTop sz="94606"/>
  </p:normalViewPr>
  <p:slideViewPr>
    <p:cSldViewPr snapToGrid="0" showGuides="1">
      <p:cViewPr varScale="1">
        <p:scale>
          <a:sx n="119" d="100"/>
          <a:sy n="119" d="100"/>
        </p:scale>
        <p:origin x="200" y="184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75938-B678-514A-888A-F9BBBA9C667F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232FF-F6D7-EC40-A867-4B28077EBF28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0079654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232FF-F6D7-EC40-A867-4B28077EBF28}" type="slidenum">
              <a:rPr lang="en-CN" smtClean="0"/>
              <a:t>1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564775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The University of Adelaide, School of Computer Science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>
              <a:defRPr/>
            </a:pPr>
            <a:fld id="{2E15BFD5-A48E-3243-95EF-304B33B56469}" type="datetime3">
              <a:rPr lang="en-US" smtClean="0"/>
              <a:pPr>
                <a:defRPr/>
              </a:pPr>
              <a:t>28 September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Chapter 2 — Instructions: Language of the Computer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6CC12C3-C17A-6F44-87A4-B4891BA8853C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90606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A5232FF-F6D7-EC40-A867-4B28077EBF28}" type="slidenum">
              <a:rPr lang="en-CN" smtClean="0"/>
              <a:t>5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67091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C81FA-F662-9140-E1CB-57D829D40E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EF6E83-F298-D714-42EE-37CD03AF8B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A275A-2226-28BB-498E-52A68BCC1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DD6306-3949-8A72-90B3-2C3CBC849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6E9B3-968E-E085-83D7-C9424E067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665427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21017-B98F-6F8D-C9AA-F5D238EFD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BB2AD-B636-38B6-8511-47F1362B0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2CD59-66B4-9D90-6941-6454D81FC6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E85EC8-8981-9014-E32D-79999E92A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3E706D-C959-C6E4-D5F6-04606913D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10642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BC834-384D-1F0C-7A0C-C0BB53C0D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0C13DD-600B-FA15-F363-E67E5A9D60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4A20F-C2CE-6A0A-E17F-F8F9311BD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39E011-CADB-A09C-CF09-AAE0E2F9E7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F762A-A929-7669-39CF-567CC0BAC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53103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6C56E-2514-5FD0-2992-843DCD886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E74A2-3B64-C22E-B6AF-A677EF75ED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DC983F-4E47-6CF9-DAD9-E51F34E60A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1DC869-F519-A76D-AE92-0F4083486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9BB38-2CB9-0A9A-1242-D89CEAC79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11AFAF-5CEC-1400-1EC2-81093A3FE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90316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BB965-576A-9007-15B1-89265783B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28A78D-C905-46BC-0109-EE38B739AE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7FC007-49F1-62CC-8298-6838F430C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312A86-1C76-0A8F-A1D2-5E46F779F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7D2B49-2D96-CC3A-AEA2-513A20307C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0EDCAA-4F5E-8656-824F-229EE673EA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423354-F02B-B401-2BCC-EC68579CF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24097B-DC80-8DB1-D155-305FC5CB0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52377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6D8F3-7A2A-B0EB-330C-AB8257A64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1597E2-36D5-A883-6AED-FFCB940D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1FF4A-8F4B-BB58-6885-533C46C8A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3FB16-BCF7-825E-BE69-4FE255D9E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935356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342D37-7CC2-EB6A-FCC2-74CC815E4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983AAE-EC41-9D63-4BD6-CF0296B0B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9027B-40BC-1F36-AF07-33A589399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77616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12BF-7016-DCF8-24F7-26F61054F7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F4567-A36E-AF65-34BB-A6194818C0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3B7462-73DB-C119-62BA-E92A0925F1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651775-95A0-575F-5773-8068343A79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D593F-FF35-DB42-2FDA-00C427ED8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34C82C-6CDE-D9B8-9140-45DFDFD75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7477302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5FF130-F496-5E63-2A5B-F859CFC06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C087BF-7EAA-BCAB-25CB-0032A2236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3FACEE-7EA5-3BE4-EABD-F7FB1A16F0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B80637-4A11-C157-1DB9-21823C45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E88D-D947-ED28-0189-FCBA6650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D581CB-5480-134C-C495-9E168FA53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03750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FDE11-4056-1388-F629-6D14AEB48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A97330-CDA1-875F-182D-9BC2CDF5C8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7F5EC6-E7F9-938B-00E2-59CE2100C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84DB7-53F8-E4B4-C322-CC3A2A3F9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675CD-FBD2-7116-FE25-2E09C0A91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974794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17EFA8-CD01-8667-B08D-2E9D5E3069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B78587-71AB-F7D4-549A-E6A3749C04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BE17D-0860-6974-B75E-9CAB3A918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0A2EE1-693C-0446-9010-99D1ABCCCEB8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6D1E37-D805-FD7A-6EA2-29D78D5F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6F68CA-2422-4E61-C2C9-E6B686059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548233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BCD91B-B56C-2E39-1670-9B40A44B24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74A46-FB10-46CF-C739-CD29A85229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A88A29-6E68-1CEF-3380-8CDD12FBBD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0A2EE1-693C-0446-9010-99D1ABCCCEB8}" type="datetimeFigureOut">
              <a:rPr lang="en-CN" smtClean="0"/>
              <a:t>2026/9/28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87482-AA72-0AF5-E9FC-CF97BA8164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2CAFE9-AE59-BACE-5BB8-D462BE3B70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00CC96-2814-6648-BE67-B8CA7F7BD47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042676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D46FA-C15D-08E9-6019-B1EF36F02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91" y="410817"/>
            <a:ext cx="11304105" cy="1279871"/>
          </a:xfrm>
        </p:spPr>
        <p:txBody>
          <a:bodyPr>
            <a:noAutofit/>
          </a:bodyPr>
          <a:lstStyle/>
          <a:p>
            <a:r>
              <a:rPr lang="en-US" b="1" dirty="0"/>
              <a:t>Computer Organization &amp; Assembly Language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AB9EF0-6B17-23D6-31F4-89DBEBAF7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None/>
            </a:pPr>
            <a:r>
              <a:rPr lang="en-US" sz="3200" b="1" dirty="0"/>
              <a:t>Lecture / Lab-004</a:t>
            </a:r>
            <a:endParaRPr lang="en-US" sz="3200" dirty="0"/>
          </a:p>
          <a:p>
            <a:pPr algn="ctr">
              <a:buNone/>
            </a:pPr>
            <a:br>
              <a:rPr lang="en-US" sz="3200" dirty="0"/>
            </a:br>
            <a:endParaRPr lang="en-US" sz="3200" dirty="0"/>
          </a:p>
          <a:p>
            <a:pPr algn="ctr">
              <a:buNone/>
            </a:pPr>
            <a:r>
              <a:rPr lang="en-US" sz="3200" b="1" dirty="0"/>
              <a:t>Leaf, Non-Leaf &amp; Stack Pointer / Register in MIPS (</a:t>
            </a:r>
            <a:r>
              <a:rPr lang="en-US" sz="3200" b="1" dirty="0" err="1"/>
              <a:t>QtSPIM</a:t>
            </a:r>
            <a:r>
              <a:rPr lang="en-US" sz="3200" b="1" dirty="0"/>
              <a:t>)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262067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F9451-8306-8A35-224B-23CCF1956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809" y="0"/>
            <a:ext cx="11635408" cy="954156"/>
          </a:xfrm>
        </p:spPr>
        <p:txBody>
          <a:bodyPr>
            <a:normAutofit/>
          </a:bodyPr>
          <a:lstStyle/>
          <a:p>
            <a:r>
              <a:rPr lang="en-US" sz="4000" b="1" dirty="0"/>
              <a:t>Common Arithmetic Instructions (Registers Only)</a:t>
            </a:r>
            <a:endParaRPr lang="en-CN" sz="40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5AFB0C0-A1A8-9819-1C52-20340B9F9FC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8653050"/>
              </p:ext>
            </p:extLst>
          </p:nvPr>
        </p:nvGraphicFramePr>
        <p:xfrm>
          <a:off x="838200" y="1693628"/>
          <a:ext cx="10515600" cy="44604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150459290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189831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Instruction</a:t>
                      </a:r>
                      <a:endParaRPr 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Meaning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634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Signed addition (overflow traps)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9745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addu rd, rs, 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Unsigned addition (wraparound)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238621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sub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Subtraction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6465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mul rd, rs, 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Multiply (QtSPIM pseudo-instruction)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18376915"/>
                  </a:ext>
                </a:extLst>
              </a:tr>
              <a:tr h="4980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div rs, rt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Divide → quotient in </a:t>
                      </a:r>
                      <a:r>
                        <a:rPr lang="en-US" sz="2000" b="1"/>
                        <a:t>LO</a:t>
                      </a:r>
                      <a:r>
                        <a:rPr lang="en-US" sz="2000"/>
                        <a:t>, remainder in </a:t>
                      </a:r>
                      <a:r>
                        <a:rPr lang="en-US" sz="2000" b="1"/>
                        <a:t>HI</a:t>
                      </a:r>
                      <a:endParaRPr lang="en-US" sz="2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3052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mflo 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Move quotient from LO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10520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mfhi 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Move remainder from HI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53491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sll rd, rs, shamt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Shift left (× powers of 2)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91230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srl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shamt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Shift right logical (÷ powers of 2, nonnegative)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75743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sra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rd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rs</a:t>
                      </a:r>
                      <a:r>
                        <a:rPr lang="en-US" sz="20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, </a:t>
                      </a:r>
                      <a:r>
                        <a:rPr lang="en-US" sz="20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shamt</a:t>
                      </a:r>
                      <a:endParaRPr lang="en-US" sz="20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Shift right arithmetic (signed)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4122183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3005A16-D4ED-6140-3BE9-F932E3ADBE89}"/>
              </a:ext>
            </a:extLst>
          </p:cNvPr>
          <p:cNvCxnSpPr>
            <a:cxnSpLocks/>
          </p:cNvCxnSpPr>
          <p:nvPr/>
        </p:nvCxnSpPr>
        <p:spPr>
          <a:xfrm>
            <a:off x="563278" y="833760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3847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BE724-F7E2-336C-3D65-1E3C56FFB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895" y="179667"/>
            <a:ext cx="10515600" cy="807546"/>
          </a:xfrm>
        </p:spPr>
        <p:txBody>
          <a:bodyPr>
            <a:normAutofit/>
          </a:bodyPr>
          <a:lstStyle/>
          <a:p>
            <a:r>
              <a:rPr lang="en-US" sz="3200" b="1" dirty="0"/>
              <a:t>Memory Access Instructions</a:t>
            </a:r>
            <a:endParaRPr lang="en-CN" sz="32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058B954-278A-FB95-80C5-FE500ED8106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599660" y="1293341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589862197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147039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Instruction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Meaning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57775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lw rt,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Load word from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35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 err="1"/>
                        <a:t>sw</a:t>
                      </a:r>
                      <a:r>
                        <a:rPr lang="en-US" dirty="0"/>
                        <a:t> rt,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Store word to memory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7582228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74AA0FA5-B563-FF78-31C8-32AE47DE2002}"/>
              </a:ext>
            </a:extLst>
          </p:cNvPr>
          <p:cNvSpPr txBox="1"/>
          <p:nvPr/>
        </p:nvSpPr>
        <p:spPr>
          <a:xfrm>
            <a:off x="333895" y="2936081"/>
            <a:ext cx="595566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 err="1"/>
              <a:t>Syscall</a:t>
            </a:r>
            <a:r>
              <a:rPr lang="en-US" sz="3200" b="1" dirty="0"/>
              <a:t> Registers (I/O Services)</a:t>
            </a:r>
          </a:p>
          <a:p>
            <a:endParaRPr lang="en-CN" sz="32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70F49A-8235-5331-B429-DAE09EF5A96F}"/>
              </a:ext>
            </a:extLst>
          </p:cNvPr>
          <p:cNvGraphicFramePr>
            <a:graphicFrameLocks noGrp="1"/>
          </p:cNvGraphicFramePr>
          <p:nvPr/>
        </p:nvGraphicFramePr>
        <p:xfrm>
          <a:off x="599660" y="379847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24084119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73564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$v0</a:t>
                      </a:r>
                      <a:r>
                        <a:rPr lang="en-US" b="1" dirty="0"/>
                        <a:t> value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Service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98045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print integer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022750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print string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19813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exit program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7494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FBC64E2A-D0B0-CD20-C8B4-74D3CA2DA8F1}"/>
              </a:ext>
            </a:extLst>
          </p:cNvPr>
          <p:cNvSpPr txBox="1"/>
          <p:nvPr/>
        </p:nvSpPr>
        <p:spPr>
          <a:xfrm>
            <a:off x="448486" y="5934670"/>
            <a:ext cx="474783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MIPS = Load → Compute → Store</a:t>
            </a:r>
            <a:endParaRPr lang="en-US" sz="2400" dirty="0"/>
          </a:p>
          <a:p>
            <a:r>
              <a:rPr lang="en-US" sz="2400" dirty="0"/>
              <a:t>Registers are fast; memory is slow.</a:t>
            </a:r>
          </a:p>
          <a:p>
            <a:endParaRPr lang="en-CN" sz="2400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98E9714-2E6B-6684-7F94-CC2ACB3D5D72}"/>
              </a:ext>
            </a:extLst>
          </p:cNvPr>
          <p:cNvCxnSpPr>
            <a:cxnSpLocks/>
          </p:cNvCxnSpPr>
          <p:nvPr/>
        </p:nvCxnSpPr>
        <p:spPr>
          <a:xfrm>
            <a:off x="306904" y="833760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455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8C20F-299F-E98C-8753-7E03189C4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30" y="187429"/>
            <a:ext cx="8259762" cy="646331"/>
          </a:xfrm>
        </p:spPr>
        <p:txBody>
          <a:bodyPr/>
          <a:lstStyle/>
          <a:p>
            <a:r>
              <a:rPr lang="en-US" sz="3600" b="1" dirty="0"/>
              <a:t>32 MIPS general-purpose registers</a:t>
            </a:r>
            <a:endParaRPr lang="en-CN" sz="3600" b="1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FA9F874F-74F8-E286-3AEA-167EC7646F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1017670"/>
              </p:ext>
            </p:extLst>
          </p:nvPr>
        </p:nvGraphicFramePr>
        <p:xfrm>
          <a:off x="936171" y="1277937"/>
          <a:ext cx="9847716" cy="48616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1929">
                  <a:extLst>
                    <a:ext uri="{9D8B030D-6E8A-4147-A177-3AD203B41FA5}">
                      <a16:colId xmlns:a16="http://schemas.microsoft.com/office/drawing/2014/main" val="2909497200"/>
                    </a:ext>
                  </a:extLst>
                </a:gridCol>
                <a:gridCol w="2461929">
                  <a:extLst>
                    <a:ext uri="{9D8B030D-6E8A-4147-A177-3AD203B41FA5}">
                      <a16:colId xmlns:a16="http://schemas.microsoft.com/office/drawing/2014/main" val="1572331533"/>
                    </a:ext>
                  </a:extLst>
                </a:gridCol>
                <a:gridCol w="2461929">
                  <a:extLst>
                    <a:ext uri="{9D8B030D-6E8A-4147-A177-3AD203B41FA5}">
                      <a16:colId xmlns:a16="http://schemas.microsoft.com/office/drawing/2014/main" val="763700017"/>
                    </a:ext>
                  </a:extLst>
                </a:gridCol>
                <a:gridCol w="2461929">
                  <a:extLst>
                    <a:ext uri="{9D8B030D-6E8A-4147-A177-3AD203B41FA5}">
                      <a16:colId xmlns:a16="http://schemas.microsoft.com/office/drawing/2014/main" val="2344756656"/>
                    </a:ext>
                  </a:extLst>
                </a:gridCol>
              </a:tblGrid>
              <a:tr h="408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Group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Registers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Count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Typical use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065447"/>
                  </a:ext>
                </a:extLst>
              </a:tr>
              <a:tr h="408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Constant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$zero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always 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1988091"/>
                  </a:ext>
                </a:extLst>
              </a:tr>
              <a:tr h="704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Assembler 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assembler temp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3752664"/>
                  </a:ext>
                </a:extLst>
              </a:tr>
              <a:tr h="408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Return values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$v0–$v1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 results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81158802"/>
                  </a:ext>
                </a:extLst>
              </a:tr>
              <a:tr h="408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Arguments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$a0–$a3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function params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9436699"/>
                  </a:ext>
                </a:extLst>
              </a:tr>
              <a:tr h="704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Temporaries (caller-saved)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$t0–$t9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scratch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37662628"/>
                  </a:ext>
                </a:extLst>
              </a:tr>
              <a:tr h="704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Saved (callee-saved)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$s0–$s7 (+ $s8/$fp)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8 (+1)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preserved across calls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94514086"/>
                  </a:ext>
                </a:extLst>
              </a:tr>
              <a:tr h="40839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OS/kernel reserved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$k0–$k1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kernel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1170439"/>
                  </a:ext>
                </a:extLst>
              </a:tr>
              <a:tr h="7049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Pointers/special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$gp, $sp, $fp/$s8, $ra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global/stack/frame/return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1052433"/>
                  </a:ext>
                </a:extLst>
              </a:tr>
            </a:tbl>
          </a:graphicData>
        </a:graphic>
      </p:graphicFrame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592470A-01A1-CAAF-3A4B-34371DBD0850}"/>
              </a:ext>
            </a:extLst>
          </p:cNvPr>
          <p:cNvCxnSpPr>
            <a:cxnSpLocks/>
          </p:cNvCxnSpPr>
          <p:nvPr/>
        </p:nvCxnSpPr>
        <p:spPr>
          <a:xfrm>
            <a:off x="563278" y="833760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4340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D56CD-07ED-C26D-A43A-C7720C6D5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06" y="0"/>
            <a:ext cx="10515600" cy="917765"/>
          </a:xfrm>
        </p:spPr>
        <p:txBody>
          <a:bodyPr/>
          <a:lstStyle/>
          <a:p>
            <a:r>
              <a:rPr lang="en-CN" dirty="0"/>
              <a:t>J-Type (Jump) Instructions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4A6B205-5BFF-FAC8-4C83-ABBCB8E6C3C1}"/>
              </a:ext>
            </a:extLst>
          </p:cNvPr>
          <p:cNvCxnSpPr>
            <a:cxnSpLocks/>
          </p:cNvCxnSpPr>
          <p:nvPr/>
        </p:nvCxnSpPr>
        <p:spPr>
          <a:xfrm>
            <a:off x="246806" y="734770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FFFD5BB6-A51D-2FE1-3081-082C2D0AADC9}"/>
              </a:ext>
            </a:extLst>
          </p:cNvPr>
          <p:cNvSpPr txBox="1"/>
          <p:nvPr/>
        </p:nvSpPr>
        <p:spPr>
          <a:xfrm>
            <a:off x="246806" y="1100209"/>
            <a:ext cx="99098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MIPS uses J-type instructions when execution needs to jump to another location in the program.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0BC5ECC-076B-B1FE-5487-B9A243623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939059"/>
              </p:ext>
            </p:extLst>
          </p:nvPr>
        </p:nvGraphicFramePr>
        <p:xfrm>
          <a:off x="742665" y="1783080"/>
          <a:ext cx="7718946" cy="16459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572982">
                  <a:extLst>
                    <a:ext uri="{9D8B030D-6E8A-4147-A177-3AD203B41FA5}">
                      <a16:colId xmlns:a16="http://schemas.microsoft.com/office/drawing/2014/main" val="3380491367"/>
                    </a:ext>
                  </a:extLst>
                </a:gridCol>
                <a:gridCol w="2572982">
                  <a:extLst>
                    <a:ext uri="{9D8B030D-6E8A-4147-A177-3AD203B41FA5}">
                      <a16:colId xmlns:a16="http://schemas.microsoft.com/office/drawing/2014/main" val="2638349908"/>
                    </a:ext>
                  </a:extLst>
                </a:gridCol>
                <a:gridCol w="2572982">
                  <a:extLst>
                    <a:ext uri="{9D8B030D-6E8A-4147-A177-3AD203B41FA5}">
                      <a16:colId xmlns:a16="http://schemas.microsoft.com/office/drawing/2014/main" val="1011925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Instruction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/>
                        <a:t>Meaning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b="1" dirty="0"/>
                        <a:t>Instruction 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1767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j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Jump to a target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J-type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39624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jal label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Jump to a target and save return address in $ra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J-type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372253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0684815-FBC4-51DC-027A-509E03738230}"/>
              </a:ext>
            </a:extLst>
          </p:cNvPr>
          <p:cNvSpPr txBox="1"/>
          <p:nvPr/>
        </p:nvSpPr>
        <p:spPr>
          <a:xfrm>
            <a:off x="382137" y="3742539"/>
            <a:ext cx="29658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J-Type Instruction Format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C7F5EA-18D3-E16D-0855-0808D4AF3EFE}"/>
              </a:ext>
            </a:extLst>
          </p:cNvPr>
          <p:cNvSpPr txBox="1"/>
          <p:nvPr/>
        </p:nvSpPr>
        <p:spPr>
          <a:xfrm>
            <a:off x="586853" y="4238318"/>
            <a:ext cx="6664004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31        26 25                              0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+------------+--------------------------------+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| opcode     |       target address           |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+------------+--------------------------------+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6 bits                 26 bits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E8EFAD-0055-4A58-E13A-2D67690C7C0F}"/>
              </a:ext>
            </a:extLst>
          </p:cNvPr>
          <p:cNvSpPr txBox="1"/>
          <p:nvPr/>
        </p:nvSpPr>
        <p:spPr>
          <a:xfrm>
            <a:off x="382137" y="5757791"/>
            <a:ext cx="6291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   → jump somewhere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jal</a:t>
            </a:r>
            <a:r>
              <a:rPr lang="en-US" dirty="0"/>
              <a:t> → jump somewhere AND remember where to return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840066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2BB8C4-CB9B-9092-9BB3-FF5A0DA60F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904" y="41396"/>
            <a:ext cx="8259762" cy="769441"/>
          </a:xfrm>
        </p:spPr>
        <p:txBody>
          <a:bodyPr/>
          <a:lstStyle/>
          <a:p>
            <a:r>
              <a:rPr lang="en-CN" b="1" dirty="0"/>
              <a:t>Jump Instructions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5BF5E9-E6DA-C1BD-4B61-2CBD7D708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806" y="966304"/>
            <a:ext cx="6538555" cy="365245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 err="1"/>
              <a:t>jal</a:t>
            </a:r>
            <a:r>
              <a:rPr lang="en-US" dirty="0"/>
              <a:t> label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Jumps to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 Stores return address in $</a:t>
            </a:r>
            <a:r>
              <a:rPr lang="en-US" dirty="0" err="1"/>
              <a:t>ra</a:t>
            </a:r>
            <a:r>
              <a:rPr lang="en-US" dirty="0"/>
              <a:t> (PC + 4)</a:t>
            </a:r>
          </a:p>
          <a:p>
            <a:pPr>
              <a:lnSpc>
                <a:spcPct val="150000"/>
              </a:lnSpc>
            </a:pPr>
            <a:r>
              <a:rPr lang="en-US" dirty="0" err="1"/>
              <a:t>jr</a:t>
            </a:r>
            <a:r>
              <a:rPr lang="en-US" dirty="0"/>
              <a:t> $</a:t>
            </a:r>
            <a:r>
              <a:rPr lang="en-US" dirty="0" err="1"/>
              <a:t>ra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Returns to caller using address in $</a:t>
            </a:r>
            <a:r>
              <a:rPr lang="en-US" dirty="0" err="1"/>
              <a:t>ra</a:t>
            </a:r>
            <a:endParaRPr lang="en-CN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47FB090-A121-B413-4338-F90EA0F57958}"/>
              </a:ext>
            </a:extLst>
          </p:cNvPr>
          <p:cNvCxnSpPr>
            <a:cxnSpLocks/>
          </p:cNvCxnSpPr>
          <p:nvPr/>
        </p:nvCxnSpPr>
        <p:spPr>
          <a:xfrm>
            <a:off x="246806" y="734770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00D2D761-0C86-D8CA-B617-BB7E1149216E}"/>
              </a:ext>
            </a:extLst>
          </p:cNvPr>
          <p:cNvSpPr txBox="1"/>
          <p:nvPr/>
        </p:nvSpPr>
        <p:spPr>
          <a:xfrm>
            <a:off x="246806" y="4774224"/>
            <a:ext cx="714682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sz="2000" dirty="0"/>
              <a:t>Applying the </a:t>
            </a:r>
            <a:r>
              <a:rPr lang="en-CN" sz="2000" dirty="0">
                <a:solidFill>
                  <a:srgbClr val="FF0000"/>
                </a:solidFill>
              </a:rPr>
              <a:t>Jal</a:t>
            </a:r>
            <a:r>
              <a:rPr lang="en-CN" sz="2000" dirty="0"/>
              <a:t> and </a:t>
            </a:r>
            <a:r>
              <a:rPr lang="en-CN" sz="2000" dirty="0">
                <a:solidFill>
                  <a:srgbClr val="FF0000"/>
                </a:solidFill>
              </a:rPr>
              <a:t>Jr</a:t>
            </a:r>
            <a:r>
              <a:rPr lang="en-CN" sz="2000" dirty="0"/>
              <a:t> with </a:t>
            </a:r>
            <a:r>
              <a:rPr lang="en-CN" sz="2000" dirty="0">
                <a:solidFill>
                  <a:srgbClr val="FF0000"/>
                </a:solidFill>
              </a:rPr>
              <a:t>$ra </a:t>
            </a:r>
            <a:r>
              <a:rPr lang="en-CN" sz="2000" dirty="0"/>
              <a:t>register to a division </a:t>
            </a:r>
          </a:p>
          <a:p>
            <a:r>
              <a:rPr lang="en-CN" sz="2000" dirty="0"/>
              <a:t>      task of arithmetic </a:t>
            </a:r>
            <a:r>
              <a:rPr lang="en-US" sz="2000" dirty="0"/>
              <a:t>d</a:t>
            </a:r>
            <a:r>
              <a:rPr lang="en-CN" sz="2000" dirty="0"/>
              <a:t>ivision showing a </a:t>
            </a:r>
            <a:r>
              <a:rPr lang="en-CN" sz="2000" dirty="0">
                <a:solidFill>
                  <a:srgbClr val="FF0000"/>
                </a:solidFill>
              </a:rPr>
              <a:t>leaf function/procedue.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DE0EF3-49C9-5C82-C32D-B22F66A0C268}"/>
              </a:ext>
            </a:extLst>
          </p:cNvPr>
          <p:cNvSpPr txBox="1"/>
          <p:nvPr/>
        </p:nvSpPr>
        <p:spPr>
          <a:xfrm>
            <a:off x="586853" y="5637577"/>
            <a:ext cx="15632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...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09456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0441B-C4CD-FBA3-E8CE-B02D3AE4C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108" y="181211"/>
            <a:ext cx="10515600" cy="999651"/>
          </a:xfrm>
        </p:spPr>
        <p:txBody>
          <a:bodyPr/>
          <a:lstStyle/>
          <a:p>
            <a:r>
              <a:rPr lang="en-CN" dirty="0"/>
              <a:t>Example Jump Instructions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2A4B71-3BBB-7BFC-9818-9B5D8B13498D}"/>
              </a:ext>
            </a:extLst>
          </p:cNvPr>
          <p:cNvSpPr txBox="1"/>
          <p:nvPr/>
        </p:nvSpPr>
        <p:spPr>
          <a:xfrm>
            <a:off x="183108" y="1180862"/>
            <a:ext cx="111447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Write a MIPS program that divides two integers using a leaf function named divmod. Pass the two integers to </a:t>
            </a:r>
          </a:p>
          <a:p>
            <a:r>
              <a:rPr lang="en-CN" dirty="0"/>
              <a:t>      the function using $a0 and $a1. The function should return the quotient in $v0 and the remainder in $v1. </a:t>
            </a:r>
          </a:p>
          <a:p>
            <a:r>
              <a:rPr lang="en-CN" dirty="0"/>
              <a:t>      Use jal to call the function and jr $ra to return to the caller. Print both the quotient and remainder.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71E1F9-5EB6-9165-5D4B-178B2226C095}"/>
              </a:ext>
            </a:extLst>
          </p:cNvPr>
          <p:cNvSpPr txBox="1"/>
          <p:nvPr/>
        </p:nvSpPr>
        <p:spPr>
          <a:xfrm>
            <a:off x="516154" y="2413337"/>
            <a:ext cx="197682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li $a0, 17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li $a1, 5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9C31F46-233F-3517-DDD5-A7C92FF4CFDA}"/>
              </a:ext>
            </a:extLst>
          </p:cNvPr>
          <p:cNvSpPr txBox="1"/>
          <p:nvPr/>
        </p:nvSpPr>
        <p:spPr>
          <a:xfrm>
            <a:off x="961286" y="3880838"/>
            <a:ext cx="2114681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move $a0, $v0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 $v0, 1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 $a0, 10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 $v0, 11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b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DBBF29-1788-C5BD-5E18-361F58FE1A9D}"/>
              </a:ext>
            </a:extLst>
          </p:cNvPr>
          <p:cNvSpPr txBox="1"/>
          <p:nvPr/>
        </p:nvSpPr>
        <p:spPr>
          <a:xfrm>
            <a:off x="4452496" y="2413337"/>
            <a:ext cx="1976823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move $a0, $v1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 $v0, 1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 $a0, 10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 $v0, 11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78B358-25F0-433D-3DC3-C96087C727B8}"/>
              </a:ext>
            </a:extLst>
          </p:cNvPr>
          <p:cNvSpPr txBox="1"/>
          <p:nvPr/>
        </p:nvSpPr>
        <p:spPr>
          <a:xfrm>
            <a:off x="4452496" y="4444662"/>
            <a:ext cx="1838965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li $v0, 10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div $a0, $a1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mflo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$v0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mfhi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$v1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1C56533-81FF-E893-2C38-19078F304B2B}"/>
              </a:ext>
            </a:extLst>
          </p:cNvPr>
          <p:cNvSpPr txBox="1"/>
          <p:nvPr/>
        </p:nvSpPr>
        <p:spPr>
          <a:xfrm>
            <a:off x="9717206" y="2634018"/>
            <a:ext cx="161614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17 ÷ 5</a:t>
            </a:r>
          </a:p>
          <a:p>
            <a:r>
              <a:rPr lang="en-US" dirty="0">
                <a:solidFill>
                  <a:srgbClr val="FF0000"/>
                </a:solidFill>
              </a:rPr>
              <a:t>Quotient = 3</a:t>
            </a:r>
          </a:p>
          <a:p>
            <a:r>
              <a:rPr lang="en-US" dirty="0">
                <a:solidFill>
                  <a:srgbClr val="FF0000"/>
                </a:solidFill>
              </a:rPr>
              <a:t>Remainder = 2</a:t>
            </a:r>
            <a:endParaRPr lang="en-C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8048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36CE4-BBCD-111D-DCA0-E5D2385A5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938" y="106149"/>
            <a:ext cx="10515600" cy="822230"/>
          </a:xfrm>
        </p:spPr>
        <p:txBody>
          <a:bodyPr/>
          <a:lstStyle/>
          <a:p>
            <a:r>
              <a:rPr lang="en-CN" dirty="0"/>
              <a:t>C++ Code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F81681-BC33-585D-D537-EFFDDF6F7418}"/>
              </a:ext>
            </a:extLst>
          </p:cNvPr>
          <p:cNvSpPr txBox="1"/>
          <p:nvPr/>
        </p:nvSpPr>
        <p:spPr>
          <a:xfrm>
            <a:off x="415120" y="948690"/>
            <a:ext cx="6664004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(int a, int b)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quotient = a / b;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remainder = a % b;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"Remainder: " &lt;&lt; remainder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quotient;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int result =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(17, 5);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"Quotient: " &lt;&lt; result &lt;&lt;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159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ADEC8-A91A-FDE8-7CE7-CCC6585B1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52A6A-E87B-B38A-763D-883E051B7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16" y="18255"/>
            <a:ext cx="10515600" cy="1325563"/>
          </a:xfrm>
        </p:spPr>
        <p:txBody>
          <a:bodyPr/>
          <a:lstStyle/>
          <a:p>
            <a:r>
              <a:rPr lang="en-US" b="1" dirty="0"/>
              <a:t>Leaf vs. Non-Leaf Function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7B6DC-CB7F-37A8-B1E8-C70D63D39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811" y="113341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Leaf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Does NOT call another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Does NOT need to save $</a:t>
            </a:r>
            <a:r>
              <a:rPr lang="en-US" dirty="0" err="1"/>
              <a:t>ra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Non-Leaf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Calls another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MUST save and restore $</a:t>
            </a:r>
            <a:r>
              <a:rPr lang="en-US" dirty="0" err="1"/>
              <a:t>ra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Uses stack pointer register $</a:t>
            </a:r>
            <a:r>
              <a:rPr lang="en-US" dirty="0" err="1"/>
              <a:t>sp</a:t>
            </a:r>
            <a:endParaRPr lang="en-C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E225641-AFE9-3789-34FC-A2EADF5DBD8C}"/>
              </a:ext>
            </a:extLst>
          </p:cNvPr>
          <p:cNvCxnSpPr>
            <a:cxnSpLocks/>
          </p:cNvCxnSpPr>
          <p:nvPr/>
        </p:nvCxnSpPr>
        <p:spPr>
          <a:xfrm>
            <a:off x="205811" y="936310"/>
            <a:ext cx="62035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53435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73AD66-CACE-2448-DE18-7D58BBB2B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" y="128457"/>
            <a:ext cx="10515600" cy="850489"/>
          </a:xfrm>
        </p:spPr>
        <p:txBody>
          <a:bodyPr/>
          <a:lstStyle/>
          <a:p>
            <a:r>
              <a:rPr lang="en-CN" dirty="0"/>
              <a:t>Stack vs. Queue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A2F79D-FD62-6BE4-F265-D56E70C48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205" y="1873654"/>
            <a:ext cx="7772400" cy="3110692"/>
          </a:xfrm>
          <a:prstGeom prst="rect">
            <a:avLst/>
          </a:prstGeom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E33EAF12-FAFD-508A-06F5-0D11FFF31046}"/>
              </a:ext>
            </a:extLst>
          </p:cNvPr>
          <p:cNvSpPr/>
          <p:nvPr/>
        </p:nvSpPr>
        <p:spPr>
          <a:xfrm rot="16200000">
            <a:off x="2234641" y="548987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Right Arrow 6">
            <a:extLst>
              <a:ext uri="{FF2B5EF4-FFF2-40B4-BE49-F238E27FC236}">
                <a16:creationId xmlns:a16="http://schemas.microsoft.com/office/drawing/2014/main" id="{91575C47-C2DD-D4DF-A173-48E72F9CF52A}"/>
              </a:ext>
            </a:extLst>
          </p:cNvPr>
          <p:cNvSpPr/>
          <p:nvPr/>
        </p:nvSpPr>
        <p:spPr>
          <a:xfrm rot="16200000">
            <a:off x="7271013" y="547747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4D4627-D830-716A-2757-83F86D33BB69}"/>
              </a:ext>
            </a:extLst>
          </p:cNvPr>
          <p:cNvSpPr txBox="1"/>
          <p:nvPr/>
        </p:nvSpPr>
        <p:spPr>
          <a:xfrm>
            <a:off x="6839035" y="6360211"/>
            <a:ext cx="1842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First-In-First-Out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2DF459-DEBF-BA92-B320-30ABF105C0D6}"/>
              </a:ext>
            </a:extLst>
          </p:cNvPr>
          <p:cNvSpPr txBox="1"/>
          <p:nvPr/>
        </p:nvSpPr>
        <p:spPr>
          <a:xfrm>
            <a:off x="1802663" y="6360211"/>
            <a:ext cx="18364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Last-In-First-Out</a:t>
            </a:r>
          </a:p>
        </p:txBody>
      </p:sp>
    </p:spTree>
    <p:extLst>
      <p:ext uri="{BB962C8B-B14F-4D97-AF65-F5344CB8AC3E}">
        <p14:creationId xmlns:p14="http://schemas.microsoft.com/office/powerpoint/2010/main" val="9149208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2499CB-3EF1-F7E6-4692-CF4B945E7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536" y="142934"/>
            <a:ext cx="10515600" cy="1036385"/>
          </a:xfrm>
        </p:spPr>
        <p:txBody>
          <a:bodyPr/>
          <a:lstStyle/>
          <a:p>
            <a:r>
              <a:rPr lang="en-US" b="1" dirty="0"/>
              <a:t>Stack Pointer ($</a:t>
            </a:r>
            <a:r>
              <a:rPr lang="en-US" b="1" dirty="0" err="1"/>
              <a:t>sp</a:t>
            </a:r>
            <a:r>
              <a:rPr lang="en-US" b="1" dirty="0"/>
              <a:t>)</a:t>
            </a:r>
            <a:endParaRPr lang="en-C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F06F038-1115-2E20-22E5-CFDEBD990FB3}"/>
              </a:ext>
            </a:extLst>
          </p:cNvPr>
          <p:cNvCxnSpPr>
            <a:cxnSpLocks/>
          </p:cNvCxnSpPr>
          <p:nvPr/>
        </p:nvCxnSpPr>
        <p:spPr>
          <a:xfrm>
            <a:off x="306904" y="965506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8090804-4981-49E8-56BA-0DD4481C0C34}"/>
              </a:ext>
            </a:extLst>
          </p:cNvPr>
          <p:cNvSpPr txBox="1">
            <a:spLocks/>
          </p:cNvSpPr>
          <p:nvPr/>
        </p:nvSpPr>
        <p:spPr>
          <a:xfrm>
            <a:off x="306904" y="1179320"/>
            <a:ext cx="11954854" cy="55357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400" dirty="0"/>
              <a:t>Holds address of top of stack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Stack is memory used for temporary saves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Stack grows downward (toward smaller addresses)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Allocate space: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-4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Save value: 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$t0, 0($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Restore value: 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$t1, 0($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Deallocate space:</a:t>
            </a:r>
          </a:p>
          <a:p>
            <a:pPr lvl="1">
              <a:lnSpc>
                <a:spcPct val="100000"/>
              </a:lnSpc>
            </a:pP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4</a:t>
            </a:r>
            <a:endParaRPr lang="en-CN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7554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74661-A9B3-0C51-D7E5-4817E2350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403" y="133114"/>
            <a:ext cx="10515600" cy="849526"/>
          </a:xfrm>
        </p:spPr>
        <p:txBody>
          <a:bodyPr/>
          <a:lstStyle/>
          <a:p>
            <a:r>
              <a:rPr lang="en-US" b="1" dirty="0"/>
              <a:t>Stack Pointer ($</a:t>
            </a:r>
            <a:r>
              <a:rPr lang="en-US" b="1" dirty="0" err="1"/>
              <a:t>sp</a:t>
            </a:r>
            <a:r>
              <a:rPr lang="en-US" b="1" dirty="0"/>
              <a:t>)</a:t>
            </a:r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B43269-4489-016E-1756-8FF2A3F9B55D}"/>
              </a:ext>
            </a:extLst>
          </p:cNvPr>
          <p:cNvSpPr txBox="1"/>
          <p:nvPr/>
        </p:nvSpPr>
        <p:spPr>
          <a:xfrm>
            <a:off x="210403" y="982640"/>
            <a:ext cx="6804170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The stack grows in 4-byte steps when you're storing 32-bit words</a:t>
            </a:r>
          </a:p>
          <a:p>
            <a:r>
              <a:rPr lang="en-CN" dirty="0"/>
              <a:t>          -4</a:t>
            </a:r>
          </a:p>
          <a:p>
            <a:pPr lvl="1"/>
            <a:r>
              <a:rPr lang="en-CN" dirty="0"/>
              <a:t>-8</a:t>
            </a:r>
          </a:p>
          <a:p>
            <a:pPr lvl="1"/>
            <a:r>
              <a:rPr lang="en-CN" dirty="0"/>
              <a:t>-12</a:t>
            </a:r>
          </a:p>
          <a:p>
            <a:pPr lvl="1"/>
            <a:r>
              <a:rPr lang="en-CN" dirty="0"/>
              <a:t>-16</a:t>
            </a:r>
          </a:p>
          <a:p>
            <a:pPr lvl="1"/>
            <a:r>
              <a:rPr lang="en-CN" dirty="0"/>
              <a:t>-20</a:t>
            </a:r>
          </a:p>
          <a:p>
            <a:pPr lvl="1"/>
            <a:r>
              <a:rPr lang="en-CN" dirty="0"/>
              <a:t>...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B3DE77-EEEA-AED6-BE2B-2C82374ABB9D}"/>
              </a:ext>
            </a:extLst>
          </p:cNvPr>
          <p:cNvSpPr txBox="1"/>
          <p:nvPr/>
        </p:nvSpPr>
        <p:spPr>
          <a:xfrm>
            <a:off x="210403" y="2895525"/>
            <a:ext cx="8283037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For example, suppose the original $sp = 1000: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-4     #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996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-4     #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992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-4     #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988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-4     #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984</a:t>
            </a:r>
          </a:p>
          <a:p>
            <a:pPr lvl="1"/>
            <a:r>
              <a:rPr lang="en-CN" dirty="0"/>
              <a:t> ↓ stack grows downward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Example: if you know you need four words, you allocate all 16 bytes at once: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-16    </a:t>
            </a:r>
            <a:r>
              <a:rPr lang="en-CN" dirty="0">
                <a:latin typeface="Courier New" panose="02070309020205020404" pitchFamily="49" charset="0"/>
                <a:cs typeface="Courier New" panose="02070309020205020404" pitchFamily="49" charset="0"/>
              </a:rPr>
              <a:t># allocate 16 bytes = 4 words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Then use offsets within those 16 bytes:</a:t>
            </a:r>
          </a:p>
          <a:p>
            <a:pPr lvl="1"/>
            <a:r>
              <a:rPr lang="en-CN" dirty="0">
                <a:latin typeface="Courier New" panose="02070309020205020404" pitchFamily="49" charset="0"/>
              </a:rPr>
              <a:t>sw $t0, 0($sp)         # first word</a:t>
            </a:r>
          </a:p>
          <a:p>
            <a:pPr lvl="1"/>
            <a:r>
              <a:rPr lang="en-CN" dirty="0">
                <a:latin typeface="Courier New" panose="02070309020205020404" pitchFamily="49" charset="0"/>
              </a:rPr>
              <a:t>sw $t1, 4($sp)         # second word</a:t>
            </a:r>
          </a:p>
          <a:p>
            <a:pPr lvl="1"/>
            <a:r>
              <a:rPr lang="en-CN" dirty="0">
                <a:latin typeface="Courier New" panose="02070309020205020404" pitchFamily="49" charset="0"/>
              </a:rPr>
              <a:t>sw $t2, 8($sp)         # third word</a:t>
            </a:r>
          </a:p>
          <a:p>
            <a:pPr lvl="1"/>
            <a:r>
              <a:rPr lang="en-CN" dirty="0">
                <a:latin typeface="Courier New" panose="02070309020205020404" pitchFamily="49" charset="0"/>
              </a:rPr>
              <a:t>sw $ra, 12($sp)        # fourth word</a:t>
            </a:r>
          </a:p>
        </p:txBody>
      </p:sp>
    </p:spTree>
    <p:extLst>
      <p:ext uri="{BB962C8B-B14F-4D97-AF65-F5344CB8AC3E}">
        <p14:creationId xmlns:p14="http://schemas.microsoft.com/office/powerpoint/2010/main" val="41528150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F8D98-0F2B-06A5-06CA-242FAC797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8642" y="-59894"/>
            <a:ext cx="10515600" cy="917765"/>
          </a:xfrm>
        </p:spPr>
        <p:txBody>
          <a:bodyPr/>
          <a:lstStyle/>
          <a:p>
            <a:r>
              <a:rPr lang="en-CN" dirty="0"/>
              <a:t>STACK  is LIFO (Last-In-First-Out)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F25442-7322-54EC-EB2B-13D44960A6E2}"/>
              </a:ext>
            </a:extLst>
          </p:cNvPr>
          <p:cNvSpPr txBox="1"/>
          <p:nvPr/>
        </p:nvSpPr>
        <p:spPr>
          <a:xfrm>
            <a:off x="532263" y="1011255"/>
            <a:ext cx="2666114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Push $t0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-4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$t0,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Push $t1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-4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$t1,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# Push $t2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-4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$t2,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89B5C-37F3-AD02-1F7E-911E325BD9AC}"/>
              </a:ext>
            </a:extLst>
          </p:cNvPr>
          <p:cNvSpPr txBox="1"/>
          <p:nvPr/>
        </p:nvSpPr>
        <p:spPr>
          <a:xfrm>
            <a:off x="4698694" y="1011255"/>
            <a:ext cx="2794611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/>
              <a:t>The stack will look like this</a:t>
            </a:r>
          </a:p>
          <a:p>
            <a:r>
              <a:rPr lang="en-US" dirty="0"/>
              <a:t>Higher addresses</a:t>
            </a:r>
          </a:p>
          <a:p>
            <a:endParaRPr lang="en-US" dirty="0"/>
          </a:p>
          <a:p>
            <a:r>
              <a:rPr lang="en-US" dirty="0"/>
              <a:t>$t0       ← pushed FIRST</a:t>
            </a:r>
          </a:p>
          <a:p>
            <a:r>
              <a:rPr lang="en-US" dirty="0"/>
              <a:t>$t1</a:t>
            </a:r>
          </a:p>
          <a:p>
            <a:r>
              <a:rPr lang="en-US" dirty="0"/>
              <a:t>$t2       ← pushed LAST</a:t>
            </a:r>
          </a:p>
          <a:p>
            <a:r>
              <a:rPr lang="en-US" dirty="0"/>
              <a:t> ↑</a:t>
            </a:r>
          </a:p>
          <a:p>
            <a:r>
              <a:rPr lang="en-US" dirty="0"/>
              <a:t>$</a:t>
            </a:r>
            <a:r>
              <a:rPr lang="en-US" dirty="0" err="1"/>
              <a:t>sp</a:t>
            </a:r>
            <a:endParaRPr lang="en-US" dirty="0"/>
          </a:p>
          <a:p>
            <a:endParaRPr lang="en-US" dirty="0"/>
          </a:p>
          <a:p>
            <a:r>
              <a:rPr lang="en-US" dirty="0"/>
              <a:t>Lower addresses</a:t>
            </a:r>
            <a:endParaRPr lang="en-CN" dirty="0"/>
          </a:p>
        </p:txBody>
      </p:sp>
      <p:sp>
        <p:nvSpPr>
          <p:cNvPr id="6" name="Right Arrow 5">
            <a:extLst>
              <a:ext uri="{FF2B5EF4-FFF2-40B4-BE49-F238E27FC236}">
                <a16:creationId xmlns:a16="http://schemas.microsoft.com/office/drawing/2014/main" id="{C53BA867-BF7C-2469-F361-392555722184}"/>
              </a:ext>
            </a:extLst>
          </p:cNvPr>
          <p:cNvSpPr/>
          <p:nvPr/>
        </p:nvSpPr>
        <p:spPr>
          <a:xfrm>
            <a:off x="3477588" y="23386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A784B7-17C6-DD61-6F49-3A388EBDFDD7}"/>
              </a:ext>
            </a:extLst>
          </p:cNvPr>
          <p:cNvSpPr txBox="1"/>
          <p:nvPr/>
        </p:nvSpPr>
        <p:spPr>
          <a:xfrm>
            <a:off x="532263" y="4549676"/>
            <a:ext cx="6250429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$t2,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     # LAST IN → FIRST OUT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4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$t1,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4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$t0,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     # FIRST IN → LAST OUT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4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5771C6-C8DB-95D4-E4F8-BA4FB48DA622}"/>
              </a:ext>
            </a:extLst>
          </p:cNvPr>
          <p:cNvSpPr txBox="1"/>
          <p:nvPr/>
        </p:nvSpPr>
        <p:spPr>
          <a:xfrm>
            <a:off x="0" y="4180344"/>
            <a:ext cx="4986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Pop them individually, gives the reverse order: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BB3E87-8B57-ACF7-2AA6-E37C9B813471}"/>
              </a:ext>
            </a:extLst>
          </p:cNvPr>
          <p:cNvSpPr txBox="1"/>
          <p:nvPr/>
        </p:nvSpPr>
        <p:spPr>
          <a:xfrm>
            <a:off x="278642" y="739507"/>
            <a:ext cx="27905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Push one item at a time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8C45FD-7024-1B84-4F44-8D65D3218491}"/>
              </a:ext>
            </a:extLst>
          </p:cNvPr>
          <p:cNvSpPr txBox="1"/>
          <p:nvPr/>
        </p:nvSpPr>
        <p:spPr>
          <a:xfrm>
            <a:off x="7175114" y="2119250"/>
            <a:ext cx="488268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  <a:cs typeface="Courier New" panose="02070309020205020404" pitchFamily="49" charset="0"/>
              </a:rPr>
              <a:t>However, using  </a:t>
            </a:r>
            <a:r>
              <a:rPr lang="en-US" dirty="0" err="1">
                <a:solidFill>
                  <a:srgbClr val="FF0000"/>
                </a:solidFill>
                <a:cs typeface="Courier New" panose="02070309020205020404" pitchFamily="49" charset="0"/>
              </a:rPr>
              <a:t>addiu</a:t>
            </a:r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 $</a:t>
            </a:r>
            <a:r>
              <a:rPr lang="en-US" dirty="0" err="1">
                <a:solidFill>
                  <a:srgbClr val="FF0000"/>
                </a:solidFill>
                <a:cs typeface="Courier New" panose="02070309020205020404" pitchFamily="49" charset="0"/>
              </a:rPr>
              <a:t>sp</a:t>
            </a:r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, $</a:t>
            </a:r>
            <a:r>
              <a:rPr lang="en-US" dirty="0" err="1">
                <a:solidFill>
                  <a:srgbClr val="FF0000"/>
                </a:solidFill>
                <a:cs typeface="Courier New" panose="02070309020205020404" pitchFamily="49" charset="0"/>
              </a:rPr>
              <a:t>sp</a:t>
            </a:r>
            <a:r>
              <a:rPr lang="en-US" dirty="0">
                <a:solidFill>
                  <a:srgbClr val="FF0000"/>
                </a:solidFill>
                <a:cs typeface="Courier New" panose="02070309020205020404" pitchFamily="49" charset="0"/>
              </a:rPr>
              <a:t>, -16</a:t>
            </a:r>
          </a:p>
          <a:p>
            <a:r>
              <a:rPr lang="en-CN" dirty="0">
                <a:solidFill>
                  <a:srgbClr val="FF0000"/>
                </a:solidFill>
                <a:cs typeface="Courier New" panose="02070309020205020404" pitchFamily="49" charset="0"/>
              </a:rPr>
              <a:t>allocates an entire 16-byte stack frame at once.</a:t>
            </a:r>
          </a:p>
          <a:p>
            <a:r>
              <a:rPr lang="en-CN" dirty="0">
                <a:solidFill>
                  <a:srgbClr val="FF0000"/>
                </a:solidFill>
              </a:rPr>
              <a:t>Once that frame exists, you can access any </a:t>
            </a:r>
          </a:p>
          <a:p>
            <a:r>
              <a:rPr lang="en-CN" dirty="0">
                <a:solidFill>
                  <a:srgbClr val="FF0000"/>
                </a:solidFill>
              </a:rPr>
              <a:t>location within it using offsets: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$t0, 0($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$t1, 4($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$t2, 8($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, 12($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need to pop in Last in First out</a:t>
            </a:r>
          </a:p>
          <a:p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You can pop 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  <a:r>
              <a:rPr 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any value in any order </a:t>
            </a:r>
            <a:endParaRPr lang="en-CN" dirty="0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0319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CA561-12B9-8E8A-96A2-19C6E6C4C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716" y="18255"/>
            <a:ext cx="10515600" cy="1325563"/>
          </a:xfrm>
        </p:spPr>
        <p:txBody>
          <a:bodyPr/>
          <a:lstStyle/>
          <a:p>
            <a:r>
              <a:rPr lang="en-US" b="1" dirty="0"/>
              <a:t>Leaf vs. Non-Leaf Function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19C85-D39B-B823-F1DE-9DC7BD2FAD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5811" y="1133415"/>
            <a:ext cx="10515600" cy="435133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/>
              <a:t>Leaf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Does NOT call another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Does NOT need to save $</a:t>
            </a:r>
            <a:r>
              <a:rPr lang="en-US" dirty="0" err="1"/>
              <a:t>ra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en-US" dirty="0"/>
              <a:t>Non-Leaf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Calls another function</a:t>
            </a:r>
          </a:p>
          <a:p>
            <a:pPr lvl="1">
              <a:lnSpc>
                <a:spcPct val="150000"/>
              </a:lnSpc>
            </a:pPr>
            <a:r>
              <a:rPr lang="en-US" dirty="0"/>
              <a:t>MUST save and restore $</a:t>
            </a:r>
            <a:r>
              <a:rPr lang="en-US" dirty="0" err="1"/>
              <a:t>ra</a:t>
            </a:r>
            <a:endParaRPr lang="en-US" dirty="0"/>
          </a:p>
          <a:p>
            <a:pPr lvl="1">
              <a:lnSpc>
                <a:spcPct val="150000"/>
              </a:lnSpc>
            </a:pPr>
            <a:r>
              <a:rPr lang="en-US" dirty="0"/>
              <a:t>Uses stack pointer register $</a:t>
            </a:r>
            <a:r>
              <a:rPr lang="en-US" dirty="0" err="1"/>
              <a:t>sp</a:t>
            </a:r>
            <a:endParaRPr lang="en-CN" dirty="0"/>
          </a:p>
          <a:p>
            <a:pPr lvl="1">
              <a:lnSpc>
                <a:spcPct val="150000"/>
              </a:lnSpc>
            </a:pPr>
            <a:endParaRPr lang="en-CN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460BEF-673E-7F38-F6AA-281BD9FD04F8}"/>
              </a:ext>
            </a:extLst>
          </p:cNvPr>
          <p:cNvCxnSpPr>
            <a:cxnSpLocks/>
          </p:cNvCxnSpPr>
          <p:nvPr/>
        </p:nvCxnSpPr>
        <p:spPr>
          <a:xfrm>
            <a:off x="205811" y="936310"/>
            <a:ext cx="620353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9392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B922BC-B5AE-6569-A7EE-3B062E3D4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636" y="29289"/>
            <a:ext cx="10515600" cy="1325563"/>
          </a:xfrm>
        </p:spPr>
        <p:txBody>
          <a:bodyPr/>
          <a:lstStyle/>
          <a:p>
            <a:r>
              <a:rPr lang="en-US" b="1" dirty="0"/>
              <a:t>Non-Leaf </a:t>
            </a:r>
            <a:r>
              <a:rPr lang="en-US" b="1" dirty="0" err="1"/>
              <a:t>divmod</a:t>
            </a:r>
            <a:r>
              <a:rPr lang="en-US" b="1" dirty="0"/>
              <a:t> vs. Leaf </a:t>
            </a:r>
            <a:r>
              <a:rPr lang="en-US" b="1" dirty="0" err="1"/>
              <a:t>divmod</a:t>
            </a:r>
            <a:r>
              <a:rPr lang="en-US" b="1" dirty="0"/>
              <a:t> </a:t>
            </a:r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1377B8-6EE4-6932-82F2-8FD551589CB1}"/>
              </a:ext>
            </a:extLst>
          </p:cNvPr>
          <p:cNvSpPr txBox="1"/>
          <p:nvPr/>
        </p:nvSpPr>
        <p:spPr>
          <a:xfrm>
            <a:off x="0" y="1796072"/>
            <a:ext cx="6479659" cy="32932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-4     # allocate stack space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  # save return address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div   $a0, $a1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mflo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$v0              # quotient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mfhi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$v1              # remainder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print_newline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# call another function</a:t>
            </a: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      # restore return address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4      # deallocate stack space</a:t>
            </a: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469235-879D-A520-4FFC-00162DAC5881}"/>
              </a:ext>
            </a:extLst>
          </p:cNvPr>
          <p:cNvSpPr txBox="1"/>
          <p:nvPr/>
        </p:nvSpPr>
        <p:spPr>
          <a:xfrm>
            <a:off x="6768720" y="1893709"/>
            <a:ext cx="542328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div   $a0, $a1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mflo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$v0              # quotient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mfhi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$v1              # remainder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573C7CE-52A4-D8DD-F379-CFF1DD915B9F}"/>
              </a:ext>
            </a:extLst>
          </p:cNvPr>
          <p:cNvCxnSpPr>
            <a:cxnSpLocks/>
          </p:cNvCxnSpPr>
          <p:nvPr/>
        </p:nvCxnSpPr>
        <p:spPr bwMode="auto">
          <a:xfrm>
            <a:off x="6710150" y="1585616"/>
            <a:ext cx="0" cy="490528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86594AD-C8F0-9A08-D9ED-93C3B1CBC733}"/>
              </a:ext>
            </a:extLst>
          </p:cNvPr>
          <p:cNvCxnSpPr>
            <a:cxnSpLocks/>
          </p:cNvCxnSpPr>
          <p:nvPr/>
        </p:nvCxnSpPr>
        <p:spPr>
          <a:xfrm>
            <a:off x="306904" y="965506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75610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086C-8327-AF05-22E9-438A4FF88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185" y="136525"/>
            <a:ext cx="10515600" cy="710129"/>
          </a:xfrm>
        </p:spPr>
        <p:txBody>
          <a:bodyPr/>
          <a:lstStyle/>
          <a:p>
            <a:r>
              <a:rPr lang="en-CN" b="1" dirty="0"/>
              <a:t>Stack Pointer ($sp)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0A69BE-72BA-788F-0234-1C5C36C3F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716" y="998279"/>
            <a:ext cx="8270875" cy="863302"/>
          </a:xfrm>
        </p:spPr>
        <p:txBody>
          <a:bodyPr/>
          <a:lstStyle/>
          <a:p>
            <a:r>
              <a:rPr lang="en-US" sz="2400" dirty="0"/>
              <a:t>It holds the </a:t>
            </a:r>
            <a:r>
              <a:rPr lang="en-US" sz="2400" dirty="0">
                <a:solidFill>
                  <a:srgbClr val="FF0000"/>
                </a:solidFill>
              </a:rPr>
              <a:t>address</a:t>
            </a:r>
            <a:r>
              <a:rPr lang="en-US" sz="2400" dirty="0"/>
              <a:t> of the top of the current stack frame, and it changes when you allocate/free stack space.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3B306-33F6-A078-1EAD-8ED893936590}"/>
              </a:ext>
            </a:extLst>
          </p:cNvPr>
          <p:cNvSpPr txBox="1"/>
          <p:nvPr/>
        </p:nvSpPr>
        <p:spPr>
          <a:xfrm>
            <a:off x="204354" y="1905338"/>
            <a:ext cx="2762295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li  $a0, 17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li  $a1, 5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# print quotient ($v0)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move $a0, $v0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li   $v0, 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# exit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li   $v0, 10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/>
          </a:p>
          <a:p>
            <a:endParaRPr lang="en-US" sz="1400" dirty="0"/>
          </a:p>
          <a:p>
            <a:endParaRPr lang="en-CN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4ABA26-2CCB-6F65-8CC1-F43FB8772888}"/>
              </a:ext>
            </a:extLst>
          </p:cNvPr>
          <p:cNvSpPr txBox="1"/>
          <p:nvPr/>
        </p:nvSpPr>
        <p:spPr>
          <a:xfrm>
            <a:off x="3527998" y="1905338"/>
            <a:ext cx="372890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leaf helper that prints newline</a:t>
            </a: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print_newline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li   $a0, 10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li   $v0, 11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is NOT leaf anymore 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#(it calls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print_newline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so it must save/restore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ra.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-4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/>
          </a:p>
          <a:p>
            <a:r>
              <a:rPr lang="en-US" sz="1400" dirty="0"/>
              <a:t>  </a:t>
            </a:r>
            <a:endParaRPr lang="en-C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43EF08-214D-3A6C-6CEA-32B85A61DB6E}"/>
              </a:ext>
            </a:extLst>
          </p:cNvPr>
          <p:cNvSpPr txBox="1"/>
          <p:nvPr/>
        </p:nvSpPr>
        <p:spPr>
          <a:xfrm>
            <a:off x="7488637" y="1974265"/>
            <a:ext cx="4480714" cy="252376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div  $a0, $a1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mflo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$v0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mfhi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$v1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writes the return address into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print_newline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264C98-8880-F37C-33F1-0B11EA0EB06F}"/>
              </a:ext>
            </a:extLst>
          </p:cNvPr>
          <p:cNvCxnSpPr>
            <a:cxnSpLocks/>
          </p:cNvCxnSpPr>
          <p:nvPr/>
        </p:nvCxnSpPr>
        <p:spPr bwMode="auto">
          <a:xfrm>
            <a:off x="3166081" y="1911388"/>
            <a:ext cx="61884" cy="425867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C3541EC-5B34-C181-22E6-C628216CDEFA}"/>
              </a:ext>
            </a:extLst>
          </p:cNvPr>
          <p:cNvCxnSpPr>
            <a:cxnSpLocks/>
          </p:cNvCxnSpPr>
          <p:nvPr/>
        </p:nvCxnSpPr>
        <p:spPr bwMode="auto">
          <a:xfrm>
            <a:off x="7197241" y="2029342"/>
            <a:ext cx="0" cy="3029168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BA0A767F-1CD4-6BDF-66AE-C954178E307B}"/>
              </a:ext>
            </a:extLst>
          </p:cNvPr>
          <p:cNvSpPr txBox="1"/>
          <p:nvPr/>
        </p:nvSpPr>
        <p:spPr>
          <a:xfrm>
            <a:off x="6852444" y="5550753"/>
            <a:ext cx="33661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 leaf function is a function that </a:t>
            </a:r>
          </a:p>
          <a:p>
            <a:r>
              <a:rPr lang="en-US" dirty="0">
                <a:solidFill>
                  <a:srgbClr val="FF0000"/>
                </a:solidFill>
              </a:rPr>
              <a:t>does not call any other function</a:t>
            </a:r>
          </a:p>
          <a:p>
            <a:endParaRPr lang="en-CN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4CCAC79-6E6A-D9AA-101D-6A9A9128965F}"/>
              </a:ext>
            </a:extLst>
          </p:cNvPr>
          <p:cNvCxnSpPr>
            <a:cxnSpLocks/>
          </p:cNvCxnSpPr>
          <p:nvPr/>
        </p:nvCxnSpPr>
        <p:spPr>
          <a:xfrm>
            <a:off x="204354" y="846654"/>
            <a:ext cx="578909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0080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E51B1-2DEF-1BB0-2BFF-5AF15E960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755" y="146760"/>
            <a:ext cx="10515600" cy="767639"/>
          </a:xfrm>
        </p:spPr>
        <p:txBody>
          <a:bodyPr/>
          <a:lstStyle/>
          <a:p>
            <a:r>
              <a:rPr lang="en-CN" b="1" dirty="0"/>
              <a:t>Stack Pointer ($sp) – Non Leaf Example</a:t>
            </a:r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606EC5-29DD-1296-9DB2-780F95A58DA0}"/>
              </a:ext>
            </a:extLst>
          </p:cNvPr>
          <p:cNvSpPr txBox="1"/>
          <p:nvPr/>
        </p:nvSpPr>
        <p:spPr>
          <a:xfrm>
            <a:off x="196755" y="948690"/>
            <a:ext cx="6112571" cy="59093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newline: 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asciiz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"\n"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li $a0, 17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li $a1, 5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# If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returns correctly, print 99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li $a0, 99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li $v0, 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li $v0, 10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8FD6F6-77D8-0E7E-DE55-B2568A69D2E5}"/>
              </a:ext>
            </a:extLst>
          </p:cNvPr>
          <p:cNvSpPr txBox="1"/>
          <p:nvPr/>
        </p:nvSpPr>
        <p:spPr>
          <a:xfrm>
            <a:off x="7044437" y="671691"/>
            <a:ext cx="5147563" cy="64633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divmod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-4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div   $a0, $a1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mflo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$v0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mfhi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$v1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print_newline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      # RESTORE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, 4</a:t>
            </a: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print_newline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: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li $a0, 10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li $v0, 11</a:t>
            </a: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94073-957C-E73E-345F-631D4C67E8E4}"/>
              </a:ext>
            </a:extLst>
          </p:cNvPr>
          <p:cNvSpPr txBox="1"/>
          <p:nvPr/>
        </p:nvSpPr>
        <p:spPr>
          <a:xfrm>
            <a:off x="2402006" y="6001643"/>
            <a:ext cx="48497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Prints 99 to show that divmod returns correctly.</a:t>
            </a:r>
          </a:p>
          <a:p>
            <a:r>
              <a:rPr lang="en-US" dirty="0">
                <a:solidFill>
                  <a:srgbClr val="FF0000"/>
                </a:solidFill>
              </a:rPr>
              <a:t>C</a:t>
            </a:r>
            <a:r>
              <a:rPr lang="en-CN" dirty="0">
                <a:solidFill>
                  <a:srgbClr val="FF0000"/>
                </a:solidFill>
              </a:rPr>
              <a:t>ommenting out the restore will print nothing</a:t>
            </a:r>
          </a:p>
        </p:txBody>
      </p:sp>
    </p:spTree>
    <p:extLst>
      <p:ext uri="{BB962C8B-B14F-4D97-AF65-F5344CB8AC3E}">
        <p14:creationId xmlns:p14="http://schemas.microsoft.com/office/powerpoint/2010/main" val="33400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896BF-9BDC-D692-DF05-C0986CD1B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4051" y="160740"/>
            <a:ext cx="10515600" cy="1040594"/>
          </a:xfrm>
        </p:spPr>
        <p:txBody>
          <a:bodyPr/>
          <a:lstStyle/>
          <a:p>
            <a:r>
              <a:rPr lang="en-CN" b="1" dirty="0"/>
              <a:t>Stack Pointer ($sp) – Non Leaf Example</a:t>
            </a:r>
            <a:endParaRPr lang="en-C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95640B-7A6C-0F77-74A6-89D63F54FEB1}"/>
              </a:ext>
            </a:extLst>
          </p:cNvPr>
          <p:cNvSpPr txBox="1"/>
          <p:nvPr/>
        </p:nvSpPr>
        <p:spPr>
          <a:xfrm>
            <a:off x="354842" y="1310185"/>
            <a:ext cx="5876930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.data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returned: 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asciiz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"Successfully returned to main!\n"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inside:   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asciiz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"Inside helper function\n"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.text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globl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main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main: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calculate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We only get here if calculate returns correctly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li $v0, 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la $a0, returned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li $v0, 10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B58F56-F4DC-211E-63DD-9901D60DEC14}"/>
              </a:ext>
            </a:extLst>
          </p:cNvPr>
          <p:cNvSpPr txBox="1"/>
          <p:nvPr/>
        </p:nvSpPr>
        <p:spPr>
          <a:xfrm>
            <a:off x="6837528" y="1091821"/>
            <a:ext cx="4051109" cy="54784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#Non-leaf function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calculate: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Save return address to main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-4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Call another function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jal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helper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Restore return address to main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lw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0($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addiu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sp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4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# Return to main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#leaf function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helper: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li $v0, 4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la $a0, inside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syscall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$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ra</a:t>
            </a: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515784-4071-FA34-9C70-E62775EFEABC}"/>
              </a:ext>
            </a:extLst>
          </p:cNvPr>
          <p:cNvSpPr txBox="1"/>
          <p:nvPr/>
        </p:nvSpPr>
        <p:spPr>
          <a:xfrm>
            <a:off x="1241946" y="5540991"/>
            <a:ext cx="51621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N" dirty="0">
                <a:solidFill>
                  <a:srgbClr val="FF0000"/>
                </a:solidFill>
              </a:rPr>
              <a:t>print a message after the non-leaf function returns</a:t>
            </a:r>
          </a:p>
        </p:txBody>
      </p:sp>
    </p:spTree>
    <p:extLst>
      <p:ext uri="{BB962C8B-B14F-4D97-AF65-F5344CB8AC3E}">
        <p14:creationId xmlns:p14="http://schemas.microsoft.com/office/powerpoint/2010/main" val="648839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2738-B8BA-08BC-3BFE-F48DB6C2F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17" y="0"/>
            <a:ext cx="10515600" cy="931412"/>
          </a:xfrm>
        </p:spPr>
        <p:txBody>
          <a:bodyPr/>
          <a:lstStyle/>
          <a:p>
            <a:r>
              <a:rPr lang="en-CN" dirty="0"/>
              <a:t>In Class Task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0931FD-7324-EED7-CB08-33FE4E2D1093}"/>
              </a:ext>
            </a:extLst>
          </p:cNvPr>
          <p:cNvSpPr txBox="1"/>
          <p:nvPr/>
        </p:nvSpPr>
        <p:spPr>
          <a:xfrm>
            <a:off x="395785" y="846161"/>
            <a:ext cx="4373313" cy="61247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&lt;iostream&gt;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using namespace std;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Leaf function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doubleValue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(int x)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x * 2;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// Non-leaf function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calculate(int a, int b)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sum = a + b;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// calculate calls another function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result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doubleValue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(sum);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result;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int result = calculate(8, 4);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cout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&lt;&lt; result &lt;&lt;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endl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return 0;</a:t>
            </a: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A8411BE-79BA-01C4-2825-CAD3B6AE8C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5768923"/>
              </p:ext>
            </p:extLst>
          </p:nvPr>
        </p:nvGraphicFramePr>
        <p:xfrm>
          <a:off x="5933607" y="628174"/>
          <a:ext cx="5623560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11780">
                  <a:extLst>
                    <a:ext uri="{9D8B030D-6E8A-4147-A177-3AD203B41FA5}">
                      <a16:colId xmlns:a16="http://schemas.microsoft.com/office/drawing/2014/main" val="2384429031"/>
                    </a:ext>
                  </a:extLst>
                </a:gridCol>
                <a:gridCol w="2811780">
                  <a:extLst>
                    <a:ext uri="{9D8B030D-6E8A-4147-A177-3AD203B41FA5}">
                      <a16:colId xmlns:a16="http://schemas.microsoft.com/office/drawing/2014/main" val="2659484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C++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MIPS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9945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calculate(8, 4)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jal calculate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81594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a,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$a0, $a1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80797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return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result in $v0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0567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doubleValue(sum)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jal double_value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7757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doubleValue()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Leaf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5117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/>
                        <a:t>calculate()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N" dirty="0"/>
                        <a:t>Non-leaf function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250449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E479C37-EF8F-BD7E-21DE-9C132CF7D3D2}"/>
              </a:ext>
            </a:extLst>
          </p:cNvPr>
          <p:cNvSpPr txBox="1"/>
          <p:nvPr/>
        </p:nvSpPr>
        <p:spPr>
          <a:xfrm>
            <a:off x="4769098" y="3669507"/>
            <a:ext cx="73999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N" dirty="0"/>
              <a:t>Given the C++ code, write the equivalent MIPS program. Your MIPS </a:t>
            </a:r>
          </a:p>
          <a:p>
            <a:r>
              <a:rPr lang="en-CN" dirty="0"/>
              <a:t>      program should demonstrate the use of the stack pointer ($sp) and </a:t>
            </a:r>
          </a:p>
          <a:p>
            <a:r>
              <a:rPr lang="en-CN" dirty="0"/>
              <a:t>     correctly implement the leaf and non-leaf functions discussed in class.</a:t>
            </a:r>
          </a:p>
        </p:txBody>
      </p:sp>
    </p:spTree>
    <p:extLst>
      <p:ext uri="{BB962C8B-B14F-4D97-AF65-F5344CB8AC3E}">
        <p14:creationId xmlns:p14="http://schemas.microsoft.com/office/powerpoint/2010/main" val="979057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2163</TotalTime>
  <Words>2194</Words>
  <Application>Microsoft Macintosh PowerPoint</Application>
  <PresentationFormat>Widescreen</PresentationFormat>
  <Paragraphs>472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Office Theme</vt:lpstr>
      <vt:lpstr>Computer Organization &amp; Assembly Language</vt:lpstr>
      <vt:lpstr>Common Arithmetic Instructions (Registers Only)</vt:lpstr>
      <vt:lpstr>Memory Access Instructions</vt:lpstr>
      <vt:lpstr>32 MIPS general-purpose registers</vt:lpstr>
      <vt:lpstr>J-Type (Jump) Instructions</vt:lpstr>
      <vt:lpstr>Jump Instructions</vt:lpstr>
      <vt:lpstr>Example Jump Instructions</vt:lpstr>
      <vt:lpstr>C++ Code</vt:lpstr>
      <vt:lpstr>Leaf vs. Non-Leaf Function</vt:lpstr>
      <vt:lpstr>Stack vs. Queue</vt:lpstr>
      <vt:lpstr>Stack Pointer ($sp)</vt:lpstr>
      <vt:lpstr>Stack Pointer ($sp)</vt:lpstr>
      <vt:lpstr>STACK  is LIFO (Last-In-First-Out)</vt:lpstr>
      <vt:lpstr>Leaf vs. Non-Leaf Function</vt:lpstr>
      <vt:lpstr>Non-Leaf divmod vs. Leaf divmod </vt:lpstr>
      <vt:lpstr>Stack Pointer ($sp)</vt:lpstr>
      <vt:lpstr>Stack Pointer ($sp) – Non Leaf Example</vt:lpstr>
      <vt:lpstr>Stack Pointer ($sp) – Non Leaf Example</vt:lpstr>
      <vt:lpstr>In Class Task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Ebuka P Oguchi</dc:creator>
  <cp:lastModifiedBy>Ebuka P Oguchi</cp:lastModifiedBy>
  <cp:revision>28</cp:revision>
  <dcterms:created xsi:type="dcterms:W3CDTF">2026-02-19T02:58:07Z</dcterms:created>
  <dcterms:modified xsi:type="dcterms:W3CDTF">2026-09-28T17:36:57Z</dcterms:modified>
</cp:coreProperties>
</file>