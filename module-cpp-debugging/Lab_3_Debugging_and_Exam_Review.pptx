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5" r:id="rId11"/>
    <p:sldId id="266" r:id="rId12"/>
    <p:sldId id="267" r:id="rId13"/>
    <p:sldId id="268" r:id="rId14"/>
    <p:sldId id="269" r:id="rId15"/>
    <p:sldId id="270" r:id="rId16"/>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76"/>
    <p:restoredTop sz="94606"/>
  </p:normalViewPr>
  <p:slideViewPr>
    <p:cSldViewPr snapToGrid="0" showGuides="1">
      <p:cViewPr varScale="1">
        <p:scale>
          <a:sx n="119" d="100"/>
          <a:sy n="119" d="100"/>
        </p:scale>
        <p:origin x="584" y="184"/>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6DC35-C154-5082-46A7-5FAB7F3C03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670103B9-7831-4E01-E30E-C494929176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53785B61-C937-A954-5AD1-0D89FD1C3A31}"/>
              </a:ext>
            </a:extLst>
          </p:cNvPr>
          <p:cNvSpPr>
            <a:spLocks noGrp="1"/>
          </p:cNvSpPr>
          <p:nvPr>
            <p:ph type="dt" sz="half" idx="10"/>
          </p:nvPr>
        </p:nvSpPr>
        <p:spPr/>
        <p:txBody>
          <a:bodyPr/>
          <a:lstStyle/>
          <a:p>
            <a:fld id="{1020E7FB-768B-0747-9B3C-D4F154ACFE37}" type="datetimeFigureOut">
              <a:rPr lang="en-CN" smtClean="0"/>
              <a:t>2026/9/22</a:t>
            </a:fld>
            <a:endParaRPr lang="en-CN"/>
          </a:p>
        </p:txBody>
      </p:sp>
      <p:sp>
        <p:nvSpPr>
          <p:cNvPr id="5" name="Footer Placeholder 4">
            <a:extLst>
              <a:ext uri="{FF2B5EF4-FFF2-40B4-BE49-F238E27FC236}">
                <a16:creationId xmlns:a16="http://schemas.microsoft.com/office/drawing/2014/main" id="{AE0FCBAD-97BE-9C2D-B685-E25FE9BE90E3}"/>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A2151EC3-2510-6B01-DF98-756F41319042}"/>
              </a:ext>
            </a:extLst>
          </p:cNvPr>
          <p:cNvSpPr>
            <a:spLocks noGrp="1"/>
          </p:cNvSpPr>
          <p:nvPr>
            <p:ph type="sldNum" sz="quarter" idx="12"/>
          </p:nvPr>
        </p:nvSpPr>
        <p:spPr/>
        <p:txBody>
          <a:bodyPr/>
          <a:lstStyle/>
          <a:p>
            <a:fld id="{9CDB15A2-E2E2-F742-A6A6-A79F616FEF51}" type="slidenum">
              <a:rPr lang="en-CN" smtClean="0"/>
              <a:t>‹#›</a:t>
            </a:fld>
            <a:endParaRPr lang="en-CN"/>
          </a:p>
        </p:txBody>
      </p:sp>
    </p:spTree>
    <p:extLst>
      <p:ext uri="{BB962C8B-B14F-4D97-AF65-F5344CB8AC3E}">
        <p14:creationId xmlns:p14="http://schemas.microsoft.com/office/powerpoint/2010/main" val="3451160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E81C0-EFE8-5FF0-42E3-7CA19A4F404A}"/>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FA62C7EA-4093-D8F7-1A72-67FA760CF7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2EB1C88C-E5BB-CAE3-65C1-EA9A9D9F5A65}"/>
              </a:ext>
            </a:extLst>
          </p:cNvPr>
          <p:cNvSpPr>
            <a:spLocks noGrp="1"/>
          </p:cNvSpPr>
          <p:nvPr>
            <p:ph type="dt" sz="half" idx="10"/>
          </p:nvPr>
        </p:nvSpPr>
        <p:spPr/>
        <p:txBody>
          <a:bodyPr/>
          <a:lstStyle/>
          <a:p>
            <a:fld id="{1020E7FB-768B-0747-9B3C-D4F154ACFE37}" type="datetimeFigureOut">
              <a:rPr lang="en-CN" smtClean="0"/>
              <a:t>2026/9/22</a:t>
            </a:fld>
            <a:endParaRPr lang="en-CN"/>
          </a:p>
        </p:txBody>
      </p:sp>
      <p:sp>
        <p:nvSpPr>
          <p:cNvPr id="5" name="Footer Placeholder 4">
            <a:extLst>
              <a:ext uri="{FF2B5EF4-FFF2-40B4-BE49-F238E27FC236}">
                <a16:creationId xmlns:a16="http://schemas.microsoft.com/office/drawing/2014/main" id="{43EF6DDF-17EA-ABBC-C693-AFCC7B59B47D}"/>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82F450E-EAF9-8444-26B1-C9CBC9ED2E76}"/>
              </a:ext>
            </a:extLst>
          </p:cNvPr>
          <p:cNvSpPr>
            <a:spLocks noGrp="1"/>
          </p:cNvSpPr>
          <p:nvPr>
            <p:ph type="sldNum" sz="quarter" idx="12"/>
          </p:nvPr>
        </p:nvSpPr>
        <p:spPr/>
        <p:txBody>
          <a:bodyPr/>
          <a:lstStyle/>
          <a:p>
            <a:fld id="{9CDB15A2-E2E2-F742-A6A6-A79F616FEF51}" type="slidenum">
              <a:rPr lang="en-CN" smtClean="0"/>
              <a:t>‹#›</a:t>
            </a:fld>
            <a:endParaRPr lang="en-CN"/>
          </a:p>
        </p:txBody>
      </p:sp>
    </p:spTree>
    <p:extLst>
      <p:ext uri="{BB962C8B-B14F-4D97-AF65-F5344CB8AC3E}">
        <p14:creationId xmlns:p14="http://schemas.microsoft.com/office/powerpoint/2010/main" val="3101729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5A62E-5D1A-6229-F7C9-36C8DA9119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2033D1BF-EA40-A425-36FA-8A549931C9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15116E-9317-1DE1-4E66-CA06C7ECEA7C}"/>
              </a:ext>
            </a:extLst>
          </p:cNvPr>
          <p:cNvSpPr>
            <a:spLocks noGrp="1"/>
          </p:cNvSpPr>
          <p:nvPr>
            <p:ph type="dt" sz="half" idx="10"/>
          </p:nvPr>
        </p:nvSpPr>
        <p:spPr/>
        <p:txBody>
          <a:bodyPr/>
          <a:lstStyle/>
          <a:p>
            <a:fld id="{1020E7FB-768B-0747-9B3C-D4F154ACFE37}" type="datetimeFigureOut">
              <a:rPr lang="en-CN" smtClean="0"/>
              <a:t>2026/9/22</a:t>
            </a:fld>
            <a:endParaRPr lang="en-CN"/>
          </a:p>
        </p:txBody>
      </p:sp>
      <p:sp>
        <p:nvSpPr>
          <p:cNvPr id="5" name="Footer Placeholder 4">
            <a:extLst>
              <a:ext uri="{FF2B5EF4-FFF2-40B4-BE49-F238E27FC236}">
                <a16:creationId xmlns:a16="http://schemas.microsoft.com/office/drawing/2014/main" id="{D9FCD3FF-2F41-9FF8-E080-90A7AEE42647}"/>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CDACA1E-74E7-A2AD-627D-9BD117FD36E2}"/>
              </a:ext>
            </a:extLst>
          </p:cNvPr>
          <p:cNvSpPr>
            <a:spLocks noGrp="1"/>
          </p:cNvSpPr>
          <p:nvPr>
            <p:ph type="sldNum" sz="quarter" idx="12"/>
          </p:nvPr>
        </p:nvSpPr>
        <p:spPr/>
        <p:txBody>
          <a:bodyPr/>
          <a:lstStyle/>
          <a:p>
            <a:fld id="{9CDB15A2-E2E2-F742-A6A6-A79F616FEF51}" type="slidenum">
              <a:rPr lang="en-CN" smtClean="0"/>
              <a:t>‹#›</a:t>
            </a:fld>
            <a:endParaRPr lang="en-CN"/>
          </a:p>
        </p:txBody>
      </p:sp>
    </p:spTree>
    <p:extLst>
      <p:ext uri="{BB962C8B-B14F-4D97-AF65-F5344CB8AC3E}">
        <p14:creationId xmlns:p14="http://schemas.microsoft.com/office/powerpoint/2010/main" val="885473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91928-F717-C86F-D20E-9E788BC6D013}"/>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352C200A-2738-5658-0FB8-221E27AFD6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BC88DEA2-8137-201B-813C-D5536853C2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FBC25690-AE7D-9630-1531-465EAEAFFCBD}"/>
              </a:ext>
            </a:extLst>
          </p:cNvPr>
          <p:cNvSpPr>
            <a:spLocks noGrp="1"/>
          </p:cNvSpPr>
          <p:nvPr>
            <p:ph type="dt" sz="half" idx="10"/>
          </p:nvPr>
        </p:nvSpPr>
        <p:spPr/>
        <p:txBody>
          <a:bodyPr/>
          <a:lstStyle/>
          <a:p>
            <a:fld id="{1020E7FB-768B-0747-9B3C-D4F154ACFE37}" type="datetimeFigureOut">
              <a:rPr lang="en-CN" smtClean="0"/>
              <a:t>2026/9/22</a:t>
            </a:fld>
            <a:endParaRPr lang="en-CN"/>
          </a:p>
        </p:txBody>
      </p:sp>
      <p:sp>
        <p:nvSpPr>
          <p:cNvPr id="6" name="Footer Placeholder 5">
            <a:extLst>
              <a:ext uri="{FF2B5EF4-FFF2-40B4-BE49-F238E27FC236}">
                <a16:creationId xmlns:a16="http://schemas.microsoft.com/office/drawing/2014/main" id="{5B993211-AA41-09B9-6389-6D69E02F4BDC}"/>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68539D40-7094-67DD-25B2-D2E7321229A8}"/>
              </a:ext>
            </a:extLst>
          </p:cNvPr>
          <p:cNvSpPr>
            <a:spLocks noGrp="1"/>
          </p:cNvSpPr>
          <p:nvPr>
            <p:ph type="sldNum" sz="quarter" idx="12"/>
          </p:nvPr>
        </p:nvSpPr>
        <p:spPr/>
        <p:txBody>
          <a:bodyPr/>
          <a:lstStyle/>
          <a:p>
            <a:fld id="{9CDB15A2-E2E2-F742-A6A6-A79F616FEF51}" type="slidenum">
              <a:rPr lang="en-CN" smtClean="0"/>
              <a:t>‹#›</a:t>
            </a:fld>
            <a:endParaRPr lang="en-CN"/>
          </a:p>
        </p:txBody>
      </p:sp>
    </p:spTree>
    <p:extLst>
      <p:ext uri="{BB962C8B-B14F-4D97-AF65-F5344CB8AC3E}">
        <p14:creationId xmlns:p14="http://schemas.microsoft.com/office/powerpoint/2010/main" val="4033765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665A8-F165-386E-EB8A-E202CBC5DF70}"/>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7F7816E2-E9C4-D466-B70A-8845E364A0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2D6E86-2EB6-9094-422E-4626650668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067C9DE3-A5FD-4D03-7D03-3DBCD64E46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2C41C9-0B8D-17E8-CA26-C200DA0F5B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3C59700F-8D7A-B566-93EC-936FF49C9577}"/>
              </a:ext>
            </a:extLst>
          </p:cNvPr>
          <p:cNvSpPr>
            <a:spLocks noGrp="1"/>
          </p:cNvSpPr>
          <p:nvPr>
            <p:ph type="dt" sz="half" idx="10"/>
          </p:nvPr>
        </p:nvSpPr>
        <p:spPr/>
        <p:txBody>
          <a:bodyPr/>
          <a:lstStyle/>
          <a:p>
            <a:fld id="{1020E7FB-768B-0747-9B3C-D4F154ACFE37}" type="datetimeFigureOut">
              <a:rPr lang="en-CN" smtClean="0"/>
              <a:t>2026/9/22</a:t>
            </a:fld>
            <a:endParaRPr lang="en-CN"/>
          </a:p>
        </p:txBody>
      </p:sp>
      <p:sp>
        <p:nvSpPr>
          <p:cNvPr id="8" name="Footer Placeholder 7">
            <a:extLst>
              <a:ext uri="{FF2B5EF4-FFF2-40B4-BE49-F238E27FC236}">
                <a16:creationId xmlns:a16="http://schemas.microsoft.com/office/drawing/2014/main" id="{0F484DDB-34D7-E7D0-D82E-D94C7B4304D9}"/>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C448C210-B5F8-CD10-9860-060FF7D45EC3}"/>
              </a:ext>
            </a:extLst>
          </p:cNvPr>
          <p:cNvSpPr>
            <a:spLocks noGrp="1"/>
          </p:cNvSpPr>
          <p:nvPr>
            <p:ph type="sldNum" sz="quarter" idx="12"/>
          </p:nvPr>
        </p:nvSpPr>
        <p:spPr/>
        <p:txBody>
          <a:bodyPr/>
          <a:lstStyle/>
          <a:p>
            <a:fld id="{9CDB15A2-E2E2-F742-A6A6-A79F616FEF51}" type="slidenum">
              <a:rPr lang="en-CN" smtClean="0"/>
              <a:t>‹#›</a:t>
            </a:fld>
            <a:endParaRPr lang="en-CN"/>
          </a:p>
        </p:txBody>
      </p:sp>
    </p:spTree>
    <p:extLst>
      <p:ext uri="{BB962C8B-B14F-4D97-AF65-F5344CB8AC3E}">
        <p14:creationId xmlns:p14="http://schemas.microsoft.com/office/powerpoint/2010/main" val="2646135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3D46A-3F1C-F1E7-837A-9490ACBF1155}"/>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1AF75FD7-D60E-2396-C8E6-686D91A58462}"/>
              </a:ext>
            </a:extLst>
          </p:cNvPr>
          <p:cNvSpPr>
            <a:spLocks noGrp="1"/>
          </p:cNvSpPr>
          <p:nvPr>
            <p:ph type="dt" sz="half" idx="10"/>
          </p:nvPr>
        </p:nvSpPr>
        <p:spPr/>
        <p:txBody>
          <a:bodyPr/>
          <a:lstStyle/>
          <a:p>
            <a:fld id="{1020E7FB-768B-0747-9B3C-D4F154ACFE37}" type="datetimeFigureOut">
              <a:rPr lang="en-CN" smtClean="0"/>
              <a:t>2026/9/22</a:t>
            </a:fld>
            <a:endParaRPr lang="en-CN"/>
          </a:p>
        </p:txBody>
      </p:sp>
      <p:sp>
        <p:nvSpPr>
          <p:cNvPr id="4" name="Footer Placeholder 3">
            <a:extLst>
              <a:ext uri="{FF2B5EF4-FFF2-40B4-BE49-F238E27FC236}">
                <a16:creationId xmlns:a16="http://schemas.microsoft.com/office/drawing/2014/main" id="{C33B7283-5782-A4F1-6CF2-8A194F4373F6}"/>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52D28180-8C2A-EDAE-8B8C-7AA9963C8C51}"/>
              </a:ext>
            </a:extLst>
          </p:cNvPr>
          <p:cNvSpPr>
            <a:spLocks noGrp="1"/>
          </p:cNvSpPr>
          <p:nvPr>
            <p:ph type="sldNum" sz="quarter" idx="12"/>
          </p:nvPr>
        </p:nvSpPr>
        <p:spPr/>
        <p:txBody>
          <a:bodyPr/>
          <a:lstStyle/>
          <a:p>
            <a:fld id="{9CDB15A2-E2E2-F742-A6A6-A79F616FEF51}" type="slidenum">
              <a:rPr lang="en-CN" smtClean="0"/>
              <a:t>‹#›</a:t>
            </a:fld>
            <a:endParaRPr lang="en-CN"/>
          </a:p>
        </p:txBody>
      </p:sp>
    </p:spTree>
    <p:extLst>
      <p:ext uri="{BB962C8B-B14F-4D97-AF65-F5344CB8AC3E}">
        <p14:creationId xmlns:p14="http://schemas.microsoft.com/office/powerpoint/2010/main" val="3003933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7C985C-50C2-22C2-2F32-E7CDF63BA95C}"/>
              </a:ext>
            </a:extLst>
          </p:cNvPr>
          <p:cNvSpPr>
            <a:spLocks noGrp="1"/>
          </p:cNvSpPr>
          <p:nvPr>
            <p:ph type="dt" sz="half" idx="10"/>
          </p:nvPr>
        </p:nvSpPr>
        <p:spPr/>
        <p:txBody>
          <a:bodyPr/>
          <a:lstStyle/>
          <a:p>
            <a:fld id="{1020E7FB-768B-0747-9B3C-D4F154ACFE37}" type="datetimeFigureOut">
              <a:rPr lang="en-CN" smtClean="0"/>
              <a:t>2026/9/22</a:t>
            </a:fld>
            <a:endParaRPr lang="en-CN"/>
          </a:p>
        </p:txBody>
      </p:sp>
      <p:sp>
        <p:nvSpPr>
          <p:cNvPr id="3" name="Footer Placeholder 2">
            <a:extLst>
              <a:ext uri="{FF2B5EF4-FFF2-40B4-BE49-F238E27FC236}">
                <a16:creationId xmlns:a16="http://schemas.microsoft.com/office/drawing/2014/main" id="{D184B4B9-8E07-CAC4-565C-54A75F65096C}"/>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5C93F107-EA8F-8A4B-1722-3C8A2F15E3D7}"/>
              </a:ext>
            </a:extLst>
          </p:cNvPr>
          <p:cNvSpPr>
            <a:spLocks noGrp="1"/>
          </p:cNvSpPr>
          <p:nvPr>
            <p:ph type="sldNum" sz="quarter" idx="12"/>
          </p:nvPr>
        </p:nvSpPr>
        <p:spPr/>
        <p:txBody>
          <a:bodyPr/>
          <a:lstStyle/>
          <a:p>
            <a:fld id="{9CDB15A2-E2E2-F742-A6A6-A79F616FEF51}" type="slidenum">
              <a:rPr lang="en-CN" smtClean="0"/>
              <a:t>‹#›</a:t>
            </a:fld>
            <a:endParaRPr lang="en-CN"/>
          </a:p>
        </p:txBody>
      </p:sp>
    </p:spTree>
    <p:extLst>
      <p:ext uri="{BB962C8B-B14F-4D97-AF65-F5344CB8AC3E}">
        <p14:creationId xmlns:p14="http://schemas.microsoft.com/office/powerpoint/2010/main" val="2129945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C3068-5F6A-3A6B-BBD5-C23EC2EA03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CAAC7CBD-5490-7336-DBF3-EC3A95FAB0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9B074B66-BEC3-A771-0DE6-FFE4ECFEBC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CFCAD-5F8E-E489-7D8F-BA49A3CBE50C}"/>
              </a:ext>
            </a:extLst>
          </p:cNvPr>
          <p:cNvSpPr>
            <a:spLocks noGrp="1"/>
          </p:cNvSpPr>
          <p:nvPr>
            <p:ph type="dt" sz="half" idx="10"/>
          </p:nvPr>
        </p:nvSpPr>
        <p:spPr/>
        <p:txBody>
          <a:bodyPr/>
          <a:lstStyle/>
          <a:p>
            <a:fld id="{1020E7FB-768B-0747-9B3C-D4F154ACFE37}" type="datetimeFigureOut">
              <a:rPr lang="en-CN" smtClean="0"/>
              <a:t>2026/9/22</a:t>
            </a:fld>
            <a:endParaRPr lang="en-CN"/>
          </a:p>
        </p:txBody>
      </p:sp>
      <p:sp>
        <p:nvSpPr>
          <p:cNvPr id="6" name="Footer Placeholder 5">
            <a:extLst>
              <a:ext uri="{FF2B5EF4-FFF2-40B4-BE49-F238E27FC236}">
                <a16:creationId xmlns:a16="http://schemas.microsoft.com/office/drawing/2014/main" id="{91F43E26-188D-92E1-1818-ED536D808BD1}"/>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7376D686-75BE-0281-894B-78100290A818}"/>
              </a:ext>
            </a:extLst>
          </p:cNvPr>
          <p:cNvSpPr>
            <a:spLocks noGrp="1"/>
          </p:cNvSpPr>
          <p:nvPr>
            <p:ph type="sldNum" sz="quarter" idx="12"/>
          </p:nvPr>
        </p:nvSpPr>
        <p:spPr/>
        <p:txBody>
          <a:bodyPr/>
          <a:lstStyle/>
          <a:p>
            <a:fld id="{9CDB15A2-E2E2-F742-A6A6-A79F616FEF51}" type="slidenum">
              <a:rPr lang="en-CN" smtClean="0"/>
              <a:t>‹#›</a:t>
            </a:fld>
            <a:endParaRPr lang="en-CN"/>
          </a:p>
        </p:txBody>
      </p:sp>
    </p:spTree>
    <p:extLst>
      <p:ext uri="{BB962C8B-B14F-4D97-AF65-F5344CB8AC3E}">
        <p14:creationId xmlns:p14="http://schemas.microsoft.com/office/powerpoint/2010/main" val="62256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606E2-6D1A-3C2D-B371-090AB33665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C20521B2-D581-E9DF-E118-5928D663E1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98CEAE76-4C92-62C2-79F2-1691CB2685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06A754-12CD-71FA-E3F4-3F9BE3165CB2}"/>
              </a:ext>
            </a:extLst>
          </p:cNvPr>
          <p:cNvSpPr>
            <a:spLocks noGrp="1"/>
          </p:cNvSpPr>
          <p:nvPr>
            <p:ph type="dt" sz="half" idx="10"/>
          </p:nvPr>
        </p:nvSpPr>
        <p:spPr/>
        <p:txBody>
          <a:bodyPr/>
          <a:lstStyle/>
          <a:p>
            <a:fld id="{1020E7FB-768B-0747-9B3C-D4F154ACFE37}" type="datetimeFigureOut">
              <a:rPr lang="en-CN" smtClean="0"/>
              <a:t>2026/9/22</a:t>
            </a:fld>
            <a:endParaRPr lang="en-CN"/>
          </a:p>
        </p:txBody>
      </p:sp>
      <p:sp>
        <p:nvSpPr>
          <p:cNvPr id="6" name="Footer Placeholder 5">
            <a:extLst>
              <a:ext uri="{FF2B5EF4-FFF2-40B4-BE49-F238E27FC236}">
                <a16:creationId xmlns:a16="http://schemas.microsoft.com/office/drawing/2014/main" id="{6B27C0DA-7339-005B-437A-ADA4F21E3F4B}"/>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7C861521-F2F4-9E0F-1ABB-EF7377C78591}"/>
              </a:ext>
            </a:extLst>
          </p:cNvPr>
          <p:cNvSpPr>
            <a:spLocks noGrp="1"/>
          </p:cNvSpPr>
          <p:nvPr>
            <p:ph type="sldNum" sz="quarter" idx="12"/>
          </p:nvPr>
        </p:nvSpPr>
        <p:spPr/>
        <p:txBody>
          <a:bodyPr/>
          <a:lstStyle/>
          <a:p>
            <a:fld id="{9CDB15A2-E2E2-F742-A6A6-A79F616FEF51}" type="slidenum">
              <a:rPr lang="en-CN" smtClean="0"/>
              <a:t>‹#›</a:t>
            </a:fld>
            <a:endParaRPr lang="en-CN"/>
          </a:p>
        </p:txBody>
      </p:sp>
    </p:spTree>
    <p:extLst>
      <p:ext uri="{BB962C8B-B14F-4D97-AF65-F5344CB8AC3E}">
        <p14:creationId xmlns:p14="http://schemas.microsoft.com/office/powerpoint/2010/main" val="1636553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E4689-99E4-4AEF-F52A-893814B2EB0B}"/>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D3176088-8DA7-6FD7-B8FB-07CA243A66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9B2FBF6B-19AF-54F8-659C-2A07557BDAC9}"/>
              </a:ext>
            </a:extLst>
          </p:cNvPr>
          <p:cNvSpPr>
            <a:spLocks noGrp="1"/>
          </p:cNvSpPr>
          <p:nvPr>
            <p:ph type="dt" sz="half" idx="10"/>
          </p:nvPr>
        </p:nvSpPr>
        <p:spPr/>
        <p:txBody>
          <a:bodyPr/>
          <a:lstStyle/>
          <a:p>
            <a:fld id="{1020E7FB-768B-0747-9B3C-D4F154ACFE37}" type="datetimeFigureOut">
              <a:rPr lang="en-CN" smtClean="0"/>
              <a:t>2026/9/22</a:t>
            </a:fld>
            <a:endParaRPr lang="en-CN"/>
          </a:p>
        </p:txBody>
      </p:sp>
      <p:sp>
        <p:nvSpPr>
          <p:cNvPr id="5" name="Footer Placeholder 4">
            <a:extLst>
              <a:ext uri="{FF2B5EF4-FFF2-40B4-BE49-F238E27FC236}">
                <a16:creationId xmlns:a16="http://schemas.microsoft.com/office/drawing/2014/main" id="{41B848DB-BEC3-68F3-01B0-C9D1A3DDDAB8}"/>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5DF5938B-CE58-1DD0-32E7-EF3F05DC9E74}"/>
              </a:ext>
            </a:extLst>
          </p:cNvPr>
          <p:cNvSpPr>
            <a:spLocks noGrp="1"/>
          </p:cNvSpPr>
          <p:nvPr>
            <p:ph type="sldNum" sz="quarter" idx="12"/>
          </p:nvPr>
        </p:nvSpPr>
        <p:spPr/>
        <p:txBody>
          <a:bodyPr/>
          <a:lstStyle/>
          <a:p>
            <a:fld id="{9CDB15A2-E2E2-F742-A6A6-A79F616FEF51}" type="slidenum">
              <a:rPr lang="en-CN" smtClean="0"/>
              <a:t>‹#›</a:t>
            </a:fld>
            <a:endParaRPr lang="en-CN"/>
          </a:p>
        </p:txBody>
      </p:sp>
    </p:spTree>
    <p:extLst>
      <p:ext uri="{BB962C8B-B14F-4D97-AF65-F5344CB8AC3E}">
        <p14:creationId xmlns:p14="http://schemas.microsoft.com/office/powerpoint/2010/main" val="4248295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CB20F1-CE09-72A2-5A5A-005656CFCC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DB2B0B8A-3E60-1985-ED98-81D354A0B3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7D33AECE-4ED7-E424-8621-30332EE3215F}"/>
              </a:ext>
            </a:extLst>
          </p:cNvPr>
          <p:cNvSpPr>
            <a:spLocks noGrp="1"/>
          </p:cNvSpPr>
          <p:nvPr>
            <p:ph type="dt" sz="half" idx="10"/>
          </p:nvPr>
        </p:nvSpPr>
        <p:spPr/>
        <p:txBody>
          <a:bodyPr/>
          <a:lstStyle/>
          <a:p>
            <a:fld id="{1020E7FB-768B-0747-9B3C-D4F154ACFE37}" type="datetimeFigureOut">
              <a:rPr lang="en-CN" smtClean="0"/>
              <a:t>2026/9/22</a:t>
            </a:fld>
            <a:endParaRPr lang="en-CN"/>
          </a:p>
        </p:txBody>
      </p:sp>
      <p:sp>
        <p:nvSpPr>
          <p:cNvPr id="5" name="Footer Placeholder 4">
            <a:extLst>
              <a:ext uri="{FF2B5EF4-FFF2-40B4-BE49-F238E27FC236}">
                <a16:creationId xmlns:a16="http://schemas.microsoft.com/office/drawing/2014/main" id="{D2CD3DF9-DB34-3DB7-E4AB-D4836B776318}"/>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A3D3BAC-9FF3-2233-AD1B-A912E3DF3200}"/>
              </a:ext>
            </a:extLst>
          </p:cNvPr>
          <p:cNvSpPr>
            <a:spLocks noGrp="1"/>
          </p:cNvSpPr>
          <p:nvPr>
            <p:ph type="sldNum" sz="quarter" idx="12"/>
          </p:nvPr>
        </p:nvSpPr>
        <p:spPr/>
        <p:txBody>
          <a:bodyPr/>
          <a:lstStyle/>
          <a:p>
            <a:fld id="{9CDB15A2-E2E2-F742-A6A6-A79F616FEF51}" type="slidenum">
              <a:rPr lang="en-CN" smtClean="0"/>
              <a:t>‹#›</a:t>
            </a:fld>
            <a:endParaRPr lang="en-CN"/>
          </a:p>
        </p:txBody>
      </p:sp>
    </p:spTree>
    <p:extLst>
      <p:ext uri="{BB962C8B-B14F-4D97-AF65-F5344CB8AC3E}">
        <p14:creationId xmlns:p14="http://schemas.microsoft.com/office/powerpoint/2010/main" val="32631606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1AA849-5A50-35F3-0E6D-F994E3D1C7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345C08C3-3D82-3785-8311-D60BB698EC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453B9227-D512-B6CB-4776-25D555202C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20E7FB-768B-0747-9B3C-D4F154ACFE37}" type="datetimeFigureOut">
              <a:rPr lang="en-CN" smtClean="0"/>
              <a:t>2026/9/22</a:t>
            </a:fld>
            <a:endParaRPr lang="en-CN"/>
          </a:p>
        </p:txBody>
      </p:sp>
      <p:sp>
        <p:nvSpPr>
          <p:cNvPr id="5" name="Footer Placeholder 4">
            <a:extLst>
              <a:ext uri="{FF2B5EF4-FFF2-40B4-BE49-F238E27FC236}">
                <a16:creationId xmlns:a16="http://schemas.microsoft.com/office/drawing/2014/main" id="{5248EF07-9769-9CF5-4093-4F59535CBA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N"/>
          </a:p>
        </p:txBody>
      </p:sp>
      <p:sp>
        <p:nvSpPr>
          <p:cNvPr id="6" name="Slide Number Placeholder 5">
            <a:extLst>
              <a:ext uri="{FF2B5EF4-FFF2-40B4-BE49-F238E27FC236}">
                <a16:creationId xmlns:a16="http://schemas.microsoft.com/office/drawing/2014/main" id="{CFC62E3C-8D90-CF6B-D3D1-3C55C42FDE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DB15A2-E2E2-F742-A6A6-A79F616FEF51}" type="slidenum">
              <a:rPr lang="en-CN" smtClean="0"/>
              <a:t>‹#›</a:t>
            </a:fld>
            <a:endParaRPr lang="en-CN"/>
          </a:p>
        </p:txBody>
      </p:sp>
    </p:spTree>
    <p:extLst>
      <p:ext uri="{BB962C8B-B14F-4D97-AF65-F5344CB8AC3E}">
        <p14:creationId xmlns:p14="http://schemas.microsoft.com/office/powerpoint/2010/main" val="438305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61727-5A5E-D4E0-61A5-A9DCC520D850}"/>
              </a:ext>
            </a:extLst>
          </p:cNvPr>
          <p:cNvSpPr>
            <a:spLocks noGrp="1"/>
          </p:cNvSpPr>
          <p:nvPr>
            <p:ph type="ctrTitle"/>
          </p:nvPr>
        </p:nvSpPr>
        <p:spPr>
          <a:xfrm>
            <a:off x="1524000" y="1122363"/>
            <a:ext cx="9144000" cy="4038360"/>
          </a:xfrm>
        </p:spPr>
        <p:txBody>
          <a:bodyPr>
            <a:normAutofit/>
          </a:bodyPr>
          <a:lstStyle/>
          <a:p>
            <a:r>
              <a:rPr lang="en-CN" dirty="0"/>
              <a:t>Debugging and Exam Review</a:t>
            </a:r>
            <a:br>
              <a:rPr lang="en-CN" dirty="0"/>
            </a:br>
            <a:br>
              <a:rPr lang="en-CN" dirty="0"/>
            </a:br>
            <a:r>
              <a:rPr lang="en-CN" dirty="0"/>
              <a:t>Lab 3</a:t>
            </a:r>
          </a:p>
        </p:txBody>
      </p:sp>
    </p:spTree>
    <p:extLst>
      <p:ext uri="{BB962C8B-B14F-4D97-AF65-F5344CB8AC3E}">
        <p14:creationId xmlns:p14="http://schemas.microsoft.com/office/powerpoint/2010/main" val="3024670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DE71A-30F3-A2E6-F024-97E830B96ED6}"/>
              </a:ext>
            </a:extLst>
          </p:cNvPr>
          <p:cNvSpPr>
            <a:spLocks noGrp="1"/>
          </p:cNvSpPr>
          <p:nvPr>
            <p:ph type="title"/>
          </p:nvPr>
        </p:nvSpPr>
        <p:spPr>
          <a:xfrm>
            <a:off x="537576" y="180931"/>
            <a:ext cx="10515600" cy="1000212"/>
          </a:xfrm>
        </p:spPr>
        <p:txBody>
          <a:bodyPr/>
          <a:lstStyle/>
          <a:p>
            <a:r>
              <a:rPr lang="en-CN" dirty="0"/>
              <a:t>Can You Find the Bugs?</a:t>
            </a:r>
          </a:p>
        </p:txBody>
      </p:sp>
      <p:sp>
        <p:nvSpPr>
          <p:cNvPr id="3" name="Content Placeholder 2">
            <a:extLst>
              <a:ext uri="{FF2B5EF4-FFF2-40B4-BE49-F238E27FC236}">
                <a16:creationId xmlns:a16="http://schemas.microsoft.com/office/drawing/2014/main" id="{FE2F64B4-3882-AA62-A57B-174BC284F684}"/>
              </a:ext>
            </a:extLst>
          </p:cNvPr>
          <p:cNvSpPr>
            <a:spLocks noGrp="1"/>
          </p:cNvSpPr>
          <p:nvPr>
            <p:ph idx="1"/>
          </p:nvPr>
        </p:nvSpPr>
        <p:spPr>
          <a:xfrm>
            <a:off x="425885" y="1515649"/>
            <a:ext cx="10927915" cy="4661314"/>
          </a:xfrm>
        </p:spPr>
        <p:txBody>
          <a:bodyPr/>
          <a:lstStyle/>
          <a:p>
            <a:r>
              <a:rPr lang="en-CN" sz="3200" dirty="0"/>
              <a:t>The following program asks for the name and three exam scores, calculate the average, and display whether the student passed or failed.</a:t>
            </a:r>
          </a:p>
          <a:p>
            <a:endParaRPr lang="en-CN" sz="3200" dirty="0"/>
          </a:p>
          <a:p>
            <a:r>
              <a:rPr lang="en-CN" sz="3200" dirty="0"/>
              <a:t>The program contains several errors.</a:t>
            </a:r>
          </a:p>
          <a:p>
            <a:pPr lvl="1"/>
            <a:r>
              <a:rPr lang="en-CN" sz="2800" dirty="0"/>
              <a:t>Identify each error.</a:t>
            </a:r>
          </a:p>
          <a:p>
            <a:pPr lvl="1"/>
            <a:r>
              <a:rPr lang="en-CN" sz="2800" dirty="0"/>
              <a:t>Explain why it is an error.</a:t>
            </a:r>
          </a:p>
          <a:p>
            <a:pPr lvl="1"/>
            <a:r>
              <a:rPr lang="en-CN" sz="2800" dirty="0"/>
              <a:t>Correct the program.</a:t>
            </a:r>
          </a:p>
          <a:p>
            <a:pPr lvl="1"/>
            <a:r>
              <a:rPr lang="en-CN" sz="2800" dirty="0"/>
              <a:t>Determine what the program should output.</a:t>
            </a:r>
          </a:p>
          <a:p>
            <a:endParaRPr lang="en-CN" dirty="0"/>
          </a:p>
        </p:txBody>
      </p:sp>
    </p:spTree>
    <p:extLst>
      <p:ext uri="{BB962C8B-B14F-4D97-AF65-F5344CB8AC3E}">
        <p14:creationId xmlns:p14="http://schemas.microsoft.com/office/powerpoint/2010/main" val="592839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3DD493-3410-B4D1-FF25-1488C6F30EF4}"/>
              </a:ext>
            </a:extLst>
          </p:cNvPr>
          <p:cNvSpPr txBox="1"/>
          <p:nvPr/>
        </p:nvSpPr>
        <p:spPr>
          <a:xfrm>
            <a:off x="375780" y="638827"/>
            <a:ext cx="3407471" cy="6463308"/>
          </a:xfrm>
          <a:prstGeom prst="rect">
            <a:avLst/>
          </a:prstGeom>
          <a:noFill/>
        </p:spPr>
        <p:txBody>
          <a:bodyPr wrap="none" rtlCol="0">
            <a:spAutoFit/>
          </a:bodyPr>
          <a:lstStyle/>
          <a:p>
            <a:r>
              <a:rPr lang="en-US" dirty="0">
                <a:solidFill>
                  <a:srgbClr val="FF0000"/>
                </a:solidFill>
              </a:rPr>
              <a:t>#include &lt;iostream&gt;</a:t>
            </a:r>
          </a:p>
          <a:p>
            <a:r>
              <a:rPr lang="en-US" dirty="0">
                <a:solidFill>
                  <a:srgbClr val="FF0000"/>
                </a:solidFill>
              </a:rPr>
              <a:t>#include &lt;string&gt;</a:t>
            </a:r>
          </a:p>
          <a:p>
            <a:r>
              <a:rPr lang="en-US" dirty="0">
                <a:solidFill>
                  <a:srgbClr val="FF0000"/>
                </a:solidFill>
              </a:rPr>
              <a:t>using namespace std</a:t>
            </a:r>
          </a:p>
          <a:p>
            <a:endParaRPr lang="en-US" dirty="0">
              <a:solidFill>
                <a:srgbClr val="FF0000"/>
              </a:solidFill>
            </a:endParaRPr>
          </a:p>
          <a:p>
            <a:r>
              <a:rPr lang="en-US" dirty="0">
                <a:solidFill>
                  <a:srgbClr val="FF0000"/>
                </a:solidFill>
              </a:rPr>
              <a:t>double main()</a:t>
            </a:r>
          </a:p>
          <a:p>
            <a:r>
              <a:rPr lang="en-US" dirty="0">
                <a:solidFill>
                  <a:srgbClr val="FF0000"/>
                </a:solidFill>
              </a:rPr>
              <a:t>{</a:t>
            </a:r>
          </a:p>
          <a:p>
            <a:r>
              <a:rPr lang="en-US" dirty="0">
                <a:solidFill>
                  <a:srgbClr val="FF0000"/>
                </a:solidFill>
              </a:rPr>
              <a:t>    string name;</a:t>
            </a:r>
          </a:p>
          <a:p>
            <a:r>
              <a:rPr lang="en-US" dirty="0">
                <a:solidFill>
                  <a:srgbClr val="FF0000"/>
                </a:solidFill>
              </a:rPr>
              <a:t>    int exam1, exam2, exam3;</a:t>
            </a:r>
          </a:p>
          <a:p>
            <a:r>
              <a:rPr lang="en-US" dirty="0">
                <a:solidFill>
                  <a:srgbClr val="FF0000"/>
                </a:solidFill>
              </a:rPr>
              <a:t>    double average;</a:t>
            </a:r>
          </a:p>
          <a:p>
            <a:endParaRPr lang="en-US" dirty="0">
              <a:solidFill>
                <a:srgbClr val="FF0000"/>
              </a:solidFill>
            </a:endParaRPr>
          </a:p>
          <a:p>
            <a:r>
              <a:rPr lang="en-US" dirty="0">
                <a:solidFill>
                  <a:srgbClr val="FF0000"/>
                </a:solidFill>
              </a:rPr>
              <a:t>    </a:t>
            </a:r>
            <a:r>
              <a:rPr lang="en-US" dirty="0" err="1">
                <a:solidFill>
                  <a:srgbClr val="FF0000"/>
                </a:solidFill>
              </a:rPr>
              <a:t>cout</a:t>
            </a:r>
            <a:r>
              <a:rPr lang="en-US" dirty="0">
                <a:solidFill>
                  <a:srgbClr val="FF0000"/>
                </a:solidFill>
              </a:rPr>
              <a:t> &gt;&gt; "Enter your name: ";</a:t>
            </a:r>
          </a:p>
          <a:p>
            <a:r>
              <a:rPr lang="en-US" dirty="0">
                <a:solidFill>
                  <a:srgbClr val="FF0000"/>
                </a:solidFill>
              </a:rPr>
              <a:t>    </a:t>
            </a:r>
            <a:r>
              <a:rPr lang="en-US" dirty="0" err="1">
                <a:solidFill>
                  <a:srgbClr val="FF0000"/>
                </a:solidFill>
              </a:rPr>
              <a:t>getline</a:t>
            </a:r>
            <a:r>
              <a:rPr lang="en-US" dirty="0">
                <a:solidFill>
                  <a:srgbClr val="FF0000"/>
                </a:solidFill>
              </a:rPr>
              <a:t>(</a:t>
            </a:r>
            <a:r>
              <a:rPr lang="en-US" dirty="0" err="1">
                <a:solidFill>
                  <a:srgbClr val="FF0000"/>
                </a:solidFill>
              </a:rPr>
              <a:t>cin</a:t>
            </a:r>
            <a:r>
              <a:rPr lang="en-US" dirty="0">
                <a:solidFill>
                  <a:srgbClr val="FF0000"/>
                </a:solidFill>
              </a:rPr>
              <a:t>, name);</a:t>
            </a:r>
          </a:p>
          <a:p>
            <a:endParaRPr lang="en-US" dirty="0">
              <a:solidFill>
                <a:srgbClr val="FF0000"/>
              </a:solidFill>
            </a:endParaRPr>
          </a:p>
          <a:p>
            <a:r>
              <a:rPr lang="en-US" dirty="0">
                <a:solidFill>
                  <a:srgbClr val="FF0000"/>
                </a:solidFill>
              </a:rPr>
              <a:t>    </a:t>
            </a:r>
            <a:r>
              <a:rPr lang="en-US" dirty="0" err="1">
                <a:solidFill>
                  <a:srgbClr val="FF0000"/>
                </a:solidFill>
              </a:rPr>
              <a:t>cout</a:t>
            </a:r>
            <a:r>
              <a:rPr lang="en-US" dirty="0">
                <a:solidFill>
                  <a:srgbClr val="FF0000"/>
                </a:solidFill>
              </a:rPr>
              <a:t> &lt;&lt; "Enter Exam 1 score: ";</a:t>
            </a:r>
          </a:p>
          <a:p>
            <a:r>
              <a:rPr lang="en-US" dirty="0">
                <a:solidFill>
                  <a:srgbClr val="FF0000"/>
                </a:solidFill>
              </a:rPr>
              <a:t>    </a:t>
            </a:r>
            <a:r>
              <a:rPr lang="en-US" dirty="0" err="1">
                <a:solidFill>
                  <a:srgbClr val="FF0000"/>
                </a:solidFill>
              </a:rPr>
              <a:t>cin</a:t>
            </a:r>
            <a:r>
              <a:rPr lang="en-US" dirty="0">
                <a:solidFill>
                  <a:srgbClr val="FF0000"/>
                </a:solidFill>
              </a:rPr>
              <a:t> &lt;&lt; exam1;</a:t>
            </a:r>
          </a:p>
          <a:p>
            <a:endParaRPr lang="en-US" dirty="0">
              <a:solidFill>
                <a:srgbClr val="FF0000"/>
              </a:solidFill>
            </a:endParaRPr>
          </a:p>
          <a:p>
            <a:r>
              <a:rPr lang="en-US" dirty="0">
                <a:solidFill>
                  <a:srgbClr val="FF0000"/>
                </a:solidFill>
              </a:rPr>
              <a:t>    </a:t>
            </a:r>
            <a:r>
              <a:rPr lang="en-US" dirty="0" err="1">
                <a:solidFill>
                  <a:srgbClr val="FF0000"/>
                </a:solidFill>
              </a:rPr>
              <a:t>cout</a:t>
            </a:r>
            <a:r>
              <a:rPr lang="en-US" dirty="0">
                <a:solidFill>
                  <a:srgbClr val="FF0000"/>
                </a:solidFill>
              </a:rPr>
              <a:t> &lt;&lt; "Enter Exam 2 score: ";</a:t>
            </a:r>
          </a:p>
          <a:p>
            <a:r>
              <a:rPr lang="en-US" dirty="0">
                <a:solidFill>
                  <a:srgbClr val="FF0000"/>
                </a:solidFill>
              </a:rPr>
              <a:t>    </a:t>
            </a:r>
            <a:r>
              <a:rPr lang="en-US" dirty="0" err="1">
                <a:solidFill>
                  <a:srgbClr val="FF0000"/>
                </a:solidFill>
              </a:rPr>
              <a:t>cin</a:t>
            </a:r>
            <a:r>
              <a:rPr lang="en-US" dirty="0">
                <a:solidFill>
                  <a:srgbClr val="FF0000"/>
                </a:solidFill>
              </a:rPr>
              <a:t> &gt;&gt; exam2</a:t>
            </a:r>
          </a:p>
          <a:p>
            <a:endParaRPr lang="en-US" dirty="0">
              <a:solidFill>
                <a:srgbClr val="FF0000"/>
              </a:solidFill>
            </a:endParaRPr>
          </a:p>
          <a:p>
            <a:r>
              <a:rPr lang="en-US" dirty="0">
                <a:solidFill>
                  <a:srgbClr val="FF0000"/>
                </a:solidFill>
              </a:rPr>
              <a:t>    </a:t>
            </a:r>
            <a:r>
              <a:rPr lang="en-US" dirty="0" err="1">
                <a:solidFill>
                  <a:srgbClr val="FF0000"/>
                </a:solidFill>
              </a:rPr>
              <a:t>cout</a:t>
            </a:r>
            <a:r>
              <a:rPr lang="en-US" dirty="0">
                <a:solidFill>
                  <a:srgbClr val="FF0000"/>
                </a:solidFill>
              </a:rPr>
              <a:t> &lt;&lt; "Enter Exam 3 score: ";</a:t>
            </a:r>
          </a:p>
          <a:p>
            <a:r>
              <a:rPr lang="en-US" dirty="0">
                <a:solidFill>
                  <a:srgbClr val="FF0000"/>
                </a:solidFill>
              </a:rPr>
              <a:t>    </a:t>
            </a:r>
            <a:r>
              <a:rPr lang="en-US" dirty="0" err="1">
                <a:solidFill>
                  <a:srgbClr val="FF0000"/>
                </a:solidFill>
              </a:rPr>
              <a:t>cin</a:t>
            </a:r>
            <a:r>
              <a:rPr lang="en-US" dirty="0">
                <a:solidFill>
                  <a:srgbClr val="FF0000"/>
                </a:solidFill>
              </a:rPr>
              <a:t> &gt;&gt; exam3;</a:t>
            </a:r>
          </a:p>
          <a:p>
            <a:endParaRPr lang="en-US" dirty="0"/>
          </a:p>
          <a:p>
            <a:r>
              <a:rPr lang="en-US" dirty="0"/>
              <a:t>    </a:t>
            </a:r>
            <a:endParaRPr lang="en-CN" dirty="0"/>
          </a:p>
        </p:txBody>
      </p:sp>
      <p:sp>
        <p:nvSpPr>
          <p:cNvPr id="5" name="TextBox 4">
            <a:extLst>
              <a:ext uri="{FF2B5EF4-FFF2-40B4-BE49-F238E27FC236}">
                <a16:creationId xmlns:a16="http://schemas.microsoft.com/office/drawing/2014/main" id="{05905536-770F-4B77-AE25-5D9FCEC9265C}"/>
              </a:ext>
            </a:extLst>
          </p:cNvPr>
          <p:cNvSpPr txBox="1"/>
          <p:nvPr/>
        </p:nvSpPr>
        <p:spPr>
          <a:xfrm>
            <a:off x="7252570" y="413359"/>
            <a:ext cx="4170309" cy="4801314"/>
          </a:xfrm>
          <a:prstGeom prst="rect">
            <a:avLst/>
          </a:prstGeom>
          <a:noFill/>
        </p:spPr>
        <p:txBody>
          <a:bodyPr wrap="none" rtlCol="0">
            <a:spAutoFit/>
          </a:bodyPr>
          <a:lstStyle/>
          <a:p>
            <a:r>
              <a:rPr lang="en-US" dirty="0">
                <a:solidFill>
                  <a:srgbClr val="FF0000"/>
                </a:solidFill>
              </a:rPr>
              <a:t>average = exam1 + exam2 + exam3 / 3;</a:t>
            </a:r>
          </a:p>
          <a:p>
            <a:endParaRPr lang="en-US" dirty="0">
              <a:solidFill>
                <a:srgbClr val="FF0000"/>
              </a:solidFill>
            </a:endParaRPr>
          </a:p>
          <a:p>
            <a:r>
              <a:rPr lang="en-US" dirty="0">
                <a:solidFill>
                  <a:srgbClr val="FF0000"/>
                </a:solidFill>
              </a:rPr>
              <a:t>    </a:t>
            </a:r>
            <a:r>
              <a:rPr lang="en-US" dirty="0" err="1">
                <a:solidFill>
                  <a:srgbClr val="FF0000"/>
                </a:solidFill>
              </a:rPr>
              <a:t>cout</a:t>
            </a:r>
            <a:r>
              <a:rPr lang="en-US" dirty="0">
                <a:solidFill>
                  <a:srgbClr val="FF0000"/>
                </a:solidFill>
              </a:rPr>
              <a:t> &lt;&lt; "Student: " &gt;&gt; name &lt;&lt; </a:t>
            </a:r>
            <a:r>
              <a:rPr lang="en-US" dirty="0" err="1">
                <a:solidFill>
                  <a:srgbClr val="FF0000"/>
                </a:solidFill>
              </a:rPr>
              <a:t>endl</a:t>
            </a:r>
            <a:r>
              <a:rPr lang="en-US" dirty="0">
                <a:solidFill>
                  <a:srgbClr val="FF0000"/>
                </a:solidFill>
              </a:rPr>
              <a:t>;</a:t>
            </a:r>
          </a:p>
          <a:p>
            <a:r>
              <a:rPr lang="en-US" dirty="0">
                <a:solidFill>
                  <a:srgbClr val="FF0000"/>
                </a:solidFill>
              </a:rPr>
              <a:t>    </a:t>
            </a:r>
            <a:r>
              <a:rPr lang="en-US" dirty="0" err="1">
                <a:solidFill>
                  <a:srgbClr val="FF0000"/>
                </a:solidFill>
              </a:rPr>
              <a:t>cout</a:t>
            </a:r>
            <a:r>
              <a:rPr lang="en-US" dirty="0">
                <a:solidFill>
                  <a:srgbClr val="FF0000"/>
                </a:solidFill>
              </a:rPr>
              <a:t> &lt;&lt; "Average: " &lt;&lt; average &lt;&lt; </a:t>
            </a:r>
            <a:r>
              <a:rPr lang="en-US" dirty="0" err="1">
                <a:solidFill>
                  <a:srgbClr val="FF0000"/>
                </a:solidFill>
              </a:rPr>
              <a:t>endl</a:t>
            </a:r>
            <a:r>
              <a:rPr lang="en-US" dirty="0">
                <a:solidFill>
                  <a:srgbClr val="FF0000"/>
                </a:solidFill>
              </a:rPr>
              <a:t>;</a:t>
            </a:r>
          </a:p>
          <a:p>
            <a:endParaRPr lang="en-US" dirty="0">
              <a:solidFill>
                <a:srgbClr val="FF0000"/>
              </a:solidFill>
            </a:endParaRPr>
          </a:p>
          <a:p>
            <a:r>
              <a:rPr lang="en-US" dirty="0">
                <a:solidFill>
                  <a:srgbClr val="FF0000"/>
                </a:solidFill>
              </a:rPr>
              <a:t>    if (average &gt;= 70);</a:t>
            </a:r>
          </a:p>
          <a:p>
            <a:r>
              <a:rPr lang="en-US" dirty="0">
                <a:solidFill>
                  <a:srgbClr val="FF0000"/>
                </a:solidFill>
              </a:rPr>
              <a:t>    {</a:t>
            </a:r>
          </a:p>
          <a:p>
            <a:r>
              <a:rPr lang="en-US" dirty="0">
                <a:solidFill>
                  <a:srgbClr val="FF0000"/>
                </a:solidFill>
              </a:rPr>
              <a:t>        </a:t>
            </a:r>
            <a:r>
              <a:rPr lang="en-US" dirty="0" err="1">
                <a:solidFill>
                  <a:srgbClr val="FF0000"/>
                </a:solidFill>
              </a:rPr>
              <a:t>cout</a:t>
            </a:r>
            <a:r>
              <a:rPr lang="en-US" dirty="0">
                <a:solidFill>
                  <a:srgbClr val="FF0000"/>
                </a:solidFill>
              </a:rPr>
              <a:t> &lt;&lt; "You passed!" &lt;&lt; </a:t>
            </a:r>
            <a:r>
              <a:rPr lang="en-US" dirty="0" err="1">
                <a:solidFill>
                  <a:srgbClr val="FF0000"/>
                </a:solidFill>
              </a:rPr>
              <a:t>endl</a:t>
            </a:r>
            <a:r>
              <a:rPr lang="en-US" dirty="0">
                <a:solidFill>
                  <a:srgbClr val="FF0000"/>
                </a:solidFill>
              </a:rPr>
              <a:t>;</a:t>
            </a:r>
          </a:p>
          <a:p>
            <a:r>
              <a:rPr lang="en-US" dirty="0">
                <a:solidFill>
                  <a:srgbClr val="FF0000"/>
                </a:solidFill>
              </a:rPr>
              <a:t>    }</a:t>
            </a:r>
          </a:p>
          <a:p>
            <a:r>
              <a:rPr lang="en-US" dirty="0">
                <a:solidFill>
                  <a:srgbClr val="FF0000"/>
                </a:solidFill>
              </a:rPr>
              <a:t>    else</a:t>
            </a:r>
          </a:p>
          <a:p>
            <a:r>
              <a:rPr lang="en-US" dirty="0">
                <a:solidFill>
                  <a:srgbClr val="FF0000"/>
                </a:solidFill>
              </a:rPr>
              <a:t>    {</a:t>
            </a:r>
          </a:p>
          <a:p>
            <a:r>
              <a:rPr lang="en-US" dirty="0">
                <a:solidFill>
                  <a:srgbClr val="FF0000"/>
                </a:solidFill>
              </a:rPr>
              <a:t>        </a:t>
            </a:r>
            <a:r>
              <a:rPr lang="en-US" dirty="0" err="1">
                <a:solidFill>
                  <a:srgbClr val="FF0000"/>
                </a:solidFill>
              </a:rPr>
              <a:t>cout</a:t>
            </a:r>
            <a:r>
              <a:rPr lang="en-US" dirty="0">
                <a:solidFill>
                  <a:srgbClr val="FF0000"/>
                </a:solidFill>
              </a:rPr>
              <a:t> &lt;&lt; "You did not pass." &lt;&lt; </a:t>
            </a:r>
            <a:r>
              <a:rPr lang="en-US" dirty="0" err="1">
                <a:solidFill>
                  <a:srgbClr val="FF0000"/>
                </a:solidFill>
              </a:rPr>
              <a:t>endl</a:t>
            </a:r>
            <a:r>
              <a:rPr lang="en-US" dirty="0">
                <a:solidFill>
                  <a:srgbClr val="FF0000"/>
                </a:solidFill>
              </a:rPr>
              <a:t>;</a:t>
            </a:r>
          </a:p>
          <a:p>
            <a:r>
              <a:rPr lang="en-US" dirty="0">
                <a:solidFill>
                  <a:srgbClr val="FF0000"/>
                </a:solidFill>
              </a:rPr>
              <a:t>    }</a:t>
            </a:r>
          </a:p>
          <a:p>
            <a:endParaRPr lang="en-US" dirty="0">
              <a:solidFill>
                <a:srgbClr val="FF0000"/>
              </a:solidFill>
            </a:endParaRPr>
          </a:p>
          <a:p>
            <a:r>
              <a:rPr lang="en-US" dirty="0">
                <a:solidFill>
                  <a:srgbClr val="FF0000"/>
                </a:solidFill>
              </a:rPr>
              <a:t>    return 0;</a:t>
            </a:r>
          </a:p>
          <a:p>
            <a:r>
              <a:rPr lang="en-US" dirty="0">
                <a:solidFill>
                  <a:srgbClr val="FF0000"/>
                </a:solidFill>
              </a:rPr>
              <a:t>}</a:t>
            </a:r>
            <a:endParaRPr lang="en-CN" dirty="0">
              <a:solidFill>
                <a:srgbClr val="FF0000"/>
              </a:solidFill>
            </a:endParaRPr>
          </a:p>
          <a:p>
            <a:endParaRPr lang="en-CN" dirty="0"/>
          </a:p>
        </p:txBody>
      </p:sp>
      <p:sp>
        <p:nvSpPr>
          <p:cNvPr id="6" name="TextBox 5">
            <a:extLst>
              <a:ext uri="{FF2B5EF4-FFF2-40B4-BE49-F238E27FC236}">
                <a16:creationId xmlns:a16="http://schemas.microsoft.com/office/drawing/2014/main" id="{3F026D52-A09F-75E6-1CFF-97590566BDBE}"/>
              </a:ext>
            </a:extLst>
          </p:cNvPr>
          <p:cNvSpPr txBox="1"/>
          <p:nvPr/>
        </p:nvSpPr>
        <p:spPr>
          <a:xfrm>
            <a:off x="475989" y="54052"/>
            <a:ext cx="2508828" cy="584775"/>
          </a:xfrm>
          <a:prstGeom prst="rect">
            <a:avLst/>
          </a:prstGeom>
          <a:noFill/>
        </p:spPr>
        <p:txBody>
          <a:bodyPr wrap="none" rtlCol="0">
            <a:spAutoFit/>
          </a:bodyPr>
          <a:lstStyle/>
          <a:p>
            <a:r>
              <a:rPr lang="en-CN" sz="3200" dirty="0"/>
              <a:t>Faulty Code: </a:t>
            </a:r>
          </a:p>
        </p:txBody>
      </p:sp>
    </p:spTree>
    <p:extLst>
      <p:ext uri="{BB962C8B-B14F-4D97-AF65-F5344CB8AC3E}">
        <p14:creationId xmlns:p14="http://schemas.microsoft.com/office/powerpoint/2010/main" val="1707721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C324E-8038-0126-E6B8-347DC1A938E3}"/>
              </a:ext>
            </a:extLst>
          </p:cNvPr>
          <p:cNvSpPr>
            <a:spLocks noGrp="1"/>
          </p:cNvSpPr>
          <p:nvPr>
            <p:ph type="title"/>
          </p:nvPr>
        </p:nvSpPr>
        <p:spPr>
          <a:xfrm>
            <a:off x="199372" y="0"/>
            <a:ext cx="10515600" cy="1325563"/>
          </a:xfrm>
        </p:spPr>
        <p:txBody>
          <a:bodyPr/>
          <a:lstStyle/>
          <a:p>
            <a:r>
              <a:rPr lang="en-CN" dirty="0"/>
              <a:t>Can You Identify the Errors?</a:t>
            </a:r>
          </a:p>
        </p:txBody>
      </p:sp>
      <p:sp>
        <p:nvSpPr>
          <p:cNvPr id="3" name="Content Placeholder 2">
            <a:extLst>
              <a:ext uri="{FF2B5EF4-FFF2-40B4-BE49-F238E27FC236}">
                <a16:creationId xmlns:a16="http://schemas.microsoft.com/office/drawing/2014/main" id="{A3E5CB3A-E558-BE35-5AF7-FC34BA2C83DB}"/>
              </a:ext>
            </a:extLst>
          </p:cNvPr>
          <p:cNvSpPr>
            <a:spLocks noGrp="1"/>
          </p:cNvSpPr>
          <p:nvPr>
            <p:ph idx="1"/>
          </p:nvPr>
        </p:nvSpPr>
        <p:spPr>
          <a:xfrm>
            <a:off x="399789" y="1377863"/>
            <a:ext cx="10954011" cy="4799100"/>
          </a:xfrm>
        </p:spPr>
        <p:txBody>
          <a:bodyPr>
            <a:normAutofit/>
          </a:bodyPr>
          <a:lstStyle/>
          <a:p>
            <a:pPr>
              <a:lnSpc>
                <a:spcPct val="100000"/>
              </a:lnSpc>
            </a:pPr>
            <a:r>
              <a:rPr lang="en-CN" dirty="0"/>
              <a:t>Look carefully at the program.</a:t>
            </a:r>
          </a:p>
          <a:p>
            <a:pPr lvl="1">
              <a:lnSpc>
                <a:spcPct val="100000"/>
              </a:lnSpc>
            </a:pPr>
            <a:r>
              <a:rPr lang="en-CN" dirty="0"/>
              <a:t>Is every required semicolon </a:t>
            </a:r>
            <a:r>
              <a:rPr lang="en-CN" dirty="0">
                <a:solidFill>
                  <a:srgbClr val="FF0000"/>
                </a:solidFill>
              </a:rPr>
              <a:t>;</a:t>
            </a:r>
            <a:r>
              <a:rPr lang="en-CN" dirty="0"/>
              <a:t> present?</a:t>
            </a:r>
          </a:p>
          <a:p>
            <a:pPr lvl="1">
              <a:lnSpc>
                <a:spcPct val="100000"/>
              </a:lnSpc>
            </a:pPr>
            <a:r>
              <a:rPr lang="en-CN" dirty="0"/>
              <a:t>Is </a:t>
            </a:r>
            <a:r>
              <a:rPr lang="en-CN" dirty="0">
                <a:solidFill>
                  <a:srgbClr val="FF0000"/>
                </a:solidFill>
              </a:rPr>
              <a:t>main() </a:t>
            </a:r>
            <a:r>
              <a:rPr lang="en-CN" dirty="0"/>
              <a:t>declared correctly?</a:t>
            </a:r>
          </a:p>
          <a:p>
            <a:pPr lvl="1">
              <a:lnSpc>
                <a:spcPct val="100000"/>
              </a:lnSpc>
            </a:pPr>
            <a:r>
              <a:rPr lang="en-CN" dirty="0"/>
              <a:t>Are </a:t>
            </a:r>
            <a:r>
              <a:rPr lang="en-CN" dirty="0">
                <a:solidFill>
                  <a:srgbClr val="FF0000"/>
                </a:solidFill>
              </a:rPr>
              <a:t>&lt;&lt;</a:t>
            </a:r>
            <a:r>
              <a:rPr lang="en-CN" dirty="0"/>
              <a:t> and </a:t>
            </a:r>
            <a:r>
              <a:rPr lang="en-CN" dirty="0">
                <a:solidFill>
                  <a:srgbClr val="FF0000"/>
                </a:solidFill>
              </a:rPr>
              <a:t>&gt;&gt;</a:t>
            </a:r>
            <a:r>
              <a:rPr lang="en-CN" dirty="0"/>
              <a:t> being used correctly?</a:t>
            </a:r>
          </a:p>
          <a:p>
            <a:pPr lvl="1">
              <a:lnSpc>
                <a:spcPct val="100000"/>
              </a:lnSpc>
            </a:pPr>
            <a:r>
              <a:rPr lang="en-CN" dirty="0"/>
              <a:t>Is the arithmetic expression for average correct?</a:t>
            </a:r>
          </a:p>
          <a:p>
            <a:pPr lvl="1">
              <a:lnSpc>
                <a:spcPct val="100000"/>
              </a:lnSpc>
            </a:pPr>
            <a:r>
              <a:rPr lang="en-CN" dirty="0"/>
              <a:t>Is the </a:t>
            </a:r>
            <a:r>
              <a:rPr lang="en-CN" dirty="0">
                <a:solidFill>
                  <a:srgbClr val="FF0000"/>
                </a:solidFill>
              </a:rPr>
              <a:t>if statement </a:t>
            </a:r>
            <a:r>
              <a:rPr lang="en-CN" dirty="0"/>
              <a:t>written correctly?</a:t>
            </a:r>
          </a:p>
          <a:p>
            <a:pPr lvl="1">
              <a:lnSpc>
                <a:spcPct val="100000"/>
              </a:lnSpc>
            </a:pPr>
            <a:r>
              <a:rPr lang="en-CN" dirty="0"/>
              <a:t>Are the variables using appropriate </a:t>
            </a:r>
            <a:r>
              <a:rPr lang="en-CN" dirty="0">
                <a:solidFill>
                  <a:srgbClr val="FF0000"/>
                </a:solidFill>
              </a:rPr>
              <a:t>data types</a:t>
            </a:r>
            <a:r>
              <a:rPr lang="en-CN" dirty="0"/>
              <a:t>?</a:t>
            </a:r>
          </a:p>
          <a:p>
            <a:pPr lvl="1">
              <a:lnSpc>
                <a:spcPct val="100000"/>
              </a:lnSpc>
            </a:pPr>
            <a:r>
              <a:rPr lang="en-CN" dirty="0"/>
              <a:t>Are the </a:t>
            </a:r>
            <a:r>
              <a:rPr lang="en-CN" dirty="0">
                <a:solidFill>
                  <a:srgbClr val="FF0000"/>
                </a:solidFill>
              </a:rPr>
              <a:t>braces </a:t>
            </a:r>
            <a:r>
              <a:rPr lang="en-CN" dirty="0"/>
              <a:t>correct?</a:t>
            </a:r>
          </a:p>
          <a:p>
            <a:pPr lvl="1">
              <a:lnSpc>
                <a:spcPct val="100000"/>
              </a:lnSpc>
            </a:pPr>
            <a:r>
              <a:rPr lang="en-CN" dirty="0"/>
              <a:t>Which errors are syntax errors?</a:t>
            </a:r>
          </a:p>
          <a:p>
            <a:pPr lvl="1">
              <a:lnSpc>
                <a:spcPct val="100000"/>
              </a:lnSpc>
            </a:pPr>
            <a:r>
              <a:rPr lang="en-CN" dirty="0"/>
              <a:t>Is there a logic error that might compile but produce the wrong answer?</a:t>
            </a:r>
          </a:p>
          <a:p>
            <a:endParaRPr lang="en-CN" dirty="0"/>
          </a:p>
        </p:txBody>
      </p:sp>
    </p:spTree>
    <p:extLst>
      <p:ext uri="{BB962C8B-B14F-4D97-AF65-F5344CB8AC3E}">
        <p14:creationId xmlns:p14="http://schemas.microsoft.com/office/powerpoint/2010/main" val="13086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7426F-1D1B-F1BC-E73C-28AB923D7021}"/>
              </a:ext>
            </a:extLst>
          </p:cNvPr>
          <p:cNvSpPr>
            <a:spLocks noGrp="1"/>
          </p:cNvSpPr>
          <p:nvPr>
            <p:ph type="title"/>
          </p:nvPr>
        </p:nvSpPr>
        <p:spPr>
          <a:xfrm>
            <a:off x="186847" y="162142"/>
            <a:ext cx="10515600" cy="1037790"/>
          </a:xfrm>
        </p:spPr>
        <p:txBody>
          <a:bodyPr/>
          <a:lstStyle/>
          <a:p>
            <a:r>
              <a:rPr lang="en-CN" dirty="0"/>
              <a:t>Fix It Together</a:t>
            </a:r>
          </a:p>
        </p:txBody>
      </p:sp>
      <p:sp>
        <p:nvSpPr>
          <p:cNvPr id="3" name="Content Placeholder 2">
            <a:extLst>
              <a:ext uri="{FF2B5EF4-FFF2-40B4-BE49-F238E27FC236}">
                <a16:creationId xmlns:a16="http://schemas.microsoft.com/office/drawing/2014/main" id="{D471110A-15BD-2D5F-CF74-606E4C34DF17}"/>
              </a:ext>
            </a:extLst>
          </p:cNvPr>
          <p:cNvSpPr>
            <a:spLocks noGrp="1"/>
          </p:cNvSpPr>
          <p:nvPr>
            <p:ph idx="1"/>
          </p:nvPr>
        </p:nvSpPr>
        <p:spPr>
          <a:xfrm>
            <a:off x="300625" y="1453019"/>
            <a:ext cx="11053175" cy="4723944"/>
          </a:xfrm>
        </p:spPr>
        <p:txBody>
          <a:bodyPr/>
          <a:lstStyle/>
          <a:p>
            <a:pPr>
              <a:lnSpc>
                <a:spcPct val="150000"/>
              </a:lnSpc>
            </a:pPr>
            <a:r>
              <a:rPr lang="en-US" dirty="0"/>
              <a:t>using namespace std </a:t>
            </a:r>
            <a:r>
              <a:rPr lang="en-CN" dirty="0"/>
              <a:t>needs a semicolon </a:t>
            </a:r>
            <a:r>
              <a:rPr lang="en-US" dirty="0">
                <a:solidFill>
                  <a:srgbClr val="FF0000"/>
                </a:solidFill>
              </a:rPr>
              <a:t>using namespace std;</a:t>
            </a:r>
          </a:p>
          <a:p>
            <a:pPr>
              <a:lnSpc>
                <a:spcPct val="150000"/>
              </a:lnSpc>
            </a:pPr>
            <a:r>
              <a:rPr lang="en-US" dirty="0"/>
              <a:t>double main() </a:t>
            </a:r>
            <a:r>
              <a:rPr lang="en-CN" dirty="0"/>
              <a:t>should be </a:t>
            </a:r>
            <a:r>
              <a:rPr lang="en-US" dirty="0"/>
              <a:t>int main()</a:t>
            </a:r>
          </a:p>
          <a:p>
            <a:pPr>
              <a:lnSpc>
                <a:spcPct val="150000"/>
              </a:lnSpc>
            </a:pPr>
            <a:r>
              <a:rPr lang="en-US" dirty="0" err="1"/>
              <a:t>cout</a:t>
            </a:r>
            <a:r>
              <a:rPr lang="en-US" dirty="0"/>
              <a:t> &gt;&gt; "Enter your name: "; </a:t>
            </a:r>
            <a:r>
              <a:rPr lang="en-CN" dirty="0"/>
              <a:t>should be </a:t>
            </a:r>
            <a:r>
              <a:rPr lang="en-US" dirty="0" err="1">
                <a:solidFill>
                  <a:srgbClr val="FF0000"/>
                </a:solidFill>
              </a:rPr>
              <a:t>cout</a:t>
            </a:r>
            <a:r>
              <a:rPr lang="en-US" dirty="0">
                <a:solidFill>
                  <a:srgbClr val="FF0000"/>
                </a:solidFill>
              </a:rPr>
              <a:t> &lt;&lt; "Enter your name: ";</a:t>
            </a:r>
            <a:endParaRPr lang="en-CN" dirty="0">
              <a:solidFill>
                <a:srgbClr val="FF0000"/>
              </a:solidFill>
            </a:endParaRPr>
          </a:p>
        </p:txBody>
      </p:sp>
    </p:spTree>
    <p:extLst>
      <p:ext uri="{BB962C8B-B14F-4D97-AF65-F5344CB8AC3E}">
        <p14:creationId xmlns:p14="http://schemas.microsoft.com/office/powerpoint/2010/main" val="2406368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9B825-AA4D-75E8-8E38-0F0E74DC14DA}"/>
              </a:ext>
            </a:extLst>
          </p:cNvPr>
          <p:cNvSpPr>
            <a:spLocks noGrp="1"/>
          </p:cNvSpPr>
          <p:nvPr>
            <p:ph type="title"/>
          </p:nvPr>
        </p:nvSpPr>
        <p:spPr>
          <a:xfrm>
            <a:off x="199372" y="168405"/>
            <a:ext cx="10515600" cy="1025264"/>
          </a:xfrm>
        </p:spPr>
        <p:txBody>
          <a:bodyPr/>
          <a:lstStyle/>
          <a:p>
            <a:r>
              <a:rPr lang="en-CN" dirty="0"/>
              <a:t>The Logic Error</a:t>
            </a:r>
          </a:p>
        </p:txBody>
      </p:sp>
      <p:sp>
        <p:nvSpPr>
          <p:cNvPr id="3" name="Content Placeholder 2">
            <a:extLst>
              <a:ext uri="{FF2B5EF4-FFF2-40B4-BE49-F238E27FC236}">
                <a16:creationId xmlns:a16="http://schemas.microsoft.com/office/drawing/2014/main" id="{1047FD5F-58DE-84EB-933B-2F442A787468}"/>
              </a:ext>
            </a:extLst>
          </p:cNvPr>
          <p:cNvSpPr>
            <a:spLocks noGrp="1"/>
          </p:cNvSpPr>
          <p:nvPr>
            <p:ph idx="1"/>
          </p:nvPr>
        </p:nvSpPr>
        <p:spPr>
          <a:xfrm>
            <a:off x="400833" y="1503123"/>
            <a:ext cx="10952967" cy="4673840"/>
          </a:xfrm>
        </p:spPr>
        <p:txBody>
          <a:bodyPr/>
          <a:lstStyle/>
          <a:p>
            <a:pPr>
              <a:lnSpc>
                <a:spcPct val="200000"/>
              </a:lnSpc>
            </a:pPr>
            <a:r>
              <a:rPr lang="en-US" dirty="0"/>
              <a:t>average = exam1 + exam2 + exam3 / 3; </a:t>
            </a:r>
            <a:r>
              <a:rPr lang="en-CN" dirty="0"/>
              <a:t>Will this necessarily calculate the average correctly? No, because division has higher precedence.</a:t>
            </a:r>
          </a:p>
          <a:p>
            <a:pPr lvl="1">
              <a:lnSpc>
                <a:spcPct val="200000"/>
              </a:lnSpc>
            </a:pPr>
            <a:r>
              <a:rPr lang="en-US" dirty="0"/>
              <a:t>C</a:t>
            </a:r>
            <a:r>
              <a:rPr lang="en-CN" dirty="0"/>
              <a:t>orrected statement </a:t>
            </a:r>
            <a:r>
              <a:rPr lang="en-US" dirty="0">
                <a:solidFill>
                  <a:srgbClr val="FF0000"/>
                </a:solidFill>
              </a:rPr>
              <a:t>average = (exam1 + exam2 + exam3) / 3.0;</a:t>
            </a:r>
            <a:endParaRPr lang="en-CN" dirty="0">
              <a:solidFill>
                <a:srgbClr val="FF0000"/>
              </a:solidFill>
            </a:endParaRPr>
          </a:p>
          <a:p>
            <a:pPr marL="457200" lvl="1" indent="0">
              <a:buNone/>
            </a:pPr>
            <a:endParaRPr lang="en-CN" dirty="0"/>
          </a:p>
        </p:txBody>
      </p:sp>
    </p:spTree>
    <p:extLst>
      <p:ext uri="{BB962C8B-B14F-4D97-AF65-F5344CB8AC3E}">
        <p14:creationId xmlns:p14="http://schemas.microsoft.com/office/powerpoint/2010/main" val="261737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C1B98-00C3-CACC-095A-BEDBF46E3FD8}"/>
              </a:ext>
            </a:extLst>
          </p:cNvPr>
          <p:cNvSpPr>
            <a:spLocks noGrp="1"/>
          </p:cNvSpPr>
          <p:nvPr>
            <p:ph type="title"/>
          </p:nvPr>
        </p:nvSpPr>
        <p:spPr>
          <a:xfrm>
            <a:off x="236951" y="180931"/>
            <a:ext cx="10515600" cy="1000212"/>
          </a:xfrm>
        </p:spPr>
        <p:txBody>
          <a:bodyPr/>
          <a:lstStyle/>
          <a:p>
            <a:r>
              <a:rPr lang="en-CN" dirty="0"/>
              <a:t>Another Sneaky Bug</a:t>
            </a:r>
          </a:p>
        </p:txBody>
      </p:sp>
      <p:sp>
        <p:nvSpPr>
          <p:cNvPr id="3" name="Content Placeholder 2">
            <a:extLst>
              <a:ext uri="{FF2B5EF4-FFF2-40B4-BE49-F238E27FC236}">
                <a16:creationId xmlns:a16="http://schemas.microsoft.com/office/drawing/2014/main" id="{03BCCCC6-9352-7E4C-7926-25B50EE4EC30}"/>
              </a:ext>
            </a:extLst>
          </p:cNvPr>
          <p:cNvSpPr>
            <a:spLocks noGrp="1"/>
          </p:cNvSpPr>
          <p:nvPr>
            <p:ph idx="1"/>
          </p:nvPr>
        </p:nvSpPr>
        <p:spPr>
          <a:xfrm>
            <a:off x="450937" y="1515649"/>
            <a:ext cx="10902863" cy="4661314"/>
          </a:xfrm>
        </p:spPr>
        <p:txBody>
          <a:bodyPr>
            <a:normAutofit/>
          </a:bodyPr>
          <a:lstStyle/>
          <a:p>
            <a:r>
              <a:rPr lang="en-US" dirty="0"/>
              <a:t>if (average &gt;= 70); </a:t>
            </a:r>
            <a:r>
              <a:rPr lang="en-CN" dirty="0"/>
              <a:t>What's wrong here?. The semicolon terminates the if statement.</a:t>
            </a:r>
          </a:p>
          <a:p>
            <a:r>
              <a:rPr lang="en-US" dirty="0"/>
              <a:t>C</a:t>
            </a:r>
            <a:r>
              <a:rPr lang="en-CN" dirty="0"/>
              <a:t>orrected code is:</a:t>
            </a:r>
          </a:p>
          <a:p>
            <a:pPr marL="457200" lvl="1" indent="0">
              <a:buNone/>
            </a:pPr>
            <a:r>
              <a:rPr lang="en-US" sz="1800" dirty="0">
                <a:solidFill>
                  <a:srgbClr val="FF0000"/>
                </a:solidFill>
                <a:latin typeface="Courier New" panose="02070309020205020404" pitchFamily="49" charset="0"/>
                <a:cs typeface="Courier New" panose="02070309020205020404" pitchFamily="49" charset="0"/>
              </a:rPr>
              <a:t>if (average &gt;= 70)</a:t>
            </a:r>
          </a:p>
          <a:p>
            <a:pPr marL="457200" lvl="1" indent="0">
              <a:buNone/>
            </a:pPr>
            <a:r>
              <a:rPr lang="en-US" sz="1800" dirty="0">
                <a:solidFill>
                  <a:srgbClr val="FF0000"/>
                </a:solidFill>
                <a:latin typeface="Courier New" panose="02070309020205020404" pitchFamily="49" charset="0"/>
                <a:cs typeface="Courier New" panose="02070309020205020404" pitchFamily="49" charset="0"/>
              </a:rPr>
              <a:t>{</a:t>
            </a:r>
          </a:p>
          <a:p>
            <a:pPr marL="457200" lvl="1" indent="0">
              <a:buNone/>
            </a:pPr>
            <a:r>
              <a:rPr lang="en-US" sz="1800" dirty="0">
                <a:solidFill>
                  <a:srgbClr val="FF0000"/>
                </a:solidFill>
                <a:latin typeface="Courier New" panose="02070309020205020404" pitchFamily="49" charset="0"/>
                <a:cs typeface="Courier New" panose="02070309020205020404" pitchFamily="49" charset="0"/>
              </a:rPr>
              <a:t>    </a:t>
            </a:r>
            <a:r>
              <a:rPr lang="en-US" sz="1800" dirty="0" err="1">
                <a:solidFill>
                  <a:srgbClr val="FF0000"/>
                </a:solidFill>
                <a:latin typeface="Courier New" panose="02070309020205020404" pitchFamily="49" charset="0"/>
                <a:cs typeface="Courier New" panose="02070309020205020404" pitchFamily="49" charset="0"/>
              </a:rPr>
              <a:t>cout</a:t>
            </a:r>
            <a:r>
              <a:rPr lang="en-US" sz="1800" dirty="0">
                <a:solidFill>
                  <a:srgbClr val="FF0000"/>
                </a:solidFill>
                <a:latin typeface="Courier New" panose="02070309020205020404" pitchFamily="49" charset="0"/>
                <a:cs typeface="Courier New" panose="02070309020205020404" pitchFamily="49" charset="0"/>
              </a:rPr>
              <a:t> &lt;&lt; "You passed!" &lt;&lt; </a:t>
            </a:r>
            <a:r>
              <a:rPr lang="en-US" sz="1800" dirty="0" err="1">
                <a:solidFill>
                  <a:srgbClr val="FF0000"/>
                </a:solidFill>
                <a:latin typeface="Courier New" panose="02070309020205020404" pitchFamily="49" charset="0"/>
                <a:cs typeface="Courier New" panose="02070309020205020404" pitchFamily="49" charset="0"/>
              </a:rPr>
              <a:t>endl</a:t>
            </a:r>
            <a:r>
              <a:rPr lang="en-US" sz="1800" dirty="0">
                <a:solidFill>
                  <a:srgbClr val="FF0000"/>
                </a:solidFill>
                <a:latin typeface="Courier New" panose="02070309020205020404" pitchFamily="49" charset="0"/>
                <a:cs typeface="Courier New" panose="02070309020205020404" pitchFamily="49" charset="0"/>
              </a:rPr>
              <a:t>;</a:t>
            </a:r>
          </a:p>
          <a:p>
            <a:pPr marL="457200" lvl="1" indent="0">
              <a:buNone/>
            </a:pPr>
            <a:r>
              <a:rPr lang="en-US" sz="1800" dirty="0">
                <a:solidFill>
                  <a:srgbClr val="FF0000"/>
                </a:solidFill>
                <a:latin typeface="Courier New" panose="02070309020205020404" pitchFamily="49" charset="0"/>
                <a:cs typeface="Courier New" panose="02070309020205020404" pitchFamily="49" charset="0"/>
              </a:rPr>
              <a:t>}</a:t>
            </a:r>
          </a:p>
          <a:p>
            <a:pPr marL="457200" lvl="1" indent="0">
              <a:buNone/>
            </a:pPr>
            <a:r>
              <a:rPr lang="en-US" sz="1800" dirty="0">
                <a:solidFill>
                  <a:srgbClr val="FF0000"/>
                </a:solidFill>
                <a:latin typeface="Courier New" panose="02070309020205020404" pitchFamily="49" charset="0"/>
                <a:cs typeface="Courier New" panose="02070309020205020404" pitchFamily="49" charset="0"/>
              </a:rPr>
              <a:t>else</a:t>
            </a:r>
          </a:p>
          <a:p>
            <a:pPr marL="457200" lvl="1" indent="0">
              <a:buNone/>
            </a:pPr>
            <a:r>
              <a:rPr lang="en-US" sz="1800" dirty="0">
                <a:solidFill>
                  <a:srgbClr val="FF0000"/>
                </a:solidFill>
                <a:latin typeface="Courier New" panose="02070309020205020404" pitchFamily="49" charset="0"/>
                <a:cs typeface="Courier New" panose="02070309020205020404" pitchFamily="49" charset="0"/>
              </a:rPr>
              <a:t>{</a:t>
            </a:r>
          </a:p>
          <a:p>
            <a:pPr marL="457200" lvl="1" indent="0">
              <a:buNone/>
            </a:pPr>
            <a:r>
              <a:rPr lang="en-US" sz="1800" dirty="0">
                <a:solidFill>
                  <a:srgbClr val="FF0000"/>
                </a:solidFill>
                <a:latin typeface="Courier New" panose="02070309020205020404" pitchFamily="49" charset="0"/>
                <a:cs typeface="Courier New" panose="02070309020205020404" pitchFamily="49" charset="0"/>
              </a:rPr>
              <a:t>    </a:t>
            </a:r>
            <a:r>
              <a:rPr lang="en-US" sz="1800" dirty="0" err="1">
                <a:solidFill>
                  <a:srgbClr val="FF0000"/>
                </a:solidFill>
                <a:latin typeface="Courier New" panose="02070309020205020404" pitchFamily="49" charset="0"/>
                <a:cs typeface="Courier New" panose="02070309020205020404" pitchFamily="49" charset="0"/>
              </a:rPr>
              <a:t>cout</a:t>
            </a:r>
            <a:r>
              <a:rPr lang="en-US" sz="1800" dirty="0">
                <a:solidFill>
                  <a:srgbClr val="FF0000"/>
                </a:solidFill>
                <a:latin typeface="Courier New" panose="02070309020205020404" pitchFamily="49" charset="0"/>
                <a:cs typeface="Courier New" panose="02070309020205020404" pitchFamily="49" charset="0"/>
              </a:rPr>
              <a:t> &lt;&lt; "You did not pass." &lt;&lt; </a:t>
            </a:r>
            <a:r>
              <a:rPr lang="en-US" sz="1800" dirty="0" err="1">
                <a:solidFill>
                  <a:srgbClr val="FF0000"/>
                </a:solidFill>
                <a:latin typeface="Courier New" panose="02070309020205020404" pitchFamily="49" charset="0"/>
                <a:cs typeface="Courier New" panose="02070309020205020404" pitchFamily="49" charset="0"/>
              </a:rPr>
              <a:t>endl</a:t>
            </a:r>
            <a:r>
              <a:rPr lang="en-US" sz="1800" dirty="0">
                <a:solidFill>
                  <a:srgbClr val="FF0000"/>
                </a:solidFill>
                <a:latin typeface="Courier New" panose="02070309020205020404" pitchFamily="49" charset="0"/>
                <a:cs typeface="Courier New" panose="02070309020205020404" pitchFamily="49" charset="0"/>
              </a:rPr>
              <a:t>;</a:t>
            </a:r>
          </a:p>
          <a:p>
            <a:pPr marL="457200" lvl="1" indent="0">
              <a:buNone/>
            </a:pPr>
            <a:r>
              <a:rPr lang="en-US" sz="1800" dirty="0">
                <a:solidFill>
                  <a:srgbClr val="FF0000"/>
                </a:solidFill>
                <a:latin typeface="Courier New" panose="02070309020205020404" pitchFamily="49" charset="0"/>
                <a:cs typeface="Courier New" panose="02070309020205020404" pitchFamily="49" charset="0"/>
              </a:rPr>
              <a:t>}</a:t>
            </a:r>
            <a:endParaRPr lang="en-CN" sz="1800" dirty="0">
              <a:solidFill>
                <a:srgbClr val="FF0000"/>
              </a:solidFill>
              <a:latin typeface="Courier New" panose="02070309020205020404" pitchFamily="49" charset="0"/>
              <a:cs typeface="Courier New" panose="02070309020205020404" pitchFamily="49" charset="0"/>
            </a:endParaRPr>
          </a:p>
          <a:p>
            <a:endParaRPr lang="en-CN" dirty="0"/>
          </a:p>
        </p:txBody>
      </p:sp>
    </p:spTree>
    <p:extLst>
      <p:ext uri="{BB962C8B-B14F-4D97-AF65-F5344CB8AC3E}">
        <p14:creationId xmlns:p14="http://schemas.microsoft.com/office/powerpoint/2010/main" val="3616299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88456-68EB-FD09-0732-97789889A9AD}"/>
              </a:ext>
            </a:extLst>
          </p:cNvPr>
          <p:cNvSpPr>
            <a:spLocks noGrp="1"/>
          </p:cNvSpPr>
          <p:nvPr>
            <p:ph type="title"/>
          </p:nvPr>
        </p:nvSpPr>
        <p:spPr>
          <a:xfrm>
            <a:off x="236951" y="193457"/>
            <a:ext cx="10515600" cy="975160"/>
          </a:xfrm>
        </p:spPr>
        <p:txBody>
          <a:bodyPr/>
          <a:lstStyle/>
          <a:p>
            <a:r>
              <a:rPr lang="en-CN" dirty="0"/>
              <a:t>Correct Program</a:t>
            </a:r>
          </a:p>
        </p:txBody>
      </p:sp>
      <p:sp>
        <p:nvSpPr>
          <p:cNvPr id="4" name="TextBox 3">
            <a:extLst>
              <a:ext uri="{FF2B5EF4-FFF2-40B4-BE49-F238E27FC236}">
                <a16:creationId xmlns:a16="http://schemas.microsoft.com/office/drawing/2014/main" id="{B0265950-14B5-A312-75BC-A42AC3D04482}"/>
              </a:ext>
            </a:extLst>
          </p:cNvPr>
          <p:cNvSpPr txBox="1"/>
          <p:nvPr/>
        </p:nvSpPr>
        <p:spPr>
          <a:xfrm>
            <a:off x="363255" y="951978"/>
            <a:ext cx="5009705" cy="6463308"/>
          </a:xfrm>
          <a:prstGeom prst="rect">
            <a:avLst/>
          </a:prstGeom>
          <a:noFill/>
        </p:spPr>
        <p:txBody>
          <a:bodyPr wrap="none" rtlCol="0">
            <a:spAutoFit/>
          </a:bodyPr>
          <a:lstStyle/>
          <a:p>
            <a:r>
              <a:rPr lang="en-US" dirty="0">
                <a:solidFill>
                  <a:srgbClr val="FF0000"/>
                </a:solidFill>
                <a:latin typeface="Courier New" panose="02070309020205020404" pitchFamily="49" charset="0"/>
                <a:cs typeface="Courier New" panose="02070309020205020404" pitchFamily="49" charset="0"/>
              </a:rPr>
              <a:t>#include &lt;iostream&gt;</a:t>
            </a:r>
          </a:p>
          <a:p>
            <a:r>
              <a:rPr lang="en-US" dirty="0">
                <a:solidFill>
                  <a:srgbClr val="FF0000"/>
                </a:solidFill>
                <a:latin typeface="Courier New" panose="02070309020205020404" pitchFamily="49" charset="0"/>
                <a:cs typeface="Courier New" panose="02070309020205020404" pitchFamily="49" charset="0"/>
              </a:rPr>
              <a:t>#include &lt;string&gt;</a:t>
            </a:r>
          </a:p>
          <a:p>
            <a:r>
              <a:rPr lang="en-US" dirty="0">
                <a:solidFill>
                  <a:srgbClr val="FF0000"/>
                </a:solidFill>
                <a:latin typeface="Courier New" panose="02070309020205020404" pitchFamily="49" charset="0"/>
                <a:cs typeface="Courier New" panose="02070309020205020404" pitchFamily="49" charset="0"/>
              </a:rPr>
              <a:t>using namespace std;</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int main()</a:t>
            </a:r>
          </a:p>
          <a:p>
            <a:r>
              <a:rPr lang="en-US" dirty="0">
                <a:solidFill>
                  <a:srgbClr val="FF0000"/>
                </a:solidFill>
                <a:latin typeface="Courier New" panose="02070309020205020404" pitchFamily="49" charset="0"/>
                <a:cs typeface="Courier New" panose="02070309020205020404" pitchFamily="49" charset="0"/>
              </a:rPr>
              <a:t>{</a:t>
            </a:r>
          </a:p>
          <a:p>
            <a:r>
              <a:rPr lang="en-US" dirty="0">
                <a:solidFill>
                  <a:srgbClr val="FF0000"/>
                </a:solidFill>
                <a:latin typeface="Courier New" panose="02070309020205020404" pitchFamily="49" charset="0"/>
                <a:cs typeface="Courier New" panose="02070309020205020404" pitchFamily="49" charset="0"/>
              </a:rPr>
              <a:t>    string name;</a:t>
            </a:r>
          </a:p>
          <a:p>
            <a:r>
              <a:rPr lang="en-US" dirty="0">
                <a:solidFill>
                  <a:srgbClr val="FF0000"/>
                </a:solidFill>
                <a:latin typeface="Courier New" panose="02070309020205020404" pitchFamily="49" charset="0"/>
                <a:cs typeface="Courier New" panose="02070309020205020404" pitchFamily="49" charset="0"/>
              </a:rPr>
              <a:t>    int exam1, exam2, exam3;</a:t>
            </a:r>
          </a:p>
          <a:p>
            <a:r>
              <a:rPr lang="en-US" dirty="0">
                <a:solidFill>
                  <a:srgbClr val="FF0000"/>
                </a:solidFill>
                <a:latin typeface="Courier New" panose="02070309020205020404" pitchFamily="49" charset="0"/>
                <a:cs typeface="Courier New" panose="02070309020205020404" pitchFamily="49" charset="0"/>
              </a:rPr>
              <a:t>    double average;</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"Enter your name: ";</a:t>
            </a: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getline</a:t>
            </a:r>
            <a:r>
              <a:rPr lang="en-US" dirty="0">
                <a:solidFill>
                  <a:srgbClr val="FF0000"/>
                </a:solidFill>
                <a:latin typeface="Courier New" panose="02070309020205020404" pitchFamily="49" charset="0"/>
                <a:cs typeface="Courier New" panose="02070309020205020404" pitchFamily="49" charset="0"/>
              </a:rPr>
              <a:t>(</a:t>
            </a:r>
            <a:r>
              <a:rPr lang="en-US" dirty="0" err="1">
                <a:solidFill>
                  <a:srgbClr val="FF0000"/>
                </a:solidFill>
                <a:latin typeface="Courier New" panose="02070309020205020404" pitchFamily="49" charset="0"/>
                <a:cs typeface="Courier New" panose="02070309020205020404" pitchFamily="49" charset="0"/>
              </a:rPr>
              <a:t>cin</a:t>
            </a:r>
            <a:r>
              <a:rPr lang="en-US" dirty="0">
                <a:solidFill>
                  <a:srgbClr val="FF0000"/>
                </a:solidFill>
                <a:latin typeface="Courier New" panose="02070309020205020404" pitchFamily="49" charset="0"/>
                <a:cs typeface="Courier New" panose="02070309020205020404" pitchFamily="49" charset="0"/>
              </a:rPr>
              <a:t>, name);</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"Enter Exam 1 score: ";</a:t>
            </a: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cin</a:t>
            </a:r>
            <a:r>
              <a:rPr lang="en-US" dirty="0">
                <a:solidFill>
                  <a:srgbClr val="FF0000"/>
                </a:solidFill>
                <a:latin typeface="Courier New" panose="02070309020205020404" pitchFamily="49" charset="0"/>
                <a:cs typeface="Courier New" panose="02070309020205020404" pitchFamily="49" charset="0"/>
              </a:rPr>
              <a:t> &gt;&gt; exam1;</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"Enter Exam 2 score: ";</a:t>
            </a: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cin</a:t>
            </a:r>
            <a:r>
              <a:rPr lang="en-US" dirty="0">
                <a:solidFill>
                  <a:srgbClr val="FF0000"/>
                </a:solidFill>
                <a:latin typeface="Courier New" panose="02070309020205020404" pitchFamily="49" charset="0"/>
                <a:cs typeface="Courier New" panose="02070309020205020404" pitchFamily="49" charset="0"/>
              </a:rPr>
              <a:t> &gt;&gt; exam2;</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"Enter Exam 3 score: ";</a:t>
            </a: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cin</a:t>
            </a:r>
            <a:r>
              <a:rPr lang="en-US" dirty="0">
                <a:solidFill>
                  <a:srgbClr val="FF0000"/>
                </a:solidFill>
                <a:latin typeface="Courier New" panose="02070309020205020404" pitchFamily="49" charset="0"/>
                <a:cs typeface="Courier New" panose="02070309020205020404" pitchFamily="49" charset="0"/>
              </a:rPr>
              <a:t> &gt;&gt; exam3;</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a:t>
            </a:r>
            <a:endParaRPr lang="en-CN" dirty="0">
              <a:solidFill>
                <a:srgbClr val="FF0000"/>
              </a:solidFill>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2AFBAF68-D702-BFCA-4E12-F2E09FDCF700}"/>
              </a:ext>
            </a:extLst>
          </p:cNvPr>
          <p:cNvSpPr txBox="1"/>
          <p:nvPr/>
        </p:nvSpPr>
        <p:spPr>
          <a:xfrm>
            <a:off x="5704620" y="951978"/>
            <a:ext cx="6250429" cy="4801314"/>
          </a:xfrm>
          <a:prstGeom prst="rect">
            <a:avLst/>
          </a:prstGeom>
          <a:noFill/>
        </p:spPr>
        <p:txBody>
          <a:bodyPr wrap="none" rtlCol="0">
            <a:spAutoFit/>
          </a:bodyPr>
          <a:lstStyle/>
          <a:p>
            <a:r>
              <a:rPr lang="en-US" dirty="0">
                <a:solidFill>
                  <a:srgbClr val="FF0000"/>
                </a:solidFill>
                <a:latin typeface="Courier New" panose="02070309020205020404" pitchFamily="49" charset="0"/>
                <a:cs typeface="Courier New" panose="02070309020205020404" pitchFamily="49" charset="0"/>
              </a:rPr>
              <a:t>average = (exam1 + exam2 + exam3) / 3.0;</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"Student: " &lt;&lt; name &lt;&lt; </a:t>
            </a:r>
            <a:r>
              <a:rPr lang="en-US" dirty="0" err="1">
                <a:solidFill>
                  <a:srgbClr val="FF0000"/>
                </a:solidFill>
                <a:latin typeface="Courier New" panose="02070309020205020404" pitchFamily="49" charset="0"/>
                <a:cs typeface="Courier New" panose="02070309020205020404" pitchFamily="49" charset="0"/>
              </a:rPr>
              <a:t>endl</a:t>
            </a:r>
            <a:r>
              <a:rPr lang="en-US" dirty="0">
                <a:solidFill>
                  <a:srgbClr val="FF0000"/>
                </a:solidFill>
                <a:latin typeface="Courier New" panose="02070309020205020404" pitchFamily="49" charset="0"/>
                <a:cs typeface="Courier New" panose="02070309020205020404" pitchFamily="49" charset="0"/>
              </a:rPr>
              <a:t>;</a:t>
            </a: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"Average: " &lt;&lt; average &lt;&lt; </a:t>
            </a:r>
            <a:r>
              <a:rPr lang="en-US" dirty="0" err="1">
                <a:solidFill>
                  <a:srgbClr val="FF0000"/>
                </a:solidFill>
                <a:latin typeface="Courier New" panose="02070309020205020404" pitchFamily="49" charset="0"/>
                <a:cs typeface="Courier New" panose="02070309020205020404" pitchFamily="49" charset="0"/>
              </a:rPr>
              <a:t>endl</a:t>
            </a:r>
            <a:r>
              <a:rPr lang="en-US" dirty="0">
                <a:solidFill>
                  <a:srgbClr val="FF0000"/>
                </a:solidFill>
                <a:latin typeface="Courier New" panose="02070309020205020404" pitchFamily="49" charset="0"/>
                <a:cs typeface="Courier New" panose="02070309020205020404" pitchFamily="49" charset="0"/>
              </a:rPr>
              <a:t>;</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if (average &gt;= 70)</a:t>
            </a:r>
          </a:p>
          <a:p>
            <a:r>
              <a:rPr lang="en-US" dirty="0">
                <a:solidFill>
                  <a:srgbClr val="FF0000"/>
                </a:solidFill>
                <a:latin typeface="Courier New" panose="02070309020205020404" pitchFamily="49" charset="0"/>
                <a:cs typeface="Courier New" panose="02070309020205020404" pitchFamily="49" charset="0"/>
              </a:rPr>
              <a:t>    {</a:t>
            </a: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"You passed!" &lt;&lt; </a:t>
            </a:r>
            <a:r>
              <a:rPr lang="en-US" dirty="0" err="1">
                <a:solidFill>
                  <a:srgbClr val="FF0000"/>
                </a:solidFill>
                <a:latin typeface="Courier New" panose="02070309020205020404" pitchFamily="49" charset="0"/>
                <a:cs typeface="Courier New" panose="02070309020205020404" pitchFamily="49" charset="0"/>
              </a:rPr>
              <a:t>endl</a:t>
            </a:r>
            <a:r>
              <a:rPr lang="en-US" dirty="0">
                <a:solidFill>
                  <a:srgbClr val="FF0000"/>
                </a:solidFill>
                <a:latin typeface="Courier New" panose="02070309020205020404" pitchFamily="49" charset="0"/>
                <a:cs typeface="Courier New" panose="02070309020205020404" pitchFamily="49" charset="0"/>
              </a:rPr>
              <a:t>;</a:t>
            </a:r>
          </a:p>
          <a:p>
            <a:r>
              <a:rPr lang="en-US" dirty="0">
                <a:solidFill>
                  <a:srgbClr val="FF0000"/>
                </a:solidFill>
                <a:latin typeface="Courier New" panose="02070309020205020404" pitchFamily="49" charset="0"/>
                <a:cs typeface="Courier New" panose="02070309020205020404" pitchFamily="49" charset="0"/>
              </a:rPr>
              <a:t>    }</a:t>
            </a:r>
          </a:p>
          <a:p>
            <a:r>
              <a:rPr lang="en-US" dirty="0">
                <a:solidFill>
                  <a:srgbClr val="FF0000"/>
                </a:solidFill>
                <a:latin typeface="Courier New" panose="02070309020205020404" pitchFamily="49" charset="0"/>
                <a:cs typeface="Courier New" panose="02070309020205020404" pitchFamily="49" charset="0"/>
              </a:rPr>
              <a:t>    else</a:t>
            </a:r>
          </a:p>
          <a:p>
            <a:r>
              <a:rPr lang="en-US" dirty="0">
                <a:solidFill>
                  <a:srgbClr val="FF0000"/>
                </a:solidFill>
                <a:latin typeface="Courier New" panose="02070309020205020404" pitchFamily="49" charset="0"/>
                <a:cs typeface="Courier New" panose="02070309020205020404" pitchFamily="49" charset="0"/>
              </a:rPr>
              <a:t>    {</a:t>
            </a: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"You did not pass." &lt;&lt; </a:t>
            </a:r>
            <a:r>
              <a:rPr lang="en-US" dirty="0" err="1">
                <a:solidFill>
                  <a:srgbClr val="FF0000"/>
                </a:solidFill>
                <a:latin typeface="Courier New" panose="02070309020205020404" pitchFamily="49" charset="0"/>
                <a:cs typeface="Courier New" panose="02070309020205020404" pitchFamily="49" charset="0"/>
              </a:rPr>
              <a:t>endl</a:t>
            </a:r>
            <a:r>
              <a:rPr lang="en-US" dirty="0">
                <a:solidFill>
                  <a:srgbClr val="FF0000"/>
                </a:solidFill>
                <a:latin typeface="Courier New" panose="02070309020205020404" pitchFamily="49" charset="0"/>
                <a:cs typeface="Courier New" panose="02070309020205020404" pitchFamily="49" charset="0"/>
              </a:rPr>
              <a:t>;</a:t>
            </a:r>
          </a:p>
          <a:p>
            <a:r>
              <a:rPr lang="en-US" dirty="0">
                <a:solidFill>
                  <a:srgbClr val="FF0000"/>
                </a:solidFill>
                <a:latin typeface="Courier New" panose="02070309020205020404" pitchFamily="49" charset="0"/>
                <a:cs typeface="Courier New" panose="02070309020205020404" pitchFamily="49" charset="0"/>
              </a:rPr>
              <a:t>    }</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return 0;</a:t>
            </a:r>
          </a:p>
          <a:p>
            <a:r>
              <a:rPr lang="en-US" dirty="0">
                <a:solidFill>
                  <a:srgbClr val="FF0000"/>
                </a:solidFill>
                <a:latin typeface="Courier New" panose="02070309020205020404" pitchFamily="49" charset="0"/>
                <a:cs typeface="Courier New" panose="02070309020205020404" pitchFamily="49" charset="0"/>
              </a:rPr>
              <a:t>}</a:t>
            </a:r>
            <a:endParaRPr lang="en-CN" dirty="0">
              <a:solidFill>
                <a:srgbClr val="FF0000"/>
              </a:solidFill>
              <a:latin typeface="Courier New" panose="02070309020205020404" pitchFamily="49" charset="0"/>
              <a:cs typeface="Courier New" panose="02070309020205020404" pitchFamily="49" charset="0"/>
            </a:endParaRPr>
          </a:p>
          <a:p>
            <a:endParaRPr lang="en-CN" dirty="0">
              <a:solidFill>
                <a:srgbClr val="FF0000"/>
              </a:solidFill>
            </a:endParaRPr>
          </a:p>
        </p:txBody>
      </p:sp>
    </p:spTree>
    <p:extLst>
      <p:ext uri="{BB962C8B-B14F-4D97-AF65-F5344CB8AC3E}">
        <p14:creationId xmlns:p14="http://schemas.microsoft.com/office/powerpoint/2010/main" val="2652558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4B1BB-2A82-5018-D059-E5E7B025F24C}"/>
              </a:ext>
            </a:extLst>
          </p:cNvPr>
          <p:cNvSpPr>
            <a:spLocks noGrp="1"/>
          </p:cNvSpPr>
          <p:nvPr>
            <p:ph type="title"/>
          </p:nvPr>
        </p:nvSpPr>
        <p:spPr>
          <a:xfrm>
            <a:off x="299581" y="162142"/>
            <a:ext cx="10515600" cy="1037790"/>
          </a:xfrm>
        </p:spPr>
        <p:txBody>
          <a:bodyPr/>
          <a:lstStyle/>
          <a:p>
            <a:r>
              <a:rPr lang="en-CN" dirty="0"/>
              <a:t>Exam Connection &amp; Expectation</a:t>
            </a:r>
          </a:p>
        </p:txBody>
      </p:sp>
      <p:sp>
        <p:nvSpPr>
          <p:cNvPr id="3" name="Content Placeholder 2">
            <a:extLst>
              <a:ext uri="{FF2B5EF4-FFF2-40B4-BE49-F238E27FC236}">
                <a16:creationId xmlns:a16="http://schemas.microsoft.com/office/drawing/2014/main" id="{B226429D-FADA-61EE-D5B5-0F07BE85AA78}"/>
              </a:ext>
            </a:extLst>
          </p:cNvPr>
          <p:cNvSpPr>
            <a:spLocks noGrp="1"/>
          </p:cNvSpPr>
          <p:nvPr>
            <p:ph idx="1"/>
          </p:nvPr>
        </p:nvSpPr>
        <p:spPr>
          <a:xfrm>
            <a:off x="299581" y="1440493"/>
            <a:ext cx="11054219" cy="4736470"/>
          </a:xfrm>
        </p:spPr>
        <p:txBody>
          <a:bodyPr/>
          <a:lstStyle/>
          <a:p>
            <a:pPr>
              <a:lnSpc>
                <a:spcPct val="200000"/>
              </a:lnSpc>
            </a:pPr>
            <a:r>
              <a:rPr lang="en-CN" sz="3200" dirty="0"/>
              <a:t>What should you be able to do for Exam 1?</a:t>
            </a:r>
          </a:p>
          <a:p>
            <a:pPr lvl="1">
              <a:lnSpc>
                <a:spcPct val="200000"/>
              </a:lnSpc>
            </a:pPr>
            <a:r>
              <a:rPr lang="en-CN" sz="2800" dirty="0"/>
              <a:t>Write: Given a problem, write a complete C++ program.</a:t>
            </a:r>
          </a:p>
          <a:p>
            <a:pPr lvl="1">
              <a:lnSpc>
                <a:spcPct val="200000"/>
              </a:lnSpc>
            </a:pPr>
            <a:r>
              <a:rPr lang="en-CN" sz="2800" dirty="0"/>
              <a:t>Debug: Identify missing or incorrect C++ statements and syntax.</a:t>
            </a:r>
          </a:p>
          <a:p>
            <a:pPr lvl="1">
              <a:lnSpc>
                <a:spcPct val="200000"/>
              </a:lnSpc>
            </a:pPr>
            <a:r>
              <a:rPr lang="en-CN" sz="2800" dirty="0"/>
              <a:t>Explain: Answer conceptual questions about C++ and the programming process.</a:t>
            </a:r>
          </a:p>
          <a:p>
            <a:endParaRPr lang="en-CN" dirty="0"/>
          </a:p>
        </p:txBody>
      </p:sp>
      <p:sp>
        <p:nvSpPr>
          <p:cNvPr id="4" name="TextBox 3">
            <a:extLst>
              <a:ext uri="{FF2B5EF4-FFF2-40B4-BE49-F238E27FC236}">
                <a16:creationId xmlns:a16="http://schemas.microsoft.com/office/drawing/2014/main" id="{B54C6E23-4E8C-39E7-B043-07C8D4FCAA02}"/>
              </a:ext>
            </a:extLst>
          </p:cNvPr>
          <p:cNvSpPr txBox="1"/>
          <p:nvPr/>
        </p:nvSpPr>
        <p:spPr>
          <a:xfrm>
            <a:off x="2181242" y="6326526"/>
            <a:ext cx="7829516" cy="369332"/>
          </a:xfrm>
          <a:prstGeom prst="rect">
            <a:avLst/>
          </a:prstGeom>
          <a:noFill/>
        </p:spPr>
        <p:txBody>
          <a:bodyPr wrap="none" rtlCol="0">
            <a:spAutoFit/>
          </a:bodyPr>
          <a:lstStyle/>
          <a:p>
            <a:r>
              <a:rPr lang="en-CN" dirty="0">
                <a:solidFill>
                  <a:srgbClr val="FF0000"/>
                </a:solidFill>
              </a:rPr>
              <a:t>Don't just memorize code. You should be able to explain what every line does.</a:t>
            </a:r>
          </a:p>
        </p:txBody>
      </p:sp>
    </p:spTree>
    <p:extLst>
      <p:ext uri="{BB962C8B-B14F-4D97-AF65-F5344CB8AC3E}">
        <p14:creationId xmlns:p14="http://schemas.microsoft.com/office/powerpoint/2010/main" val="4272292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830FF-15CB-28B0-2C8A-5C9AEDCAFFDF}"/>
              </a:ext>
            </a:extLst>
          </p:cNvPr>
          <p:cNvSpPr>
            <a:spLocks noGrp="1"/>
          </p:cNvSpPr>
          <p:nvPr>
            <p:ph type="title"/>
          </p:nvPr>
        </p:nvSpPr>
        <p:spPr>
          <a:xfrm>
            <a:off x="246529" y="203761"/>
            <a:ext cx="10515600" cy="1087158"/>
          </a:xfrm>
        </p:spPr>
        <p:txBody>
          <a:bodyPr/>
          <a:lstStyle/>
          <a:p>
            <a:r>
              <a:rPr lang="en-CN" dirty="0"/>
              <a:t>Find the Bugs: Student Profile</a:t>
            </a:r>
          </a:p>
        </p:txBody>
      </p:sp>
      <p:sp>
        <p:nvSpPr>
          <p:cNvPr id="3" name="Content Placeholder 2">
            <a:extLst>
              <a:ext uri="{FF2B5EF4-FFF2-40B4-BE49-F238E27FC236}">
                <a16:creationId xmlns:a16="http://schemas.microsoft.com/office/drawing/2014/main" id="{6A6A6C08-9092-7528-F83A-D88F71D105B9}"/>
              </a:ext>
            </a:extLst>
          </p:cNvPr>
          <p:cNvSpPr>
            <a:spLocks noGrp="1"/>
          </p:cNvSpPr>
          <p:nvPr>
            <p:ph idx="1"/>
          </p:nvPr>
        </p:nvSpPr>
        <p:spPr>
          <a:xfrm>
            <a:off x="246529" y="1253330"/>
            <a:ext cx="11026896" cy="5147469"/>
          </a:xfrm>
        </p:spPr>
        <p:txBody>
          <a:bodyPr>
            <a:normAutofit/>
          </a:bodyPr>
          <a:lstStyle/>
          <a:p>
            <a:pPr>
              <a:lnSpc>
                <a:spcPct val="200000"/>
              </a:lnSpc>
            </a:pPr>
            <a:r>
              <a:rPr lang="en-CN" sz="3200" dirty="0"/>
              <a:t>Program Description</a:t>
            </a:r>
          </a:p>
          <a:p>
            <a:pPr lvl="1">
              <a:lnSpc>
                <a:spcPct val="200000"/>
              </a:lnSpc>
            </a:pPr>
            <a:r>
              <a:rPr lang="en-CN" sz="2800" dirty="0"/>
              <a:t>The program ask the user for their name, major, classification, age, and favorite programming language, then display a student profile.</a:t>
            </a:r>
          </a:p>
          <a:p>
            <a:pPr lvl="1">
              <a:lnSpc>
                <a:spcPct val="200000"/>
              </a:lnSpc>
            </a:pPr>
            <a:r>
              <a:rPr lang="en-CN" sz="2800" dirty="0"/>
              <a:t>The program contains several errors. Identify and correct them.</a:t>
            </a:r>
          </a:p>
          <a:p>
            <a:pPr>
              <a:lnSpc>
                <a:spcPct val="200000"/>
              </a:lnSpc>
            </a:pPr>
            <a:endParaRPr lang="en-CN" dirty="0"/>
          </a:p>
        </p:txBody>
      </p:sp>
    </p:spTree>
    <p:extLst>
      <p:ext uri="{BB962C8B-B14F-4D97-AF65-F5344CB8AC3E}">
        <p14:creationId xmlns:p14="http://schemas.microsoft.com/office/powerpoint/2010/main" val="834152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AC34A-2C5B-F1DD-EA95-427C6457A706}"/>
              </a:ext>
            </a:extLst>
          </p:cNvPr>
          <p:cNvSpPr>
            <a:spLocks noGrp="1"/>
          </p:cNvSpPr>
          <p:nvPr>
            <p:ph type="title"/>
          </p:nvPr>
        </p:nvSpPr>
        <p:spPr>
          <a:xfrm>
            <a:off x="0" y="102079"/>
            <a:ext cx="10515600" cy="849900"/>
          </a:xfrm>
        </p:spPr>
        <p:txBody>
          <a:bodyPr/>
          <a:lstStyle/>
          <a:p>
            <a:r>
              <a:rPr lang="en-CN" dirty="0"/>
              <a:t>Faulty code:</a:t>
            </a:r>
          </a:p>
        </p:txBody>
      </p:sp>
      <p:sp>
        <p:nvSpPr>
          <p:cNvPr id="4" name="TextBox 3">
            <a:extLst>
              <a:ext uri="{FF2B5EF4-FFF2-40B4-BE49-F238E27FC236}">
                <a16:creationId xmlns:a16="http://schemas.microsoft.com/office/drawing/2014/main" id="{F356D240-3822-3CAC-8B90-DA264CB03DC7}"/>
              </a:ext>
            </a:extLst>
          </p:cNvPr>
          <p:cNvSpPr txBox="1"/>
          <p:nvPr/>
        </p:nvSpPr>
        <p:spPr>
          <a:xfrm>
            <a:off x="0" y="1240079"/>
            <a:ext cx="5368777" cy="5262979"/>
          </a:xfrm>
          <a:prstGeom prst="rect">
            <a:avLst/>
          </a:prstGeom>
          <a:noFill/>
        </p:spPr>
        <p:txBody>
          <a:bodyPr wrap="none" rtlCol="0">
            <a:spAutoFit/>
          </a:bodyPr>
          <a:lstStyle/>
          <a:p>
            <a:r>
              <a:rPr lang="en-US" sz="1600" dirty="0">
                <a:solidFill>
                  <a:srgbClr val="FF0000"/>
                </a:solidFill>
                <a:latin typeface="Courier New" panose="02070309020205020404" pitchFamily="49" charset="0"/>
                <a:cs typeface="Courier New" panose="02070309020205020404" pitchFamily="49" charset="0"/>
              </a:rPr>
              <a:t>#include &lt;iostream&gt;</a:t>
            </a:r>
          </a:p>
          <a:p>
            <a:r>
              <a:rPr lang="en-US" sz="1600" dirty="0">
                <a:solidFill>
                  <a:srgbClr val="FF0000"/>
                </a:solidFill>
                <a:latin typeface="Courier New" panose="02070309020205020404" pitchFamily="49" charset="0"/>
                <a:cs typeface="Courier New" panose="02070309020205020404" pitchFamily="49" charset="0"/>
              </a:rPr>
              <a:t>#include &lt;string&gt;</a:t>
            </a:r>
          </a:p>
          <a:p>
            <a:r>
              <a:rPr lang="en-US" sz="1600" dirty="0">
                <a:solidFill>
                  <a:srgbClr val="FF0000"/>
                </a:solidFill>
                <a:latin typeface="Courier New" panose="02070309020205020404" pitchFamily="49" charset="0"/>
                <a:cs typeface="Courier New" panose="02070309020205020404" pitchFamily="49" charset="0"/>
              </a:rPr>
              <a:t>using namespace std</a:t>
            </a:r>
          </a:p>
          <a:p>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int main()</a:t>
            </a:r>
          </a:p>
          <a:p>
            <a:r>
              <a:rPr lang="en-US" sz="1600" dirty="0">
                <a:solidFill>
                  <a:srgbClr val="FF0000"/>
                </a:solidFill>
                <a:latin typeface="Courier New" panose="02070309020205020404" pitchFamily="49" charset="0"/>
                <a:cs typeface="Courier New" panose="02070309020205020404" pitchFamily="49" charset="0"/>
              </a:rPr>
              <a:t>{</a:t>
            </a:r>
          </a:p>
          <a:p>
            <a:r>
              <a:rPr lang="en-US" sz="1600" dirty="0">
                <a:solidFill>
                  <a:srgbClr val="FF0000"/>
                </a:solidFill>
                <a:latin typeface="Courier New" panose="02070309020205020404" pitchFamily="49" charset="0"/>
                <a:cs typeface="Courier New" panose="02070309020205020404" pitchFamily="49" charset="0"/>
              </a:rPr>
              <a:t>    string name;</a:t>
            </a:r>
          </a:p>
          <a:p>
            <a:r>
              <a:rPr lang="en-US" sz="1600" dirty="0">
                <a:solidFill>
                  <a:srgbClr val="FF0000"/>
                </a:solidFill>
                <a:latin typeface="Courier New" panose="02070309020205020404" pitchFamily="49" charset="0"/>
                <a:cs typeface="Courier New" panose="02070309020205020404" pitchFamily="49" charset="0"/>
              </a:rPr>
              <a:t>    string major;</a:t>
            </a:r>
          </a:p>
          <a:p>
            <a:r>
              <a:rPr lang="en-US" sz="1600" dirty="0">
                <a:solidFill>
                  <a:srgbClr val="FF0000"/>
                </a:solidFill>
                <a:latin typeface="Courier New" panose="02070309020205020404" pitchFamily="49" charset="0"/>
                <a:cs typeface="Courier New" panose="02070309020205020404" pitchFamily="49" charset="0"/>
              </a:rPr>
              <a:t>    string classification;</a:t>
            </a:r>
          </a:p>
          <a:p>
            <a:r>
              <a:rPr lang="en-US" sz="1600" dirty="0">
                <a:solidFill>
                  <a:srgbClr val="FF0000"/>
                </a:solidFill>
                <a:latin typeface="Courier New" panose="02070309020205020404" pitchFamily="49" charset="0"/>
                <a:cs typeface="Courier New" panose="02070309020205020404" pitchFamily="49" charset="0"/>
              </a:rPr>
              <a:t>    int age</a:t>
            </a:r>
          </a:p>
          <a:p>
            <a:r>
              <a:rPr lang="en-US" sz="1600" dirty="0">
                <a:solidFill>
                  <a:srgbClr val="FF0000"/>
                </a:solidFill>
                <a:latin typeface="Courier New" panose="02070309020205020404" pitchFamily="49" charset="0"/>
                <a:cs typeface="Courier New" panose="02070309020205020404" pitchFamily="49" charset="0"/>
              </a:rPr>
              <a:t>    char </a:t>
            </a:r>
            <a:r>
              <a:rPr lang="en-US" sz="1600" dirty="0" err="1">
                <a:solidFill>
                  <a:srgbClr val="FF0000"/>
                </a:solidFill>
                <a:latin typeface="Courier New" panose="02070309020205020404" pitchFamily="49" charset="0"/>
                <a:cs typeface="Courier New" panose="02070309020205020404" pitchFamily="49" charset="0"/>
              </a:rPr>
              <a:t>favoriteLanguage</a:t>
            </a:r>
            <a:r>
              <a:rPr lang="en-US" sz="1600" dirty="0">
                <a:solidFill>
                  <a:srgbClr val="FF0000"/>
                </a:solidFill>
                <a:latin typeface="Courier New" panose="02070309020205020404" pitchFamily="49" charset="0"/>
                <a:cs typeface="Courier New" panose="02070309020205020404" pitchFamily="49" charset="0"/>
              </a:rPr>
              <a:t>;</a:t>
            </a:r>
          </a:p>
          <a:p>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"Enter your full name: ";</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getline</a:t>
            </a:r>
            <a:r>
              <a:rPr lang="en-US" sz="1600" dirty="0">
                <a:solidFill>
                  <a:srgbClr val="FF0000"/>
                </a:solidFill>
                <a:latin typeface="Courier New" panose="02070309020205020404" pitchFamily="49" charset="0"/>
                <a:cs typeface="Courier New" panose="02070309020205020404" pitchFamily="49" charset="0"/>
              </a:rPr>
              <a:t>(</a:t>
            </a:r>
            <a:r>
              <a:rPr lang="en-US" sz="1600" dirty="0" err="1">
                <a:solidFill>
                  <a:srgbClr val="FF0000"/>
                </a:solidFill>
                <a:latin typeface="Courier New" panose="02070309020205020404" pitchFamily="49" charset="0"/>
                <a:cs typeface="Courier New" panose="02070309020205020404" pitchFamily="49" charset="0"/>
              </a:rPr>
              <a:t>cin</a:t>
            </a:r>
            <a:r>
              <a:rPr lang="en-US" sz="1600" dirty="0">
                <a:solidFill>
                  <a:srgbClr val="FF0000"/>
                </a:solidFill>
                <a:latin typeface="Courier New" panose="02070309020205020404" pitchFamily="49" charset="0"/>
                <a:cs typeface="Courier New" panose="02070309020205020404" pitchFamily="49" charset="0"/>
              </a:rPr>
              <a:t>, name);</a:t>
            </a:r>
          </a:p>
          <a:p>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"Enter your major: ";</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getline</a:t>
            </a:r>
            <a:r>
              <a:rPr lang="en-US" sz="1600" dirty="0">
                <a:solidFill>
                  <a:srgbClr val="FF0000"/>
                </a:solidFill>
                <a:latin typeface="Courier New" panose="02070309020205020404" pitchFamily="49" charset="0"/>
                <a:cs typeface="Courier New" panose="02070309020205020404" pitchFamily="49" charset="0"/>
              </a:rPr>
              <a:t>(</a:t>
            </a:r>
            <a:r>
              <a:rPr lang="en-US" sz="1600" dirty="0" err="1">
                <a:solidFill>
                  <a:srgbClr val="FF0000"/>
                </a:solidFill>
                <a:latin typeface="Courier New" panose="02070309020205020404" pitchFamily="49" charset="0"/>
                <a:cs typeface="Courier New" panose="02070309020205020404" pitchFamily="49" charset="0"/>
              </a:rPr>
              <a:t>cin</a:t>
            </a:r>
            <a:r>
              <a:rPr lang="en-US" sz="1600" dirty="0">
                <a:solidFill>
                  <a:srgbClr val="FF0000"/>
                </a:solidFill>
                <a:latin typeface="Courier New" panose="02070309020205020404" pitchFamily="49" charset="0"/>
                <a:cs typeface="Courier New" panose="02070309020205020404" pitchFamily="49" charset="0"/>
              </a:rPr>
              <a:t>, major);</a:t>
            </a:r>
          </a:p>
          <a:p>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"Enter your classification: ";</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cin</a:t>
            </a:r>
            <a:r>
              <a:rPr lang="en-US" sz="1600" dirty="0">
                <a:solidFill>
                  <a:srgbClr val="FF0000"/>
                </a:solidFill>
                <a:latin typeface="Courier New" panose="02070309020205020404" pitchFamily="49" charset="0"/>
                <a:cs typeface="Courier New" panose="02070309020205020404" pitchFamily="49" charset="0"/>
              </a:rPr>
              <a:t> &lt;&lt; classification;</a:t>
            </a:r>
          </a:p>
          <a:p>
            <a:endParaRPr lang="en-US" sz="1600" dirty="0">
              <a:solidFill>
                <a:srgbClr val="FF0000"/>
              </a:solidFill>
            </a:endParaRPr>
          </a:p>
        </p:txBody>
      </p:sp>
      <p:sp>
        <p:nvSpPr>
          <p:cNvPr id="5" name="TextBox 4">
            <a:extLst>
              <a:ext uri="{FF2B5EF4-FFF2-40B4-BE49-F238E27FC236}">
                <a16:creationId xmlns:a16="http://schemas.microsoft.com/office/drawing/2014/main" id="{73593E2C-B22F-F884-71F9-13EB95B8564F}"/>
              </a:ext>
            </a:extLst>
          </p:cNvPr>
          <p:cNvSpPr txBox="1"/>
          <p:nvPr/>
        </p:nvSpPr>
        <p:spPr>
          <a:xfrm>
            <a:off x="4072200" y="14397"/>
            <a:ext cx="8331127" cy="4031873"/>
          </a:xfrm>
          <a:prstGeom prst="rect">
            <a:avLst/>
          </a:prstGeom>
          <a:noFill/>
        </p:spPr>
        <p:txBody>
          <a:bodyPr wrap="none" rtlCol="0">
            <a:spAutoFit/>
          </a:bodyPr>
          <a:lstStyle/>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"Enter your age: ";</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cin</a:t>
            </a:r>
            <a:r>
              <a:rPr lang="en-US" sz="1600" dirty="0">
                <a:solidFill>
                  <a:srgbClr val="FF0000"/>
                </a:solidFill>
                <a:latin typeface="Courier New" panose="02070309020205020404" pitchFamily="49" charset="0"/>
                <a:cs typeface="Courier New" panose="02070309020205020404" pitchFamily="49" charset="0"/>
              </a:rPr>
              <a:t> &lt;&lt; age;</a:t>
            </a:r>
          </a:p>
          <a:p>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"Enter your favorite programming language: ";</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cin</a:t>
            </a:r>
            <a:r>
              <a:rPr lang="en-US" sz="1600" dirty="0">
                <a:solidFill>
                  <a:srgbClr val="FF0000"/>
                </a:solidFill>
                <a:latin typeface="Courier New" panose="02070309020205020404" pitchFamily="49" charset="0"/>
                <a:cs typeface="Courier New" panose="02070309020205020404" pitchFamily="49" charset="0"/>
              </a:rPr>
              <a:t> &gt;&gt; </a:t>
            </a:r>
            <a:r>
              <a:rPr lang="en-US" sz="1600" dirty="0" err="1">
                <a:solidFill>
                  <a:srgbClr val="FF0000"/>
                </a:solidFill>
                <a:latin typeface="Courier New" panose="02070309020205020404" pitchFamily="49" charset="0"/>
                <a:cs typeface="Courier New" panose="02070309020205020404" pitchFamily="49" charset="0"/>
              </a:rPr>
              <a:t>favoriteLanguage</a:t>
            </a:r>
            <a:r>
              <a:rPr lang="en-US" sz="1600" dirty="0">
                <a:solidFill>
                  <a:srgbClr val="FF0000"/>
                </a:solidFill>
                <a:latin typeface="Courier New" panose="02070309020205020404" pitchFamily="49" charset="0"/>
                <a:cs typeface="Courier New" panose="02070309020205020404" pitchFamily="49" charset="0"/>
              </a:rPr>
              <a:t>;</a:t>
            </a:r>
          </a:p>
          <a:p>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a:t>
            </a:r>
            <a:r>
              <a:rPr lang="en-US" sz="1600" dirty="0" err="1">
                <a:solidFill>
                  <a:srgbClr val="FF0000"/>
                </a:solidFill>
                <a:latin typeface="Courier New" panose="02070309020205020404" pitchFamily="49" charset="0"/>
                <a:cs typeface="Courier New" panose="02070309020205020404" pitchFamily="49" charset="0"/>
              </a:rPr>
              <a:t>endl</a:t>
            </a:r>
            <a:r>
              <a:rPr lang="en-US" sz="1600" dirty="0">
                <a:solidFill>
                  <a:srgbClr val="FF0000"/>
                </a:solidFill>
                <a:latin typeface="Courier New" panose="02070309020205020404" pitchFamily="49" charset="0"/>
                <a:cs typeface="Courier New" panose="02070309020205020404" pitchFamily="49" charset="0"/>
              </a:rPr>
              <a:t>;</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 Student Profile -----" &lt;&lt; </a:t>
            </a:r>
            <a:r>
              <a:rPr lang="en-US" sz="1600" dirty="0" err="1">
                <a:solidFill>
                  <a:srgbClr val="FF0000"/>
                </a:solidFill>
                <a:latin typeface="Courier New" panose="02070309020205020404" pitchFamily="49" charset="0"/>
                <a:cs typeface="Courier New" panose="02070309020205020404" pitchFamily="49" charset="0"/>
              </a:rPr>
              <a:t>endl</a:t>
            </a:r>
            <a:r>
              <a:rPr lang="en-US" sz="1600" dirty="0">
                <a:solidFill>
                  <a:srgbClr val="FF0000"/>
                </a:solidFill>
                <a:latin typeface="Courier New" panose="02070309020205020404" pitchFamily="49" charset="0"/>
                <a:cs typeface="Courier New" panose="02070309020205020404" pitchFamily="49" charset="0"/>
              </a:rPr>
              <a:t>;</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"Name: " &gt;&gt; name &lt;&lt; </a:t>
            </a:r>
            <a:r>
              <a:rPr lang="en-US" sz="1600" dirty="0" err="1">
                <a:solidFill>
                  <a:srgbClr val="FF0000"/>
                </a:solidFill>
                <a:latin typeface="Courier New" panose="02070309020205020404" pitchFamily="49" charset="0"/>
                <a:cs typeface="Courier New" panose="02070309020205020404" pitchFamily="49" charset="0"/>
              </a:rPr>
              <a:t>endl</a:t>
            </a:r>
            <a:r>
              <a:rPr lang="en-US" sz="1600" dirty="0">
                <a:solidFill>
                  <a:srgbClr val="FF0000"/>
                </a:solidFill>
                <a:latin typeface="Courier New" panose="02070309020205020404" pitchFamily="49" charset="0"/>
                <a:cs typeface="Courier New" panose="02070309020205020404" pitchFamily="49" charset="0"/>
              </a:rPr>
              <a:t>;</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"Major: " &lt;&lt; major &lt;&lt; </a:t>
            </a:r>
            <a:r>
              <a:rPr lang="en-US" sz="1600" dirty="0" err="1">
                <a:solidFill>
                  <a:srgbClr val="FF0000"/>
                </a:solidFill>
                <a:latin typeface="Courier New" panose="02070309020205020404" pitchFamily="49" charset="0"/>
                <a:cs typeface="Courier New" panose="02070309020205020404" pitchFamily="49" charset="0"/>
              </a:rPr>
              <a:t>endl</a:t>
            </a:r>
            <a:r>
              <a:rPr lang="en-US" sz="1600" dirty="0">
                <a:solidFill>
                  <a:srgbClr val="FF0000"/>
                </a:solidFill>
                <a:latin typeface="Courier New" panose="02070309020205020404" pitchFamily="49" charset="0"/>
                <a:cs typeface="Courier New" panose="02070309020205020404" pitchFamily="49" charset="0"/>
              </a:rPr>
              <a:t>;</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"Classification: " &lt;&lt; classification &lt;&lt; </a:t>
            </a:r>
            <a:r>
              <a:rPr lang="en-US" sz="1600" dirty="0" err="1">
                <a:solidFill>
                  <a:srgbClr val="FF0000"/>
                </a:solidFill>
                <a:latin typeface="Courier New" panose="02070309020205020404" pitchFamily="49" charset="0"/>
                <a:cs typeface="Courier New" panose="02070309020205020404" pitchFamily="49" charset="0"/>
              </a:rPr>
              <a:t>endl</a:t>
            </a:r>
            <a:r>
              <a:rPr lang="en-US" sz="1600" dirty="0">
                <a:solidFill>
                  <a:srgbClr val="FF0000"/>
                </a:solidFill>
                <a:latin typeface="Courier New" panose="02070309020205020404" pitchFamily="49" charset="0"/>
                <a:cs typeface="Courier New" panose="02070309020205020404" pitchFamily="49" charset="0"/>
              </a:rPr>
              <a:t>;</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"Age: " &lt;&lt; age &lt;&lt; </a:t>
            </a:r>
            <a:r>
              <a:rPr lang="en-US" sz="1600" dirty="0" err="1">
                <a:solidFill>
                  <a:srgbClr val="FF0000"/>
                </a:solidFill>
                <a:latin typeface="Courier New" panose="02070309020205020404" pitchFamily="49" charset="0"/>
                <a:cs typeface="Courier New" panose="02070309020205020404" pitchFamily="49" charset="0"/>
              </a:rPr>
              <a:t>endl</a:t>
            </a:r>
            <a:r>
              <a:rPr lang="en-US" sz="1600" dirty="0">
                <a:solidFill>
                  <a:srgbClr val="FF0000"/>
                </a:solidFill>
                <a:latin typeface="Courier New" panose="02070309020205020404" pitchFamily="49" charset="0"/>
                <a:cs typeface="Courier New" panose="02070309020205020404" pitchFamily="49" charset="0"/>
              </a:rPr>
              <a:t>;</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"Favorite Programming Language: " &lt;&lt; </a:t>
            </a:r>
            <a:r>
              <a:rPr lang="en-US" sz="1600" dirty="0" err="1">
                <a:solidFill>
                  <a:srgbClr val="FF0000"/>
                </a:solidFill>
                <a:latin typeface="Courier New" panose="02070309020205020404" pitchFamily="49" charset="0"/>
                <a:cs typeface="Courier New" panose="02070309020205020404" pitchFamily="49" charset="0"/>
              </a:rPr>
              <a:t>favoriteLanguage</a:t>
            </a:r>
            <a:r>
              <a:rPr lang="en-US" sz="1600" dirty="0">
                <a:solidFill>
                  <a:srgbClr val="FF0000"/>
                </a:solidFill>
                <a:latin typeface="Courier New" panose="02070309020205020404" pitchFamily="49" charset="0"/>
                <a:cs typeface="Courier New" panose="02070309020205020404" pitchFamily="49" charset="0"/>
              </a:rPr>
              <a:t> </a:t>
            </a:r>
          </a:p>
          <a:p>
            <a:r>
              <a:rPr lang="en-US" sz="1600" dirty="0">
                <a:solidFill>
                  <a:srgbClr val="FF0000"/>
                </a:solidFill>
                <a:latin typeface="Courier New" panose="02070309020205020404" pitchFamily="49" charset="0"/>
                <a:cs typeface="Courier New" panose="02070309020205020404" pitchFamily="49" charset="0"/>
              </a:rPr>
              <a:t>    &lt;&lt; </a:t>
            </a:r>
            <a:r>
              <a:rPr lang="en-US" sz="1600" dirty="0" err="1">
                <a:solidFill>
                  <a:srgbClr val="FF0000"/>
                </a:solidFill>
                <a:latin typeface="Courier New" panose="02070309020205020404" pitchFamily="49" charset="0"/>
                <a:cs typeface="Courier New" panose="02070309020205020404" pitchFamily="49" charset="0"/>
              </a:rPr>
              <a:t>endl</a:t>
            </a:r>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    return 0</a:t>
            </a:r>
          </a:p>
          <a:p>
            <a:r>
              <a:rPr lang="en-US" sz="1600" dirty="0">
                <a:solidFill>
                  <a:srgbClr val="FF0000"/>
                </a:solidFill>
                <a:latin typeface="Courier New" panose="02070309020205020404" pitchFamily="49" charset="0"/>
                <a:cs typeface="Courier New" panose="02070309020205020404" pitchFamily="49" charset="0"/>
              </a:rPr>
              <a:t>}</a:t>
            </a:r>
            <a:endParaRPr lang="en-CN" sz="1600" dirty="0">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44888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E6675-ACE7-9291-9B2E-04D883A2B888}"/>
              </a:ext>
            </a:extLst>
          </p:cNvPr>
          <p:cNvSpPr>
            <a:spLocks noGrp="1"/>
          </p:cNvSpPr>
          <p:nvPr>
            <p:ph type="title"/>
          </p:nvPr>
        </p:nvSpPr>
        <p:spPr>
          <a:xfrm>
            <a:off x="136743" y="199720"/>
            <a:ext cx="10515600" cy="962634"/>
          </a:xfrm>
        </p:spPr>
        <p:txBody>
          <a:bodyPr/>
          <a:lstStyle/>
          <a:p>
            <a:r>
              <a:rPr lang="en-CN" dirty="0"/>
              <a:t>Syntax errors</a:t>
            </a:r>
          </a:p>
        </p:txBody>
      </p:sp>
      <p:sp>
        <p:nvSpPr>
          <p:cNvPr id="3" name="Content Placeholder 2">
            <a:extLst>
              <a:ext uri="{FF2B5EF4-FFF2-40B4-BE49-F238E27FC236}">
                <a16:creationId xmlns:a16="http://schemas.microsoft.com/office/drawing/2014/main" id="{95D1F915-B2A5-3C94-DDC9-1815C2E331B3}"/>
              </a:ext>
            </a:extLst>
          </p:cNvPr>
          <p:cNvSpPr>
            <a:spLocks noGrp="1"/>
          </p:cNvSpPr>
          <p:nvPr>
            <p:ph idx="1"/>
          </p:nvPr>
        </p:nvSpPr>
        <p:spPr>
          <a:xfrm>
            <a:off x="375781" y="1490598"/>
            <a:ext cx="11536471" cy="4686366"/>
          </a:xfrm>
        </p:spPr>
        <p:txBody>
          <a:bodyPr>
            <a:normAutofit/>
          </a:bodyPr>
          <a:lstStyle/>
          <a:p>
            <a:r>
              <a:rPr lang="en-US" sz="2400" dirty="0">
                <a:latin typeface="Courier New" panose="02070309020205020404" pitchFamily="49" charset="0"/>
                <a:cs typeface="Courier New" panose="02070309020205020404" pitchFamily="49" charset="0"/>
              </a:rPr>
              <a:t>char </a:t>
            </a:r>
            <a:r>
              <a:rPr lang="en-US" sz="2400" dirty="0" err="1">
                <a:latin typeface="Courier New" panose="02070309020205020404" pitchFamily="49" charset="0"/>
                <a:cs typeface="Courier New" panose="02070309020205020404" pitchFamily="49" charset="0"/>
              </a:rPr>
              <a:t>favoriteLanguage</a:t>
            </a:r>
            <a:r>
              <a:rPr lang="en-US" sz="2400" dirty="0">
                <a:latin typeface="Courier New" panose="02070309020205020404" pitchFamily="49" charset="0"/>
                <a:cs typeface="Courier New" panose="02070309020205020404" pitchFamily="49" charset="0"/>
              </a:rPr>
              <a:t>;  </a:t>
            </a:r>
            <a:r>
              <a:rPr lang="en-US" sz="2400" dirty="0"/>
              <a:t>should be </a:t>
            </a:r>
            <a:r>
              <a:rPr lang="en-US" sz="2400" dirty="0">
                <a:solidFill>
                  <a:srgbClr val="FF0000"/>
                </a:solidFill>
                <a:latin typeface="Courier New" panose="02070309020205020404" pitchFamily="49" charset="0"/>
                <a:cs typeface="Courier New" panose="02070309020205020404" pitchFamily="49" charset="0"/>
              </a:rPr>
              <a:t>string </a:t>
            </a:r>
            <a:r>
              <a:rPr lang="en-US" sz="2400" dirty="0" err="1">
                <a:solidFill>
                  <a:srgbClr val="FF0000"/>
                </a:solidFill>
                <a:latin typeface="Courier New" panose="02070309020205020404" pitchFamily="49" charset="0"/>
                <a:cs typeface="Courier New" panose="02070309020205020404" pitchFamily="49" charset="0"/>
              </a:rPr>
              <a:t>favoriteLanguage</a:t>
            </a:r>
            <a:r>
              <a:rPr lang="en-US" sz="2400" dirty="0">
                <a:solidFill>
                  <a:srgbClr val="FF0000"/>
                </a:solidFill>
                <a:latin typeface="Courier New" panose="02070309020205020404" pitchFamily="49" charset="0"/>
                <a:cs typeface="Courier New" panose="02070309020205020404" pitchFamily="49" charset="0"/>
              </a:rPr>
              <a:t>;</a:t>
            </a:r>
          </a:p>
          <a:p>
            <a:pPr lvl="1"/>
            <a:r>
              <a:rPr lang="en-US" sz="2000" dirty="0"/>
              <a:t>B</a:t>
            </a:r>
            <a:r>
              <a:rPr lang="en-CN" sz="2000" dirty="0"/>
              <a:t>ecause a </a:t>
            </a:r>
            <a:r>
              <a:rPr lang="en-CN" dirty="0"/>
              <a:t>char</a:t>
            </a:r>
            <a:r>
              <a:rPr lang="en-CN" sz="2000" dirty="0"/>
              <a:t> stores a single character.</a:t>
            </a:r>
          </a:p>
          <a:p>
            <a:r>
              <a:rPr lang="en-US" sz="2400" dirty="0" err="1">
                <a:latin typeface="Courier New" panose="02070309020205020404" pitchFamily="49" charset="0"/>
                <a:cs typeface="Courier New" panose="02070309020205020404" pitchFamily="49" charset="0"/>
              </a:rPr>
              <a:t>cin</a:t>
            </a:r>
            <a:r>
              <a:rPr lang="en-US" sz="2400" dirty="0">
                <a:latin typeface="Courier New" panose="02070309020205020404" pitchFamily="49" charset="0"/>
                <a:cs typeface="Courier New" panose="02070309020205020404" pitchFamily="49" charset="0"/>
              </a:rPr>
              <a:t> &gt;&gt; </a:t>
            </a:r>
            <a:r>
              <a:rPr lang="en-US" sz="2400" dirty="0" err="1">
                <a:latin typeface="Courier New" panose="02070309020205020404" pitchFamily="49" charset="0"/>
                <a:cs typeface="Courier New" panose="02070309020205020404" pitchFamily="49" charset="0"/>
              </a:rPr>
              <a:t>favoriteLanguage</a:t>
            </a:r>
            <a:r>
              <a:rPr lang="en-US" sz="2400" dirty="0">
                <a:latin typeface="Courier New" panose="02070309020205020404" pitchFamily="49" charset="0"/>
                <a:cs typeface="Courier New" panose="02070309020205020404" pitchFamily="49" charset="0"/>
              </a:rPr>
              <a:t>; </a:t>
            </a:r>
            <a:r>
              <a:rPr lang="en-US" sz="2400" dirty="0">
                <a:cs typeface="Courier New" panose="02070309020205020404" pitchFamily="49" charset="0"/>
              </a:rPr>
              <a:t>should be </a:t>
            </a:r>
            <a:r>
              <a:rPr lang="en-US" sz="2400" dirty="0" err="1">
                <a:latin typeface="Courier New" panose="02070309020205020404" pitchFamily="49" charset="0"/>
                <a:cs typeface="Courier New" panose="02070309020205020404" pitchFamily="49" charset="0"/>
              </a:rPr>
              <a:t>getline</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cin</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favoriteLanguage</a:t>
            </a:r>
            <a:r>
              <a:rPr lang="en-US" sz="2400" dirty="0">
                <a:latin typeface="Courier New" panose="02070309020205020404" pitchFamily="49" charset="0"/>
                <a:cs typeface="Courier New" panose="02070309020205020404" pitchFamily="49" charset="0"/>
              </a:rPr>
              <a:t>);</a:t>
            </a:r>
          </a:p>
          <a:p>
            <a:r>
              <a:rPr lang="en-CN" dirty="0">
                <a:latin typeface="Courier New" panose="02070309020205020404" pitchFamily="49" charset="0"/>
                <a:cs typeface="Courier New" panose="02070309020205020404" pitchFamily="49" charset="0"/>
              </a:rPr>
              <a:t>cout &lt;&lt; "Name: " &gt;&gt; name &lt;&lt; endl; </a:t>
            </a:r>
            <a:r>
              <a:rPr lang="en-CN" dirty="0">
                <a:latin typeface="Arial" panose="020B0604020202020204" pitchFamily="34" charset="0"/>
                <a:cs typeface="Arial" panose="020B0604020202020204" pitchFamily="34" charset="0"/>
              </a:rPr>
              <a:t>should be </a:t>
            </a:r>
            <a:r>
              <a:rPr lang="en-CN" dirty="0">
                <a:latin typeface="Courier New" panose="02070309020205020404" pitchFamily="49" charset="0"/>
                <a:cs typeface="Courier New" panose="02070309020205020404" pitchFamily="49" charset="0"/>
              </a:rPr>
              <a:t>cout &lt;&lt; "Name: " &lt;&lt; name &lt;&lt; endl; </a:t>
            </a:r>
          </a:p>
          <a:p>
            <a:r>
              <a:rPr lang="en-CN" dirty="0">
                <a:latin typeface="Courier New" panose="02070309020205020404" pitchFamily="49" charset="0"/>
                <a:cs typeface="Courier New" panose="02070309020205020404" pitchFamily="49" charset="0"/>
              </a:rPr>
              <a:t>int age </a:t>
            </a:r>
            <a:r>
              <a:rPr lang="en-CN" dirty="0"/>
              <a:t>should be </a:t>
            </a:r>
            <a:r>
              <a:rPr lang="en-CN" dirty="0">
                <a:latin typeface="Courier New" panose="02070309020205020404" pitchFamily="49" charset="0"/>
                <a:cs typeface="Courier New" panose="02070309020205020404" pitchFamily="49" charset="0"/>
              </a:rPr>
              <a:t>int age;</a:t>
            </a:r>
          </a:p>
          <a:p>
            <a:r>
              <a:rPr lang="en-CN" dirty="0">
                <a:latin typeface="Courier New" panose="02070309020205020404" pitchFamily="49" charset="0"/>
                <a:cs typeface="Courier New" panose="02070309020205020404" pitchFamily="49" charset="0"/>
              </a:rPr>
              <a:t>cin &lt;&lt; age; </a:t>
            </a:r>
            <a:r>
              <a:rPr lang="en-CN" dirty="0"/>
              <a:t>and </a:t>
            </a:r>
            <a:r>
              <a:rPr lang="en-CN" dirty="0">
                <a:latin typeface="Courier New" panose="02070309020205020404" pitchFamily="49" charset="0"/>
                <a:cs typeface="Courier New" panose="02070309020205020404" pitchFamily="49" charset="0"/>
              </a:rPr>
              <a:t>cin &lt;&lt; classification; </a:t>
            </a:r>
            <a:r>
              <a:rPr lang="en-CN" dirty="0"/>
              <a:t>should be </a:t>
            </a:r>
            <a:r>
              <a:rPr lang="en-CN" dirty="0">
                <a:latin typeface="Courier New" panose="02070309020205020404" pitchFamily="49" charset="0"/>
                <a:cs typeface="Courier New" panose="02070309020205020404" pitchFamily="49" charset="0"/>
              </a:rPr>
              <a:t>cin &lt;&lt; age; </a:t>
            </a:r>
            <a:r>
              <a:rPr lang="en-CN" dirty="0"/>
              <a:t>and </a:t>
            </a:r>
            <a:r>
              <a:rPr lang="en-CN" dirty="0">
                <a:latin typeface="Courier New" panose="02070309020205020404" pitchFamily="49" charset="0"/>
                <a:cs typeface="Courier New" panose="02070309020205020404" pitchFamily="49" charset="0"/>
              </a:rPr>
              <a:t>cin &gt;&gt; classification;</a:t>
            </a:r>
          </a:p>
          <a:p>
            <a:r>
              <a:rPr lang="en-CN" dirty="0">
                <a:latin typeface="Courier New" panose="02070309020205020404" pitchFamily="49" charset="0"/>
                <a:cs typeface="Courier New" panose="02070309020205020404" pitchFamily="49" charset="0"/>
              </a:rPr>
              <a:t>return 0 </a:t>
            </a:r>
            <a:r>
              <a:rPr lang="en-CN" dirty="0"/>
              <a:t>should be </a:t>
            </a:r>
            <a:r>
              <a:rPr lang="en-CN" dirty="0">
                <a:latin typeface="Courier New" panose="02070309020205020404" pitchFamily="49" charset="0"/>
                <a:cs typeface="Courier New" panose="02070309020205020404" pitchFamily="49" charset="0"/>
              </a:rPr>
              <a:t>return 0;</a:t>
            </a:r>
          </a:p>
          <a:p>
            <a:endParaRPr lang="en-CN" dirty="0"/>
          </a:p>
          <a:p>
            <a:endParaRPr lang="en-CN" dirty="0">
              <a:latin typeface="Courier New" panose="02070309020205020404" pitchFamily="49" charset="0"/>
              <a:cs typeface="Courier New" panose="02070309020205020404" pitchFamily="49" charset="0"/>
            </a:endParaRPr>
          </a:p>
          <a:p>
            <a:endParaRPr lang="en-CN"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67870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10499-98B0-C63E-FB34-2C251CA00968}"/>
              </a:ext>
            </a:extLst>
          </p:cNvPr>
          <p:cNvSpPr>
            <a:spLocks noGrp="1"/>
          </p:cNvSpPr>
          <p:nvPr>
            <p:ph type="title"/>
          </p:nvPr>
        </p:nvSpPr>
        <p:spPr>
          <a:xfrm>
            <a:off x="136743" y="152182"/>
            <a:ext cx="10515600" cy="712113"/>
          </a:xfrm>
        </p:spPr>
        <p:txBody>
          <a:bodyPr/>
          <a:lstStyle/>
          <a:p>
            <a:r>
              <a:rPr lang="en-CN" dirty="0"/>
              <a:t>Correct version</a:t>
            </a:r>
          </a:p>
        </p:txBody>
      </p:sp>
      <p:sp>
        <p:nvSpPr>
          <p:cNvPr id="4" name="TextBox 3">
            <a:extLst>
              <a:ext uri="{FF2B5EF4-FFF2-40B4-BE49-F238E27FC236}">
                <a16:creationId xmlns:a16="http://schemas.microsoft.com/office/drawing/2014/main" id="{01E7CC1D-537A-8F34-A61A-CCD80F817809}"/>
              </a:ext>
            </a:extLst>
          </p:cNvPr>
          <p:cNvSpPr txBox="1"/>
          <p:nvPr/>
        </p:nvSpPr>
        <p:spPr>
          <a:xfrm>
            <a:off x="136743" y="864295"/>
            <a:ext cx="5368777" cy="5509200"/>
          </a:xfrm>
          <a:prstGeom prst="rect">
            <a:avLst/>
          </a:prstGeom>
          <a:noFill/>
        </p:spPr>
        <p:txBody>
          <a:bodyPr wrap="none" rtlCol="0">
            <a:spAutoFit/>
          </a:bodyPr>
          <a:lstStyle/>
          <a:p>
            <a:r>
              <a:rPr lang="en-US" sz="1600" dirty="0">
                <a:solidFill>
                  <a:srgbClr val="FF0000"/>
                </a:solidFill>
                <a:latin typeface="Courier New" panose="02070309020205020404" pitchFamily="49" charset="0"/>
                <a:cs typeface="Courier New" panose="02070309020205020404" pitchFamily="49" charset="0"/>
              </a:rPr>
              <a:t>#include &lt;iostream&gt;</a:t>
            </a:r>
          </a:p>
          <a:p>
            <a:r>
              <a:rPr lang="en-US" sz="1600" dirty="0">
                <a:solidFill>
                  <a:srgbClr val="FF0000"/>
                </a:solidFill>
                <a:latin typeface="Courier New" panose="02070309020205020404" pitchFamily="49" charset="0"/>
                <a:cs typeface="Courier New" panose="02070309020205020404" pitchFamily="49" charset="0"/>
              </a:rPr>
              <a:t>#include &lt;string&gt;</a:t>
            </a:r>
          </a:p>
          <a:p>
            <a:r>
              <a:rPr lang="en-US" sz="1600" dirty="0">
                <a:solidFill>
                  <a:srgbClr val="FF0000"/>
                </a:solidFill>
                <a:latin typeface="Courier New" panose="02070309020205020404" pitchFamily="49" charset="0"/>
                <a:cs typeface="Courier New" panose="02070309020205020404" pitchFamily="49" charset="0"/>
              </a:rPr>
              <a:t>using namespace std;</a:t>
            </a:r>
          </a:p>
          <a:p>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int main()</a:t>
            </a:r>
          </a:p>
          <a:p>
            <a:r>
              <a:rPr lang="en-US" sz="1600" dirty="0">
                <a:solidFill>
                  <a:srgbClr val="FF0000"/>
                </a:solidFill>
                <a:latin typeface="Courier New" panose="02070309020205020404" pitchFamily="49" charset="0"/>
                <a:cs typeface="Courier New" panose="02070309020205020404" pitchFamily="49" charset="0"/>
              </a:rPr>
              <a:t>{</a:t>
            </a:r>
          </a:p>
          <a:p>
            <a:r>
              <a:rPr lang="en-US" sz="1600" dirty="0">
                <a:solidFill>
                  <a:srgbClr val="FF0000"/>
                </a:solidFill>
                <a:latin typeface="Courier New" panose="02070309020205020404" pitchFamily="49" charset="0"/>
                <a:cs typeface="Courier New" panose="02070309020205020404" pitchFamily="49" charset="0"/>
              </a:rPr>
              <a:t>    string name;</a:t>
            </a:r>
          </a:p>
          <a:p>
            <a:r>
              <a:rPr lang="en-US" sz="1600" dirty="0">
                <a:solidFill>
                  <a:srgbClr val="FF0000"/>
                </a:solidFill>
                <a:latin typeface="Courier New" panose="02070309020205020404" pitchFamily="49" charset="0"/>
                <a:cs typeface="Courier New" panose="02070309020205020404" pitchFamily="49" charset="0"/>
              </a:rPr>
              <a:t>    string major;</a:t>
            </a:r>
          </a:p>
          <a:p>
            <a:r>
              <a:rPr lang="en-US" sz="1600" dirty="0">
                <a:solidFill>
                  <a:srgbClr val="FF0000"/>
                </a:solidFill>
                <a:latin typeface="Courier New" panose="02070309020205020404" pitchFamily="49" charset="0"/>
                <a:cs typeface="Courier New" panose="02070309020205020404" pitchFamily="49" charset="0"/>
              </a:rPr>
              <a:t>    string classification;</a:t>
            </a:r>
          </a:p>
          <a:p>
            <a:r>
              <a:rPr lang="en-US" sz="1600" dirty="0">
                <a:solidFill>
                  <a:srgbClr val="FF0000"/>
                </a:solidFill>
                <a:latin typeface="Courier New" panose="02070309020205020404" pitchFamily="49" charset="0"/>
                <a:cs typeface="Courier New" panose="02070309020205020404" pitchFamily="49" charset="0"/>
              </a:rPr>
              <a:t>    int age;</a:t>
            </a:r>
          </a:p>
          <a:p>
            <a:r>
              <a:rPr lang="en-US" sz="1600" dirty="0">
                <a:solidFill>
                  <a:srgbClr val="FF0000"/>
                </a:solidFill>
                <a:latin typeface="Courier New" panose="02070309020205020404" pitchFamily="49" charset="0"/>
                <a:cs typeface="Courier New" panose="02070309020205020404" pitchFamily="49" charset="0"/>
              </a:rPr>
              <a:t>    string </a:t>
            </a:r>
            <a:r>
              <a:rPr lang="en-US" sz="1600" dirty="0" err="1">
                <a:solidFill>
                  <a:srgbClr val="FF0000"/>
                </a:solidFill>
                <a:latin typeface="Courier New" panose="02070309020205020404" pitchFamily="49" charset="0"/>
                <a:cs typeface="Courier New" panose="02070309020205020404" pitchFamily="49" charset="0"/>
              </a:rPr>
              <a:t>favoriteLanguage</a:t>
            </a:r>
            <a:r>
              <a:rPr lang="en-US" sz="1600" dirty="0">
                <a:solidFill>
                  <a:srgbClr val="FF0000"/>
                </a:solidFill>
                <a:latin typeface="Courier New" panose="02070309020205020404" pitchFamily="49" charset="0"/>
                <a:cs typeface="Courier New" panose="02070309020205020404" pitchFamily="49" charset="0"/>
              </a:rPr>
              <a:t>;</a:t>
            </a:r>
          </a:p>
          <a:p>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"Enter your full name: ";</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getline</a:t>
            </a:r>
            <a:r>
              <a:rPr lang="en-US" sz="1600" dirty="0">
                <a:solidFill>
                  <a:srgbClr val="FF0000"/>
                </a:solidFill>
                <a:latin typeface="Courier New" panose="02070309020205020404" pitchFamily="49" charset="0"/>
                <a:cs typeface="Courier New" panose="02070309020205020404" pitchFamily="49" charset="0"/>
              </a:rPr>
              <a:t>(</a:t>
            </a:r>
            <a:r>
              <a:rPr lang="en-US" sz="1600" dirty="0" err="1">
                <a:solidFill>
                  <a:srgbClr val="FF0000"/>
                </a:solidFill>
                <a:latin typeface="Courier New" panose="02070309020205020404" pitchFamily="49" charset="0"/>
                <a:cs typeface="Courier New" panose="02070309020205020404" pitchFamily="49" charset="0"/>
              </a:rPr>
              <a:t>cin</a:t>
            </a:r>
            <a:r>
              <a:rPr lang="en-US" sz="1600" dirty="0">
                <a:solidFill>
                  <a:srgbClr val="FF0000"/>
                </a:solidFill>
                <a:latin typeface="Courier New" panose="02070309020205020404" pitchFamily="49" charset="0"/>
                <a:cs typeface="Courier New" panose="02070309020205020404" pitchFamily="49" charset="0"/>
              </a:rPr>
              <a:t>, name);</a:t>
            </a:r>
          </a:p>
          <a:p>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"Enter your major: ";</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getline</a:t>
            </a:r>
            <a:r>
              <a:rPr lang="en-US" sz="1600" dirty="0">
                <a:solidFill>
                  <a:srgbClr val="FF0000"/>
                </a:solidFill>
                <a:latin typeface="Courier New" panose="02070309020205020404" pitchFamily="49" charset="0"/>
                <a:cs typeface="Courier New" panose="02070309020205020404" pitchFamily="49" charset="0"/>
              </a:rPr>
              <a:t>(</a:t>
            </a:r>
            <a:r>
              <a:rPr lang="en-US" sz="1600" dirty="0" err="1">
                <a:solidFill>
                  <a:srgbClr val="FF0000"/>
                </a:solidFill>
                <a:latin typeface="Courier New" panose="02070309020205020404" pitchFamily="49" charset="0"/>
                <a:cs typeface="Courier New" panose="02070309020205020404" pitchFamily="49" charset="0"/>
              </a:rPr>
              <a:t>cin</a:t>
            </a:r>
            <a:r>
              <a:rPr lang="en-US" sz="1600" dirty="0">
                <a:solidFill>
                  <a:srgbClr val="FF0000"/>
                </a:solidFill>
                <a:latin typeface="Courier New" panose="02070309020205020404" pitchFamily="49" charset="0"/>
                <a:cs typeface="Courier New" panose="02070309020205020404" pitchFamily="49" charset="0"/>
              </a:rPr>
              <a:t>, major);</a:t>
            </a:r>
          </a:p>
          <a:p>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"Enter your classification: ";</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getline</a:t>
            </a:r>
            <a:r>
              <a:rPr lang="en-US" sz="1600" dirty="0">
                <a:solidFill>
                  <a:srgbClr val="FF0000"/>
                </a:solidFill>
                <a:latin typeface="Courier New" panose="02070309020205020404" pitchFamily="49" charset="0"/>
                <a:cs typeface="Courier New" panose="02070309020205020404" pitchFamily="49" charset="0"/>
              </a:rPr>
              <a:t>(</a:t>
            </a:r>
            <a:r>
              <a:rPr lang="en-US" sz="1600" dirty="0" err="1">
                <a:solidFill>
                  <a:srgbClr val="FF0000"/>
                </a:solidFill>
                <a:latin typeface="Courier New" panose="02070309020205020404" pitchFamily="49" charset="0"/>
                <a:cs typeface="Courier New" panose="02070309020205020404" pitchFamily="49" charset="0"/>
              </a:rPr>
              <a:t>cin</a:t>
            </a:r>
            <a:r>
              <a:rPr lang="en-US" sz="1600" dirty="0">
                <a:solidFill>
                  <a:srgbClr val="FF0000"/>
                </a:solidFill>
                <a:latin typeface="Courier New" panose="02070309020205020404" pitchFamily="49" charset="0"/>
                <a:cs typeface="Courier New" panose="02070309020205020404" pitchFamily="49" charset="0"/>
              </a:rPr>
              <a:t>, classification);</a:t>
            </a:r>
          </a:p>
          <a:p>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    </a:t>
            </a:r>
            <a:endParaRPr lang="en-CN" sz="1600" dirty="0">
              <a:solidFill>
                <a:srgbClr val="FF0000"/>
              </a:solidFill>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F6C648A1-6F09-3529-A51D-5C36F6054459}"/>
              </a:ext>
            </a:extLst>
          </p:cNvPr>
          <p:cNvSpPr txBox="1"/>
          <p:nvPr/>
        </p:nvSpPr>
        <p:spPr>
          <a:xfrm>
            <a:off x="4860099" y="152182"/>
            <a:ext cx="7220246" cy="5016758"/>
          </a:xfrm>
          <a:prstGeom prst="rect">
            <a:avLst/>
          </a:prstGeom>
          <a:noFill/>
        </p:spPr>
        <p:txBody>
          <a:bodyPr wrap="none" rtlCol="0">
            <a:spAutoFit/>
          </a:bodyPr>
          <a:lstStyle/>
          <a:p>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"Enter your age: ";</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cin</a:t>
            </a:r>
            <a:r>
              <a:rPr lang="en-US" sz="1600" dirty="0">
                <a:solidFill>
                  <a:srgbClr val="FF0000"/>
                </a:solidFill>
                <a:latin typeface="Courier New" panose="02070309020205020404" pitchFamily="49" charset="0"/>
                <a:cs typeface="Courier New" panose="02070309020205020404" pitchFamily="49" charset="0"/>
              </a:rPr>
              <a:t> &gt;&gt; age;</a:t>
            </a:r>
          </a:p>
          <a:p>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cin.ignore</a:t>
            </a:r>
            <a:r>
              <a:rPr lang="en-US" sz="1600" dirty="0">
                <a:solidFill>
                  <a:srgbClr val="FF0000"/>
                </a:solidFill>
                <a:latin typeface="Courier New" panose="02070309020205020404" pitchFamily="49" charset="0"/>
                <a:cs typeface="Courier New" panose="02070309020205020404" pitchFamily="49" charset="0"/>
              </a:rPr>
              <a:t>();</a:t>
            </a:r>
          </a:p>
          <a:p>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"Enter your favorite programming language: ";</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getline</a:t>
            </a:r>
            <a:r>
              <a:rPr lang="en-US" sz="1600" dirty="0">
                <a:solidFill>
                  <a:srgbClr val="FF0000"/>
                </a:solidFill>
                <a:latin typeface="Courier New" panose="02070309020205020404" pitchFamily="49" charset="0"/>
                <a:cs typeface="Courier New" panose="02070309020205020404" pitchFamily="49" charset="0"/>
              </a:rPr>
              <a:t>(</a:t>
            </a:r>
            <a:r>
              <a:rPr lang="en-US" sz="1600" dirty="0" err="1">
                <a:solidFill>
                  <a:srgbClr val="FF0000"/>
                </a:solidFill>
                <a:latin typeface="Courier New" panose="02070309020205020404" pitchFamily="49" charset="0"/>
                <a:cs typeface="Courier New" panose="02070309020205020404" pitchFamily="49" charset="0"/>
              </a:rPr>
              <a:t>cin</a:t>
            </a:r>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favoriteLanguage</a:t>
            </a:r>
            <a:r>
              <a:rPr lang="en-US" sz="1600" dirty="0">
                <a:solidFill>
                  <a:srgbClr val="FF0000"/>
                </a:solidFill>
                <a:latin typeface="Courier New" panose="02070309020205020404" pitchFamily="49" charset="0"/>
                <a:cs typeface="Courier New" panose="02070309020205020404" pitchFamily="49" charset="0"/>
              </a:rPr>
              <a:t>);</a:t>
            </a:r>
          </a:p>
          <a:p>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a:t>
            </a:r>
            <a:r>
              <a:rPr lang="en-US" sz="1600" dirty="0" err="1">
                <a:solidFill>
                  <a:srgbClr val="FF0000"/>
                </a:solidFill>
                <a:latin typeface="Courier New" panose="02070309020205020404" pitchFamily="49" charset="0"/>
                <a:cs typeface="Courier New" panose="02070309020205020404" pitchFamily="49" charset="0"/>
              </a:rPr>
              <a:t>endl</a:t>
            </a:r>
            <a:r>
              <a:rPr lang="en-US" sz="1600" dirty="0">
                <a:solidFill>
                  <a:srgbClr val="FF0000"/>
                </a:solidFill>
                <a:latin typeface="Courier New" panose="02070309020205020404" pitchFamily="49" charset="0"/>
                <a:cs typeface="Courier New" panose="02070309020205020404" pitchFamily="49" charset="0"/>
              </a:rPr>
              <a:t>;</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 Student Profile -----" &lt;&lt; </a:t>
            </a:r>
            <a:r>
              <a:rPr lang="en-US" sz="1600" dirty="0" err="1">
                <a:solidFill>
                  <a:srgbClr val="FF0000"/>
                </a:solidFill>
                <a:latin typeface="Courier New" panose="02070309020205020404" pitchFamily="49" charset="0"/>
                <a:cs typeface="Courier New" panose="02070309020205020404" pitchFamily="49" charset="0"/>
              </a:rPr>
              <a:t>endl</a:t>
            </a:r>
            <a:r>
              <a:rPr lang="en-US" sz="1600" dirty="0">
                <a:solidFill>
                  <a:srgbClr val="FF0000"/>
                </a:solidFill>
                <a:latin typeface="Courier New" panose="02070309020205020404" pitchFamily="49" charset="0"/>
                <a:cs typeface="Courier New" panose="02070309020205020404" pitchFamily="49" charset="0"/>
              </a:rPr>
              <a:t>;</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"Name: " &lt;&lt; name &lt;&lt; </a:t>
            </a:r>
            <a:r>
              <a:rPr lang="en-US" sz="1600" dirty="0" err="1">
                <a:solidFill>
                  <a:srgbClr val="FF0000"/>
                </a:solidFill>
                <a:latin typeface="Courier New" panose="02070309020205020404" pitchFamily="49" charset="0"/>
                <a:cs typeface="Courier New" panose="02070309020205020404" pitchFamily="49" charset="0"/>
              </a:rPr>
              <a:t>endl</a:t>
            </a:r>
            <a:r>
              <a:rPr lang="en-US" sz="1600" dirty="0">
                <a:solidFill>
                  <a:srgbClr val="FF0000"/>
                </a:solidFill>
                <a:latin typeface="Courier New" panose="02070309020205020404" pitchFamily="49" charset="0"/>
                <a:cs typeface="Courier New" panose="02070309020205020404" pitchFamily="49" charset="0"/>
              </a:rPr>
              <a:t>;</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"Major: " &lt;&lt; major &lt;&lt; </a:t>
            </a:r>
            <a:r>
              <a:rPr lang="en-US" sz="1600" dirty="0" err="1">
                <a:solidFill>
                  <a:srgbClr val="FF0000"/>
                </a:solidFill>
                <a:latin typeface="Courier New" panose="02070309020205020404" pitchFamily="49" charset="0"/>
                <a:cs typeface="Courier New" panose="02070309020205020404" pitchFamily="49" charset="0"/>
              </a:rPr>
              <a:t>endl</a:t>
            </a:r>
            <a:r>
              <a:rPr lang="en-US" sz="1600" dirty="0">
                <a:solidFill>
                  <a:srgbClr val="FF0000"/>
                </a:solidFill>
                <a:latin typeface="Courier New" panose="02070309020205020404" pitchFamily="49" charset="0"/>
                <a:cs typeface="Courier New" panose="02070309020205020404" pitchFamily="49" charset="0"/>
              </a:rPr>
              <a:t>;</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"Classification: " &lt;&lt; classification &lt;&lt; </a:t>
            </a:r>
            <a:r>
              <a:rPr lang="en-US" sz="1600" dirty="0" err="1">
                <a:solidFill>
                  <a:srgbClr val="FF0000"/>
                </a:solidFill>
                <a:latin typeface="Courier New" panose="02070309020205020404" pitchFamily="49" charset="0"/>
                <a:cs typeface="Courier New" panose="02070309020205020404" pitchFamily="49" charset="0"/>
              </a:rPr>
              <a:t>endl</a:t>
            </a:r>
            <a:r>
              <a:rPr lang="en-US" sz="1600" dirty="0">
                <a:solidFill>
                  <a:srgbClr val="FF0000"/>
                </a:solidFill>
                <a:latin typeface="Courier New" panose="02070309020205020404" pitchFamily="49" charset="0"/>
                <a:cs typeface="Courier New" panose="02070309020205020404" pitchFamily="49" charset="0"/>
              </a:rPr>
              <a:t>;</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"Age: " &lt;&lt; age &lt;&lt; </a:t>
            </a:r>
            <a:r>
              <a:rPr lang="en-US" sz="1600" dirty="0" err="1">
                <a:solidFill>
                  <a:srgbClr val="FF0000"/>
                </a:solidFill>
                <a:latin typeface="Courier New" panose="02070309020205020404" pitchFamily="49" charset="0"/>
                <a:cs typeface="Courier New" panose="02070309020205020404" pitchFamily="49" charset="0"/>
              </a:rPr>
              <a:t>endl</a:t>
            </a:r>
            <a:r>
              <a:rPr lang="en-US" sz="1600" dirty="0">
                <a:solidFill>
                  <a:srgbClr val="FF0000"/>
                </a:solidFill>
                <a:latin typeface="Courier New" panose="02070309020205020404" pitchFamily="49" charset="0"/>
                <a:cs typeface="Courier New" panose="02070309020205020404" pitchFamily="49" charset="0"/>
              </a:rPr>
              <a:t>;</a:t>
            </a:r>
          </a:p>
          <a:p>
            <a:r>
              <a:rPr lang="en-US" sz="1600" dirty="0">
                <a:solidFill>
                  <a:srgbClr val="FF0000"/>
                </a:solidFill>
                <a:latin typeface="Courier New" panose="02070309020205020404" pitchFamily="49" charset="0"/>
                <a:cs typeface="Courier New" panose="02070309020205020404" pitchFamily="49" charset="0"/>
              </a:rPr>
              <a:t>    </a:t>
            </a:r>
            <a:r>
              <a:rPr lang="en-US" sz="1600" dirty="0" err="1">
                <a:solidFill>
                  <a:srgbClr val="FF0000"/>
                </a:solidFill>
                <a:latin typeface="Courier New" panose="02070309020205020404" pitchFamily="49" charset="0"/>
                <a:cs typeface="Courier New" panose="02070309020205020404" pitchFamily="49" charset="0"/>
              </a:rPr>
              <a:t>cout</a:t>
            </a:r>
            <a:r>
              <a:rPr lang="en-US" sz="1600" dirty="0">
                <a:solidFill>
                  <a:srgbClr val="FF0000"/>
                </a:solidFill>
                <a:latin typeface="Courier New" panose="02070309020205020404" pitchFamily="49" charset="0"/>
                <a:cs typeface="Courier New" panose="02070309020205020404" pitchFamily="49" charset="0"/>
              </a:rPr>
              <a:t> &lt;&lt; "Favorite Programming Language: " </a:t>
            </a:r>
          </a:p>
          <a:p>
            <a:r>
              <a:rPr lang="en-US" sz="1600" dirty="0">
                <a:solidFill>
                  <a:srgbClr val="FF0000"/>
                </a:solidFill>
                <a:latin typeface="Courier New" panose="02070309020205020404" pitchFamily="49" charset="0"/>
                <a:cs typeface="Courier New" panose="02070309020205020404" pitchFamily="49" charset="0"/>
              </a:rPr>
              <a:t>    &lt;&lt; </a:t>
            </a:r>
            <a:r>
              <a:rPr lang="en-US" sz="1600" dirty="0" err="1">
                <a:solidFill>
                  <a:srgbClr val="FF0000"/>
                </a:solidFill>
                <a:latin typeface="Courier New" panose="02070309020205020404" pitchFamily="49" charset="0"/>
                <a:cs typeface="Courier New" panose="02070309020205020404" pitchFamily="49" charset="0"/>
              </a:rPr>
              <a:t>favoriteLanguage</a:t>
            </a:r>
            <a:r>
              <a:rPr lang="en-US" sz="1600" dirty="0">
                <a:solidFill>
                  <a:srgbClr val="FF0000"/>
                </a:solidFill>
                <a:latin typeface="Courier New" panose="02070309020205020404" pitchFamily="49" charset="0"/>
                <a:cs typeface="Courier New" panose="02070309020205020404" pitchFamily="49" charset="0"/>
              </a:rPr>
              <a:t> &lt;&lt; </a:t>
            </a:r>
            <a:r>
              <a:rPr lang="en-US" sz="1600" dirty="0" err="1">
                <a:solidFill>
                  <a:srgbClr val="FF0000"/>
                </a:solidFill>
                <a:latin typeface="Courier New" panose="02070309020205020404" pitchFamily="49" charset="0"/>
                <a:cs typeface="Courier New" panose="02070309020205020404" pitchFamily="49" charset="0"/>
              </a:rPr>
              <a:t>endl</a:t>
            </a:r>
            <a:r>
              <a:rPr lang="en-US" sz="1600" dirty="0">
                <a:solidFill>
                  <a:srgbClr val="FF0000"/>
                </a:solidFill>
                <a:latin typeface="Courier New" panose="02070309020205020404" pitchFamily="49" charset="0"/>
                <a:cs typeface="Courier New" panose="02070309020205020404" pitchFamily="49" charset="0"/>
              </a:rPr>
              <a:t>;</a:t>
            </a:r>
          </a:p>
          <a:p>
            <a:endParaRPr lang="en-US" sz="1600" dirty="0">
              <a:solidFill>
                <a:srgbClr val="FF0000"/>
              </a:solidFill>
              <a:latin typeface="Courier New" panose="02070309020205020404" pitchFamily="49" charset="0"/>
              <a:cs typeface="Courier New" panose="02070309020205020404" pitchFamily="49" charset="0"/>
            </a:endParaRPr>
          </a:p>
          <a:p>
            <a:r>
              <a:rPr lang="en-US" sz="1600" dirty="0">
                <a:solidFill>
                  <a:srgbClr val="FF0000"/>
                </a:solidFill>
                <a:latin typeface="Courier New" panose="02070309020205020404" pitchFamily="49" charset="0"/>
                <a:cs typeface="Courier New" panose="02070309020205020404" pitchFamily="49" charset="0"/>
              </a:rPr>
              <a:t>    return 0;</a:t>
            </a:r>
          </a:p>
          <a:p>
            <a:r>
              <a:rPr lang="en-US" sz="1600" dirty="0">
                <a:solidFill>
                  <a:srgbClr val="FF0000"/>
                </a:solidFill>
                <a:latin typeface="Courier New" panose="02070309020205020404" pitchFamily="49" charset="0"/>
                <a:cs typeface="Courier New" panose="02070309020205020404" pitchFamily="49" charset="0"/>
              </a:rPr>
              <a:t>}</a:t>
            </a:r>
            <a:endParaRPr lang="en-CN" sz="1600" dirty="0">
              <a:solidFill>
                <a:srgbClr val="FF0000"/>
              </a:solidFill>
              <a:latin typeface="Courier New" panose="02070309020205020404" pitchFamily="49" charset="0"/>
              <a:cs typeface="Courier New" panose="02070309020205020404" pitchFamily="49" charset="0"/>
            </a:endParaRPr>
          </a:p>
          <a:p>
            <a:endParaRPr lang="en-CN" sz="1600" dirty="0">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42909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A7218-A3AC-BF0E-FB2A-8B2EDF37509A}"/>
              </a:ext>
            </a:extLst>
          </p:cNvPr>
          <p:cNvSpPr>
            <a:spLocks noGrp="1"/>
          </p:cNvSpPr>
          <p:nvPr>
            <p:ph type="title"/>
          </p:nvPr>
        </p:nvSpPr>
        <p:spPr>
          <a:xfrm>
            <a:off x="287055" y="189761"/>
            <a:ext cx="10515600" cy="950108"/>
          </a:xfrm>
        </p:spPr>
        <p:txBody>
          <a:bodyPr>
            <a:normAutofit fontScale="90000"/>
          </a:bodyPr>
          <a:lstStyle/>
          <a:p>
            <a:r>
              <a:rPr lang="en-CN" dirty="0"/>
              <a:t>Practice: Can you identify and fix all the errors?</a:t>
            </a:r>
          </a:p>
        </p:txBody>
      </p:sp>
      <p:sp>
        <p:nvSpPr>
          <p:cNvPr id="5" name="TextBox 4">
            <a:extLst>
              <a:ext uri="{FF2B5EF4-FFF2-40B4-BE49-F238E27FC236}">
                <a16:creationId xmlns:a16="http://schemas.microsoft.com/office/drawing/2014/main" id="{00F95B30-A857-30D7-26D9-6DBDFFE654F5}"/>
              </a:ext>
            </a:extLst>
          </p:cNvPr>
          <p:cNvSpPr txBox="1"/>
          <p:nvPr/>
        </p:nvSpPr>
        <p:spPr>
          <a:xfrm>
            <a:off x="259434" y="1139869"/>
            <a:ext cx="5285421" cy="5909310"/>
          </a:xfrm>
          <a:prstGeom prst="rect">
            <a:avLst/>
          </a:prstGeom>
          <a:noFill/>
        </p:spPr>
        <p:txBody>
          <a:bodyPr wrap="none" rtlCol="0">
            <a:spAutoFit/>
          </a:bodyPr>
          <a:lstStyle/>
          <a:p>
            <a:r>
              <a:rPr lang="en-US" dirty="0">
                <a:solidFill>
                  <a:srgbClr val="FF0000"/>
                </a:solidFill>
                <a:latin typeface="Courier New" panose="02070309020205020404" pitchFamily="49" charset="0"/>
                <a:cs typeface="Courier New" panose="02070309020205020404" pitchFamily="49" charset="0"/>
              </a:rPr>
              <a:t>#include &lt;iostream&gt;</a:t>
            </a:r>
          </a:p>
          <a:p>
            <a:r>
              <a:rPr lang="en-US" dirty="0">
                <a:solidFill>
                  <a:srgbClr val="FF0000"/>
                </a:solidFill>
                <a:latin typeface="Courier New" panose="02070309020205020404" pitchFamily="49" charset="0"/>
                <a:cs typeface="Courier New" panose="02070309020205020404" pitchFamily="49" charset="0"/>
              </a:rPr>
              <a:t>#include &lt;</a:t>
            </a:r>
            <a:r>
              <a:rPr lang="en-US" dirty="0" err="1">
                <a:solidFill>
                  <a:srgbClr val="FF0000"/>
                </a:solidFill>
                <a:latin typeface="Courier New" panose="02070309020205020404" pitchFamily="49" charset="0"/>
                <a:cs typeface="Courier New" panose="02070309020205020404" pitchFamily="49" charset="0"/>
              </a:rPr>
              <a:t>iomanip</a:t>
            </a:r>
            <a:r>
              <a:rPr lang="en-US" dirty="0">
                <a:solidFill>
                  <a:srgbClr val="FF0000"/>
                </a:solidFill>
                <a:latin typeface="Courier New" panose="02070309020205020404" pitchFamily="49" charset="0"/>
                <a:cs typeface="Courier New" panose="02070309020205020404" pitchFamily="49" charset="0"/>
              </a:rPr>
              <a:t>&gt;</a:t>
            </a:r>
          </a:p>
          <a:p>
            <a:r>
              <a:rPr lang="en-US" dirty="0">
                <a:solidFill>
                  <a:srgbClr val="FF0000"/>
                </a:solidFill>
                <a:latin typeface="Courier New" panose="02070309020205020404" pitchFamily="49" charset="0"/>
                <a:cs typeface="Courier New" panose="02070309020205020404" pitchFamily="49" charset="0"/>
              </a:rPr>
              <a:t>using namespace std</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int main()</a:t>
            </a:r>
          </a:p>
          <a:p>
            <a:r>
              <a:rPr lang="en-US" dirty="0">
                <a:solidFill>
                  <a:srgbClr val="FF0000"/>
                </a:solidFill>
                <a:latin typeface="Courier New" panose="02070309020205020404" pitchFamily="49" charset="0"/>
                <a:cs typeface="Courier New" panose="02070309020205020404" pitchFamily="49" charset="0"/>
              </a:rPr>
              <a:t>{</a:t>
            </a:r>
          </a:p>
          <a:p>
            <a:r>
              <a:rPr lang="en-US" dirty="0">
                <a:solidFill>
                  <a:srgbClr val="FF0000"/>
                </a:solidFill>
                <a:latin typeface="Courier New" panose="02070309020205020404" pitchFamily="49" charset="0"/>
                <a:cs typeface="Courier New" panose="02070309020205020404" pitchFamily="49" charset="0"/>
              </a:rPr>
              <a:t>    double length, width;</a:t>
            </a:r>
          </a:p>
          <a:p>
            <a:r>
              <a:rPr lang="en-US" dirty="0">
                <a:solidFill>
                  <a:srgbClr val="FF0000"/>
                </a:solidFill>
                <a:latin typeface="Courier New" panose="02070309020205020404" pitchFamily="49" charset="0"/>
                <a:cs typeface="Courier New" panose="02070309020205020404" pitchFamily="49" charset="0"/>
              </a:rPr>
              <a:t>    double area, perimeter</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"Enter the length: ";</a:t>
            </a: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cin</a:t>
            </a:r>
            <a:r>
              <a:rPr lang="en-US" dirty="0">
                <a:solidFill>
                  <a:srgbClr val="FF0000"/>
                </a:solidFill>
                <a:latin typeface="Courier New" panose="02070309020205020404" pitchFamily="49" charset="0"/>
                <a:cs typeface="Courier New" panose="02070309020205020404" pitchFamily="49" charset="0"/>
              </a:rPr>
              <a:t> &lt;&lt; length;</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"Enter the width: ";</a:t>
            </a: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cin</a:t>
            </a:r>
            <a:r>
              <a:rPr lang="en-US" dirty="0">
                <a:solidFill>
                  <a:srgbClr val="FF0000"/>
                </a:solidFill>
                <a:latin typeface="Courier New" panose="02070309020205020404" pitchFamily="49" charset="0"/>
                <a:cs typeface="Courier New" panose="02070309020205020404" pitchFamily="49" charset="0"/>
              </a:rPr>
              <a:t> &gt;&gt; width;</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area = length + width;</a:t>
            </a:r>
          </a:p>
          <a:p>
            <a:r>
              <a:rPr lang="en-US" dirty="0">
                <a:solidFill>
                  <a:srgbClr val="FF0000"/>
                </a:solidFill>
                <a:latin typeface="Courier New" panose="02070309020205020404" pitchFamily="49" charset="0"/>
                <a:cs typeface="Courier New" panose="02070309020205020404" pitchFamily="49" charset="0"/>
              </a:rPr>
              <a:t>    perimeter = 2 * length + width;</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fixed &lt;&lt; </a:t>
            </a:r>
            <a:r>
              <a:rPr lang="en-US" dirty="0" err="1">
                <a:solidFill>
                  <a:srgbClr val="FF0000"/>
                </a:solidFill>
                <a:latin typeface="Courier New" panose="02070309020205020404" pitchFamily="49" charset="0"/>
                <a:cs typeface="Courier New" panose="02070309020205020404" pitchFamily="49" charset="0"/>
              </a:rPr>
              <a:t>setprecision</a:t>
            </a:r>
            <a:r>
              <a:rPr lang="en-US" dirty="0">
                <a:solidFill>
                  <a:srgbClr val="FF0000"/>
                </a:solidFill>
                <a:latin typeface="Courier New" panose="02070309020205020404" pitchFamily="49" charset="0"/>
                <a:cs typeface="Courier New" panose="02070309020205020404" pitchFamily="49" charset="0"/>
              </a:rPr>
              <a:t>(2);</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a:t>
            </a:r>
            <a:endParaRPr lang="en-CN" dirty="0">
              <a:solidFill>
                <a:srgbClr val="FF0000"/>
              </a:solidFill>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AF6B421D-7940-3B62-8EB5-7BBF5FDA5A36}"/>
              </a:ext>
            </a:extLst>
          </p:cNvPr>
          <p:cNvSpPr txBox="1"/>
          <p:nvPr/>
        </p:nvSpPr>
        <p:spPr>
          <a:xfrm>
            <a:off x="5544855" y="1212814"/>
            <a:ext cx="6526146" cy="1754326"/>
          </a:xfrm>
          <a:prstGeom prst="rect">
            <a:avLst/>
          </a:prstGeom>
          <a:noFill/>
        </p:spPr>
        <p:txBody>
          <a:bodyPr wrap="none" rtlCol="0">
            <a:spAutoFit/>
          </a:bodyPr>
          <a:lstStyle/>
          <a:p>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&gt;&gt; "Area: " &lt;&lt; area &lt;&lt; </a:t>
            </a:r>
            <a:r>
              <a:rPr lang="en-US" dirty="0" err="1">
                <a:solidFill>
                  <a:srgbClr val="FF0000"/>
                </a:solidFill>
                <a:latin typeface="Courier New" panose="02070309020205020404" pitchFamily="49" charset="0"/>
                <a:cs typeface="Courier New" panose="02070309020205020404" pitchFamily="49" charset="0"/>
              </a:rPr>
              <a:t>endl</a:t>
            </a:r>
            <a:r>
              <a:rPr lang="en-US" dirty="0">
                <a:solidFill>
                  <a:srgbClr val="FF0000"/>
                </a:solidFill>
                <a:latin typeface="Courier New" panose="02070309020205020404" pitchFamily="49" charset="0"/>
                <a:cs typeface="Courier New" panose="02070309020205020404" pitchFamily="49" charset="0"/>
              </a:rPr>
              <a:t>;</a:t>
            </a: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"Perimeter: " &lt;&lt; perimeter &lt;&lt; </a:t>
            </a:r>
            <a:r>
              <a:rPr lang="en-US" dirty="0" err="1">
                <a:solidFill>
                  <a:srgbClr val="FF0000"/>
                </a:solidFill>
                <a:latin typeface="Courier New" panose="02070309020205020404" pitchFamily="49" charset="0"/>
                <a:cs typeface="Courier New" panose="02070309020205020404" pitchFamily="49" charset="0"/>
              </a:rPr>
              <a:t>endl</a:t>
            </a:r>
            <a:endParaRPr lang="en-US" dirty="0">
              <a:solidFill>
                <a:srgbClr val="FF0000"/>
              </a:solidFill>
              <a:latin typeface="Courier New" panose="02070309020205020404" pitchFamily="49" charset="0"/>
              <a:cs typeface="Courier New" panose="02070309020205020404" pitchFamily="49" charset="0"/>
            </a:endParaRP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return 0;</a:t>
            </a:r>
          </a:p>
          <a:p>
            <a:r>
              <a:rPr lang="en-US" dirty="0">
                <a:solidFill>
                  <a:srgbClr val="FF0000"/>
                </a:solidFill>
                <a:latin typeface="Courier New" panose="02070309020205020404" pitchFamily="49" charset="0"/>
                <a:cs typeface="Courier New" panose="02070309020205020404" pitchFamily="49" charset="0"/>
              </a:rPr>
              <a:t>}</a:t>
            </a:r>
            <a:endParaRPr lang="en-CN" dirty="0">
              <a:solidFill>
                <a:srgbClr val="FF0000"/>
              </a:solidFill>
              <a:latin typeface="Courier New" panose="02070309020205020404" pitchFamily="49" charset="0"/>
              <a:cs typeface="Courier New" panose="02070309020205020404" pitchFamily="49" charset="0"/>
            </a:endParaRPr>
          </a:p>
          <a:p>
            <a:endParaRPr lang="en-CN" dirty="0">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08077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276A4-4FF3-2758-4274-4AF72934A0B7}"/>
              </a:ext>
            </a:extLst>
          </p:cNvPr>
          <p:cNvSpPr>
            <a:spLocks noGrp="1"/>
          </p:cNvSpPr>
          <p:nvPr>
            <p:ph type="title"/>
          </p:nvPr>
        </p:nvSpPr>
        <p:spPr>
          <a:xfrm>
            <a:off x="156882" y="298823"/>
            <a:ext cx="10515600" cy="764428"/>
          </a:xfrm>
        </p:spPr>
        <p:txBody>
          <a:bodyPr/>
          <a:lstStyle/>
          <a:p>
            <a:r>
              <a:rPr lang="en-CN" dirty="0"/>
              <a:t>Solution</a:t>
            </a:r>
          </a:p>
        </p:txBody>
      </p:sp>
      <p:sp>
        <p:nvSpPr>
          <p:cNvPr id="4" name="TextBox 3">
            <a:extLst>
              <a:ext uri="{FF2B5EF4-FFF2-40B4-BE49-F238E27FC236}">
                <a16:creationId xmlns:a16="http://schemas.microsoft.com/office/drawing/2014/main" id="{9997B696-3622-E237-AF1F-5F987884C683}"/>
              </a:ext>
            </a:extLst>
          </p:cNvPr>
          <p:cNvSpPr txBox="1"/>
          <p:nvPr/>
        </p:nvSpPr>
        <p:spPr>
          <a:xfrm>
            <a:off x="156882" y="1063251"/>
            <a:ext cx="5285421" cy="5632311"/>
          </a:xfrm>
          <a:prstGeom prst="rect">
            <a:avLst/>
          </a:prstGeom>
          <a:noFill/>
        </p:spPr>
        <p:txBody>
          <a:bodyPr wrap="none" rtlCol="0">
            <a:spAutoFit/>
          </a:bodyPr>
          <a:lstStyle/>
          <a:p>
            <a:r>
              <a:rPr lang="en-US" dirty="0">
                <a:solidFill>
                  <a:srgbClr val="FF0000"/>
                </a:solidFill>
                <a:latin typeface="Courier New" panose="02070309020205020404" pitchFamily="49" charset="0"/>
                <a:cs typeface="Courier New" panose="02070309020205020404" pitchFamily="49" charset="0"/>
              </a:rPr>
              <a:t>#include &lt;iostream&gt;</a:t>
            </a:r>
          </a:p>
          <a:p>
            <a:r>
              <a:rPr lang="en-US" dirty="0">
                <a:solidFill>
                  <a:srgbClr val="FF0000"/>
                </a:solidFill>
                <a:latin typeface="Courier New" panose="02070309020205020404" pitchFamily="49" charset="0"/>
                <a:cs typeface="Courier New" panose="02070309020205020404" pitchFamily="49" charset="0"/>
              </a:rPr>
              <a:t>#include &lt;</a:t>
            </a:r>
            <a:r>
              <a:rPr lang="en-US" dirty="0" err="1">
                <a:solidFill>
                  <a:srgbClr val="FF0000"/>
                </a:solidFill>
                <a:latin typeface="Courier New" panose="02070309020205020404" pitchFamily="49" charset="0"/>
                <a:cs typeface="Courier New" panose="02070309020205020404" pitchFamily="49" charset="0"/>
              </a:rPr>
              <a:t>iomanip</a:t>
            </a:r>
            <a:r>
              <a:rPr lang="en-US" dirty="0">
                <a:solidFill>
                  <a:srgbClr val="FF0000"/>
                </a:solidFill>
                <a:latin typeface="Courier New" panose="02070309020205020404" pitchFamily="49" charset="0"/>
                <a:cs typeface="Courier New" panose="02070309020205020404" pitchFamily="49" charset="0"/>
              </a:rPr>
              <a:t>&gt;</a:t>
            </a:r>
          </a:p>
          <a:p>
            <a:r>
              <a:rPr lang="en-US" dirty="0">
                <a:solidFill>
                  <a:srgbClr val="FF0000"/>
                </a:solidFill>
                <a:latin typeface="Courier New" panose="02070309020205020404" pitchFamily="49" charset="0"/>
                <a:cs typeface="Courier New" panose="02070309020205020404" pitchFamily="49" charset="0"/>
              </a:rPr>
              <a:t>using namespace std;</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int main()</a:t>
            </a:r>
          </a:p>
          <a:p>
            <a:r>
              <a:rPr lang="en-US" dirty="0">
                <a:solidFill>
                  <a:srgbClr val="FF0000"/>
                </a:solidFill>
                <a:latin typeface="Courier New" panose="02070309020205020404" pitchFamily="49" charset="0"/>
                <a:cs typeface="Courier New" panose="02070309020205020404" pitchFamily="49" charset="0"/>
              </a:rPr>
              <a:t>{</a:t>
            </a:r>
          </a:p>
          <a:p>
            <a:r>
              <a:rPr lang="en-US" dirty="0">
                <a:solidFill>
                  <a:srgbClr val="FF0000"/>
                </a:solidFill>
                <a:latin typeface="Courier New" panose="02070309020205020404" pitchFamily="49" charset="0"/>
                <a:cs typeface="Courier New" panose="02070309020205020404" pitchFamily="49" charset="0"/>
              </a:rPr>
              <a:t>    double length, width;</a:t>
            </a:r>
          </a:p>
          <a:p>
            <a:r>
              <a:rPr lang="en-US" dirty="0">
                <a:solidFill>
                  <a:srgbClr val="FF0000"/>
                </a:solidFill>
                <a:latin typeface="Courier New" panose="02070309020205020404" pitchFamily="49" charset="0"/>
                <a:cs typeface="Courier New" panose="02070309020205020404" pitchFamily="49" charset="0"/>
              </a:rPr>
              <a:t>    double area, perimeter;</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"Enter the length: ";</a:t>
            </a: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cin</a:t>
            </a:r>
            <a:r>
              <a:rPr lang="en-US" dirty="0">
                <a:solidFill>
                  <a:srgbClr val="FF0000"/>
                </a:solidFill>
                <a:latin typeface="Courier New" panose="02070309020205020404" pitchFamily="49" charset="0"/>
                <a:cs typeface="Courier New" panose="02070309020205020404" pitchFamily="49" charset="0"/>
              </a:rPr>
              <a:t> &gt;&gt; length;</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"Enter the width: ";</a:t>
            </a: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cin</a:t>
            </a:r>
            <a:r>
              <a:rPr lang="en-US" dirty="0">
                <a:solidFill>
                  <a:srgbClr val="FF0000"/>
                </a:solidFill>
                <a:latin typeface="Courier New" panose="02070309020205020404" pitchFamily="49" charset="0"/>
                <a:cs typeface="Courier New" panose="02070309020205020404" pitchFamily="49" charset="0"/>
              </a:rPr>
              <a:t> &gt;&gt; width;</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area = length * width;</a:t>
            </a:r>
          </a:p>
          <a:p>
            <a:r>
              <a:rPr lang="en-US" dirty="0">
                <a:solidFill>
                  <a:srgbClr val="FF0000"/>
                </a:solidFill>
                <a:latin typeface="Courier New" panose="02070309020205020404" pitchFamily="49" charset="0"/>
                <a:cs typeface="Courier New" panose="02070309020205020404" pitchFamily="49" charset="0"/>
              </a:rPr>
              <a:t>    perimeter = 2 * (length + width);</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fixed &lt;&lt; </a:t>
            </a:r>
            <a:r>
              <a:rPr lang="en-US" dirty="0" err="1">
                <a:solidFill>
                  <a:srgbClr val="FF0000"/>
                </a:solidFill>
                <a:latin typeface="Courier New" panose="02070309020205020404" pitchFamily="49" charset="0"/>
                <a:cs typeface="Courier New" panose="02070309020205020404" pitchFamily="49" charset="0"/>
              </a:rPr>
              <a:t>setprecision</a:t>
            </a:r>
            <a:r>
              <a:rPr lang="en-US" dirty="0">
                <a:solidFill>
                  <a:srgbClr val="FF0000"/>
                </a:solidFill>
                <a:latin typeface="Courier New" panose="02070309020205020404" pitchFamily="49" charset="0"/>
                <a:cs typeface="Courier New" panose="02070309020205020404" pitchFamily="49" charset="0"/>
              </a:rPr>
              <a:t>(2);</a:t>
            </a:r>
          </a:p>
          <a:p>
            <a:endParaRPr lang="en-US" dirty="0">
              <a:solidFill>
                <a:srgbClr val="FF0000"/>
              </a:solidFill>
              <a:latin typeface="Courier New" panose="020703090202050204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A5F5E6E2-7471-CE41-AB89-E9DE008589F2}"/>
              </a:ext>
            </a:extLst>
          </p:cNvPr>
          <p:cNvSpPr txBox="1"/>
          <p:nvPr/>
        </p:nvSpPr>
        <p:spPr>
          <a:xfrm>
            <a:off x="5527996" y="1063251"/>
            <a:ext cx="6664004" cy="1477328"/>
          </a:xfrm>
          <a:prstGeom prst="rect">
            <a:avLst/>
          </a:prstGeom>
          <a:noFill/>
        </p:spPr>
        <p:txBody>
          <a:bodyPr wrap="none" rtlCol="0">
            <a:spAutoFit/>
          </a:bodyPr>
          <a:lstStyle/>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"Area: " &lt;&lt; area &lt;&lt; </a:t>
            </a:r>
            <a:r>
              <a:rPr lang="en-US" dirty="0" err="1">
                <a:solidFill>
                  <a:srgbClr val="FF0000"/>
                </a:solidFill>
                <a:latin typeface="Courier New" panose="02070309020205020404" pitchFamily="49" charset="0"/>
                <a:cs typeface="Courier New" panose="02070309020205020404" pitchFamily="49" charset="0"/>
              </a:rPr>
              <a:t>endl</a:t>
            </a:r>
            <a:r>
              <a:rPr lang="en-US" dirty="0">
                <a:solidFill>
                  <a:srgbClr val="FF0000"/>
                </a:solidFill>
                <a:latin typeface="Courier New" panose="02070309020205020404" pitchFamily="49" charset="0"/>
                <a:cs typeface="Courier New" panose="02070309020205020404" pitchFamily="49" charset="0"/>
              </a:rPr>
              <a:t>;</a:t>
            </a:r>
          </a:p>
          <a:p>
            <a:r>
              <a:rPr lang="en-US" dirty="0">
                <a:solidFill>
                  <a:srgbClr val="FF0000"/>
                </a:solidFill>
                <a:latin typeface="Courier New" panose="02070309020205020404" pitchFamily="49" charset="0"/>
                <a:cs typeface="Courier New" panose="02070309020205020404" pitchFamily="49" charset="0"/>
              </a:rPr>
              <a:t>    </a:t>
            </a:r>
            <a:r>
              <a:rPr lang="en-US" dirty="0" err="1">
                <a:solidFill>
                  <a:srgbClr val="FF0000"/>
                </a:solidFill>
                <a:latin typeface="Courier New" panose="02070309020205020404" pitchFamily="49" charset="0"/>
                <a:cs typeface="Courier New" panose="02070309020205020404" pitchFamily="49" charset="0"/>
              </a:rPr>
              <a:t>cout</a:t>
            </a:r>
            <a:r>
              <a:rPr lang="en-US" dirty="0">
                <a:solidFill>
                  <a:srgbClr val="FF0000"/>
                </a:solidFill>
                <a:latin typeface="Courier New" panose="02070309020205020404" pitchFamily="49" charset="0"/>
                <a:cs typeface="Courier New" panose="02070309020205020404" pitchFamily="49" charset="0"/>
              </a:rPr>
              <a:t> &lt;&lt; "Perimeter: " &lt;&lt; perimeter &lt;&lt; </a:t>
            </a:r>
            <a:r>
              <a:rPr lang="en-US" dirty="0" err="1">
                <a:solidFill>
                  <a:srgbClr val="FF0000"/>
                </a:solidFill>
                <a:latin typeface="Courier New" panose="02070309020205020404" pitchFamily="49" charset="0"/>
                <a:cs typeface="Courier New" panose="02070309020205020404" pitchFamily="49" charset="0"/>
              </a:rPr>
              <a:t>endl</a:t>
            </a:r>
            <a:r>
              <a:rPr lang="en-US" dirty="0">
                <a:solidFill>
                  <a:srgbClr val="FF0000"/>
                </a:solidFill>
                <a:latin typeface="Courier New" panose="02070309020205020404" pitchFamily="49" charset="0"/>
                <a:cs typeface="Courier New" panose="02070309020205020404" pitchFamily="49" charset="0"/>
              </a:rPr>
              <a:t>;</a:t>
            </a:r>
          </a:p>
          <a:p>
            <a:endParaRPr lang="en-US"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    return 0;</a:t>
            </a:r>
          </a:p>
          <a:p>
            <a:r>
              <a:rPr lang="en-US" dirty="0">
                <a:solidFill>
                  <a:srgbClr val="FF0000"/>
                </a:solidFill>
                <a:latin typeface="Courier New" panose="02070309020205020404" pitchFamily="49" charset="0"/>
                <a:cs typeface="Courier New" panose="02070309020205020404" pitchFamily="49" charset="0"/>
              </a:rPr>
              <a:t>}</a:t>
            </a:r>
            <a:endParaRPr lang="en-CN" dirty="0">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70405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11C11-1C7A-691B-8B74-5893C3CCB5CF}"/>
              </a:ext>
            </a:extLst>
          </p:cNvPr>
          <p:cNvSpPr>
            <a:spLocks noGrp="1"/>
          </p:cNvSpPr>
          <p:nvPr>
            <p:ph type="title"/>
          </p:nvPr>
        </p:nvSpPr>
        <p:spPr>
          <a:xfrm>
            <a:off x="375621" y="1"/>
            <a:ext cx="10515600" cy="918124"/>
          </a:xfrm>
        </p:spPr>
        <p:txBody>
          <a:bodyPr/>
          <a:lstStyle/>
          <a:p>
            <a:r>
              <a:rPr lang="en-US" dirty="0"/>
              <a:t>F</a:t>
            </a:r>
            <a:r>
              <a:rPr lang="en-CN" dirty="0"/>
              <a:t>ormat Specifier for Input Reading - scanf</a:t>
            </a:r>
          </a:p>
        </p:txBody>
      </p:sp>
      <p:graphicFrame>
        <p:nvGraphicFramePr>
          <p:cNvPr id="4" name="Table 3">
            <a:extLst>
              <a:ext uri="{FF2B5EF4-FFF2-40B4-BE49-F238E27FC236}">
                <a16:creationId xmlns:a16="http://schemas.microsoft.com/office/drawing/2014/main" id="{877849A0-4283-F75D-6BE8-F2FE44717758}"/>
              </a:ext>
            </a:extLst>
          </p:cNvPr>
          <p:cNvGraphicFramePr>
            <a:graphicFrameLocks noGrp="1"/>
          </p:cNvGraphicFramePr>
          <p:nvPr>
            <p:extLst>
              <p:ext uri="{D42A27DB-BD31-4B8C-83A1-F6EECF244321}">
                <p14:modId xmlns:p14="http://schemas.microsoft.com/office/powerpoint/2010/main" val="705675289"/>
              </p:ext>
            </p:extLst>
          </p:nvPr>
        </p:nvGraphicFramePr>
        <p:xfrm>
          <a:off x="214086" y="918124"/>
          <a:ext cx="10515600" cy="219456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2886581786"/>
                    </a:ext>
                  </a:extLst>
                </a:gridCol>
                <a:gridCol w="3505200">
                  <a:extLst>
                    <a:ext uri="{9D8B030D-6E8A-4147-A177-3AD203B41FA5}">
                      <a16:colId xmlns:a16="http://schemas.microsoft.com/office/drawing/2014/main" val="1587032056"/>
                    </a:ext>
                  </a:extLst>
                </a:gridCol>
                <a:gridCol w="3505200">
                  <a:extLst>
                    <a:ext uri="{9D8B030D-6E8A-4147-A177-3AD203B41FA5}">
                      <a16:colId xmlns:a16="http://schemas.microsoft.com/office/drawing/2014/main" val="1316105315"/>
                    </a:ext>
                  </a:extLst>
                </a:gridCol>
              </a:tblGrid>
              <a:tr h="0">
                <a:tc>
                  <a:txBody>
                    <a:bodyPr/>
                    <a:lstStyle/>
                    <a:p>
                      <a:pPr>
                        <a:buNone/>
                      </a:pPr>
                      <a:r>
                        <a:rPr lang="en-CN"/>
                        <a:t>Data type</a:t>
                      </a:r>
                    </a:p>
                  </a:txBody>
                  <a:tcPr anchor="ctr"/>
                </a:tc>
                <a:tc>
                  <a:txBody>
                    <a:bodyPr/>
                    <a:lstStyle/>
                    <a:p>
                      <a:pPr>
                        <a:buNone/>
                      </a:pPr>
                      <a:r>
                        <a:rPr lang="en-CN"/>
                        <a:t>Format</a:t>
                      </a:r>
                    </a:p>
                  </a:txBody>
                  <a:tcPr anchor="ctr"/>
                </a:tc>
                <a:tc>
                  <a:txBody>
                    <a:bodyPr/>
                    <a:lstStyle/>
                    <a:p>
                      <a:pPr>
                        <a:buNone/>
                      </a:pPr>
                      <a:r>
                        <a:rPr lang="en-CN"/>
                        <a:t>Example</a:t>
                      </a:r>
                    </a:p>
                  </a:txBody>
                  <a:tcPr anchor="ctr"/>
                </a:tc>
                <a:extLst>
                  <a:ext uri="{0D108BD9-81ED-4DB2-BD59-A6C34878D82A}">
                    <a16:rowId xmlns:a16="http://schemas.microsoft.com/office/drawing/2014/main" val="2778982806"/>
                  </a:ext>
                </a:extLst>
              </a:tr>
              <a:tr h="0">
                <a:tc>
                  <a:txBody>
                    <a:bodyPr/>
                    <a:lstStyle/>
                    <a:p>
                      <a:pPr>
                        <a:buNone/>
                      </a:pPr>
                      <a:r>
                        <a:rPr lang="en-CN"/>
                        <a:t>char</a:t>
                      </a:r>
                    </a:p>
                  </a:txBody>
                  <a:tcPr anchor="ctr"/>
                </a:tc>
                <a:tc>
                  <a:txBody>
                    <a:bodyPr/>
                    <a:lstStyle/>
                    <a:p>
                      <a:pPr>
                        <a:buNone/>
                      </a:pPr>
                      <a:r>
                        <a:rPr lang="en-CN"/>
                        <a:t>%c</a:t>
                      </a:r>
                    </a:p>
                  </a:txBody>
                  <a:tcPr anchor="ctr"/>
                </a:tc>
                <a:tc>
                  <a:txBody>
                    <a:bodyPr/>
                    <a:lstStyle/>
                    <a:p>
                      <a:pPr>
                        <a:buNone/>
                      </a:pPr>
                      <a:r>
                        <a:rPr lang="en-CN"/>
                        <a:t>scanf("%c", &amp;c);</a:t>
                      </a:r>
                    </a:p>
                  </a:txBody>
                  <a:tcPr anchor="ctr"/>
                </a:tc>
                <a:extLst>
                  <a:ext uri="{0D108BD9-81ED-4DB2-BD59-A6C34878D82A}">
                    <a16:rowId xmlns:a16="http://schemas.microsoft.com/office/drawing/2014/main" val="4185627643"/>
                  </a:ext>
                </a:extLst>
              </a:tr>
              <a:tr h="0">
                <a:tc>
                  <a:txBody>
                    <a:bodyPr/>
                    <a:lstStyle/>
                    <a:p>
                      <a:pPr>
                        <a:buNone/>
                      </a:pPr>
                      <a:r>
                        <a:rPr lang="en-CN"/>
                        <a:t>int</a:t>
                      </a:r>
                    </a:p>
                  </a:txBody>
                  <a:tcPr anchor="ctr"/>
                </a:tc>
                <a:tc>
                  <a:txBody>
                    <a:bodyPr/>
                    <a:lstStyle/>
                    <a:p>
                      <a:pPr>
                        <a:buNone/>
                      </a:pPr>
                      <a:r>
                        <a:rPr lang="en-CN"/>
                        <a:t>%d</a:t>
                      </a:r>
                    </a:p>
                  </a:txBody>
                  <a:tcPr anchor="ctr"/>
                </a:tc>
                <a:tc>
                  <a:txBody>
                    <a:bodyPr/>
                    <a:lstStyle/>
                    <a:p>
                      <a:pPr>
                        <a:buNone/>
                      </a:pPr>
                      <a:r>
                        <a:rPr lang="en-CN"/>
                        <a:t>scanf("%d", &amp;age);</a:t>
                      </a:r>
                    </a:p>
                  </a:txBody>
                  <a:tcPr anchor="ctr"/>
                </a:tc>
                <a:extLst>
                  <a:ext uri="{0D108BD9-81ED-4DB2-BD59-A6C34878D82A}">
                    <a16:rowId xmlns:a16="http://schemas.microsoft.com/office/drawing/2014/main" val="2314859353"/>
                  </a:ext>
                </a:extLst>
              </a:tr>
              <a:tr h="0">
                <a:tc>
                  <a:txBody>
                    <a:bodyPr/>
                    <a:lstStyle/>
                    <a:p>
                      <a:pPr>
                        <a:buNone/>
                      </a:pPr>
                      <a:r>
                        <a:rPr lang="en-CN"/>
                        <a:t>float</a:t>
                      </a:r>
                    </a:p>
                  </a:txBody>
                  <a:tcPr anchor="ctr"/>
                </a:tc>
                <a:tc>
                  <a:txBody>
                    <a:bodyPr/>
                    <a:lstStyle/>
                    <a:p>
                      <a:pPr>
                        <a:buNone/>
                      </a:pPr>
                      <a:r>
                        <a:rPr lang="en-CN"/>
                        <a:t>%f</a:t>
                      </a:r>
                    </a:p>
                  </a:txBody>
                  <a:tcPr anchor="ctr"/>
                </a:tc>
                <a:tc>
                  <a:txBody>
                    <a:bodyPr/>
                    <a:lstStyle/>
                    <a:p>
                      <a:pPr>
                        <a:buNone/>
                      </a:pPr>
                      <a:r>
                        <a:rPr lang="en-CN"/>
                        <a:t>scanf("%f", &amp;price);</a:t>
                      </a:r>
                    </a:p>
                  </a:txBody>
                  <a:tcPr anchor="ctr"/>
                </a:tc>
                <a:extLst>
                  <a:ext uri="{0D108BD9-81ED-4DB2-BD59-A6C34878D82A}">
                    <a16:rowId xmlns:a16="http://schemas.microsoft.com/office/drawing/2014/main" val="4214451497"/>
                  </a:ext>
                </a:extLst>
              </a:tr>
              <a:tr h="0">
                <a:tc>
                  <a:txBody>
                    <a:bodyPr/>
                    <a:lstStyle/>
                    <a:p>
                      <a:pPr>
                        <a:buNone/>
                      </a:pPr>
                      <a:r>
                        <a:rPr lang="en-CN"/>
                        <a:t>double</a:t>
                      </a:r>
                    </a:p>
                  </a:txBody>
                  <a:tcPr anchor="ctr"/>
                </a:tc>
                <a:tc>
                  <a:txBody>
                    <a:bodyPr/>
                    <a:lstStyle/>
                    <a:p>
                      <a:pPr>
                        <a:buNone/>
                      </a:pPr>
                      <a:r>
                        <a:rPr lang="en-CN"/>
                        <a:t>%lf</a:t>
                      </a:r>
                    </a:p>
                  </a:txBody>
                  <a:tcPr anchor="ctr"/>
                </a:tc>
                <a:tc>
                  <a:txBody>
                    <a:bodyPr/>
                    <a:lstStyle/>
                    <a:p>
                      <a:pPr>
                        <a:buNone/>
                      </a:pPr>
                      <a:r>
                        <a:rPr lang="en-CN"/>
                        <a:t>scanf("%lf", &amp;number);</a:t>
                      </a:r>
                    </a:p>
                  </a:txBody>
                  <a:tcPr anchor="ctr"/>
                </a:tc>
                <a:extLst>
                  <a:ext uri="{0D108BD9-81ED-4DB2-BD59-A6C34878D82A}">
                    <a16:rowId xmlns:a16="http://schemas.microsoft.com/office/drawing/2014/main" val="3172893060"/>
                  </a:ext>
                </a:extLst>
              </a:tr>
              <a:tr h="0">
                <a:tc>
                  <a:txBody>
                    <a:bodyPr/>
                    <a:lstStyle/>
                    <a:p>
                      <a:pPr>
                        <a:buNone/>
                      </a:pPr>
                      <a:r>
                        <a:rPr lang="en-CN"/>
                        <a:t>C-style string</a:t>
                      </a:r>
                    </a:p>
                  </a:txBody>
                  <a:tcPr anchor="ctr"/>
                </a:tc>
                <a:tc>
                  <a:txBody>
                    <a:bodyPr/>
                    <a:lstStyle/>
                    <a:p>
                      <a:pPr>
                        <a:buNone/>
                      </a:pPr>
                      <a:r>
                        <a:rPr lang="en-CN"/>
                        <a:t>%s</a:t>
                      </a:r>
                    </a:p>
                  </a:txBody>
                  <a:tcPr anchor="ctr"/>
                </a:tc>
                <a:tc>
                  <a:txBody>
                    <a:bodyPr/>
                    <a:lstStyle/>
                    <a:p>
                      <a:pPr>
                        <a:buNone/>
                      </a:pPr>
                      <a:r>
                        <a:rPr lang="en-CN" dirty="0"/>
                        <a:t>scanf("%s", name);</a:t>
                      </a:r>
                    </a:p>
                  </a:txBody>
                  <a:tcPr anchor="ctr"/>
                </a:tc>
                <a:extLst>
                  <a:ext uri="{0D108BD9-81ED-4DB2-BD59-A6C34878D82A}">
                    <a16:rowId xmlns:a16="http://schemas.microsoft.com/office/drawing/2014/main" val="3355013636"/>
                  </a:ext>
                </a:extLst>
              </a:tr>
            </a:tbl>
          </a:graphicData>
        </a:graphic>
      </p:graphicFrame>
      <p:sp>
        <p:nvSpPr>
          <p:cNvPr id="5" name="TextBox 4">
            <a:extLst>
              <a:ext uri="{FF2B5EF4-FFF2-40B4-BE49-F238E27FC236}">
                <a16:creationId xmlns:a16="http://schemas.microsoft.com/office/drawing/2014/main" id="{5DA96995-79C7-B56B-7845-1052780AC766}"/>
              </a:ext>
            </a:extLst>
          </p:cNvPr>
          <p:cNvSpPr txBox="1"/>
          <p:nvPr/>
        </p:nvSpPr>
        <p:spPr>
          <a:xfrm>
            <a:off x="117267" y="3198614"/>
            <a:ext cx="1470531" cy="369332"/>
          </a:xfrm>
          <a:prstGeom prst="rect">
            <a:avLst/>
          </a:prstGeom>
          <a:noFill/>
        </p:spPr>
        <p:txBody>
          <a:bodyPr wrap="none" rtlCol="0">
            <a:spAutoFit/>
          </a:bodyPr>
          <a:lstStyle/>
          <a:p>
            <a:r>
              <a:rPr lang="en-CN" dirty="0"/>
              <a:t>For example:</a:t>
            </a:r>
          </a:p>
        </p:txBody>
      </p:sp>
      <p:sp>
        <p:nvSpPr>
          <p:cNvPr id="7" name="TextBox 6">
            <a:extLst>
              <a:ext uri="{FF2B5EF4-FFF2-40B4-BE49-F238E27FC236}">
                <a16:creationId xmlns:a16="http://schemas.microsoft.com/office/drawing/2014/main" id="{0ADA7636-BFD2-DDC8-0C04-EDE25B2AF62E}"/>
              </a:ext>
            </a:extLst>
          </p:cNvPr>
          <p:cNvSpPr txBox="1"/>
          <p:nvPr/>
        </p:nvSpPr>
        <p:spPr>
          <a:xfrm>
            <a:off x="117267" y="3567946"/>
            <a:ext cx="6094206" cy="3139321"/>
          </a:xfrm>
          <a:prstGeom prst="rect">
            <a:avLst/>
          </a:prstGeom>
          <a:noFill/>
        </p:spPr>
        <p:txBody>
          <a:bodyPr wrap="square">
            <a:spAutoFit/>
          </a:bodyPr>
          <a:lstStyle/>
          <a:p>
            <a:r>
              <a:rPr lang="en-CN" dirty="0">
                <a:latin typeface="Courier New" panose="02070309020205020404" pitchFamily="49" charset="0"/>
                <a:cs typeface="Courier New" panose="02070309020205020404" pitchFamily="49" charset="0"/>
              </a:rPr>
              <a:t>char grade;</a:t>
            </a:r>
          </a:p>
          <a:p>
            <a:r>
              <a:rPr lang="en-CN" dirty="0">
                <a:latin typeface="Courier New" panose="02070309020205020404" pitchFamily="49" charset="0"/>
                <a:cs typeface="Courier New" panose="02070309020205020404" pitchFamily="49" charset="0"/>
              </a:rPr>
              <a:t>int age;</a:t>
            </a:r>
          </a:p>
          <a:p>
            <a:r>
              <a:rPr lang="en-CN" dirty="0">
                <a:latin typeface="Courier New" panose="02070309020205020404" pitchFamily="49" charset="0"/>
                <a:cs typeface="Courier New" panose="02070309020205020404" pitchFamily="49" charset="0"/>
              </a:rPr>
              <a:t>float price;</a:t>
            </a:r>
          </a:p>
          <a:p>
            <a:r>
              <a:rPr lang="en-CN" dirty="0">
                <a:latin typeface="Courier New" panose="02070309020205020404" pitchFamily="49" charset="0"/>
                <a:cs typeface="Courier New" panose="02070309020205020404" pitchFamily="49" charset="0"/>
              </a:rPr>
              <a:t>double salary;</a:t>
            </a:r>
          </a:p>
          <a:p>
            <a:r>
              <a:rPr lang="en-CN" dirty="0">
                <a:latin typeface="Courier New" panose="02070309020205020404" pitchFamily="49" charset="0"/>
                <a:cs typeface="Courier New" panose="02070309020205020404" pitchFamily="49" charset="0"/>
              </a:rPr>
              <a:t>char name[50];</a:t>
            </a:r>
          </a:p>
          <a:p>
            <a:endParaRPr lang="en-CN" dirty="0">
              <a:latin typeface="Courier New" panose="02070309020205020404" pitchFamily="49" charset="0"/>
              <a:cs typeface="Courier New" panose="02070309020205020404" pitchFamily="49" charset="0"/>
            </a:endParaRPr>
          </a:p>
          <a:p>
            <a:r>
              <a:rPr lang="en-CN" dirty="0">
                <a:latin typeface="Courier New" panose="02070309020205020404" pitchFamily="49" charset="0"/>
                <a:cs typeface="Courier New" panose="02070309020205020404" pitchFamily="49" charset="0"/>
              </a:rPr>
              <a:t>scanf("%c", &amp;grade);</a:t>
            </a:r>
          </a:p>
          <a:p>
            <a:r>
              <a:rPr lang="en-CN" dirty="0">
                <a:latin typeface="Courier New" panose="02070309020205020404" pitchFamily="49" charset="0"/>
                <a:cs typeface="Courier New" panose="02070309020205020404" pitchFamily="49" charset="0"/>
              </a:rPr>
              <a:t>scanf("%d", &amp;age);</a:t>
            </a:r>
          </a:p>
          <a:p>
            <a:r>
              <a:rPr lang="en-CN" dirty="0">
                <a:latin typeface="Courier New" panose="02070309020205020404" pitchFamily="49" charset="0"/>
                <a:cs typeface="Courier New" panose="02070309020205020404" pitchFamily="49" charset="0"/>
              </a:rPr>
              <a:t>scanf("%f", &amp;price);</a:t>
            </a:r>
          </a:p>
          <a:p>
            <a:r>
              <a:rPr lang="en-CN" dirty="0">
                <a:latin typeface="Courier New" panose="02070309020205020404" pitchFamily="49" charset="0"/>
                <a:cs typeface="Courier New" panose="02070309020205020404" pitchFamily="49" charset="0"/>
              </a:rPr>
              <a:t>scanf("%lf", &amp;salary);</a:t>
            </a:r>
          </a:p>
          <a:p>
            <a:r>
              <a:rPr lang="en-CN" dirty="0">
                <a:latin typeface="Courier New" panose="02070309020205020404" pitchFamily="49" charset="0"/>
                <a:cs typeface="Courier New" panose="02070309020205020404" pitchFamily="49" charset="0"/>
              </a:rPr>
              <a:t>scanf("%s", name);</a:t>
            </a:r>
          </a:p>
        </p:txBody>
      </p:sp>
      <p:sp>
        <p:nvSpPr>
          <p:cNvPr id="8" name="TextBox 7">
            <a:extLst>
              <a:ext uri="{FF2B5EF4-FFF2-40B4-BE49-F238E27FC236}">
                <a16:creationId xmlns:a16="http://schemas.microsoft.com/office/drawing/2014/main" id="{E54C794D-A3E8-22E2-AE56-F9FD8EB6460D}"/>
              </a:ext>
            </a:extLst>
          </p:cNvPr>
          <p:cNvSpPr txBox="1"/>
          <p:nvPr/>
        </p:nvSpPr>
        <p:spPr>
          <a:xfrm>
            <a:off x="5873676" y="3745317"/>
            <a:ext cx="3217547" cy="1477328"/>
          </a:xfrm>
          <a:prstGeom prst="rect">
            <a:avLst/>
          </a:prstGeom>
          <a:noFill/>
        </p:spPr>
        <p:txBody>
          <a:bodyPr wrap="none" rtlCol="0">
            <a:spAutoFit/>
          </a:bodyPr>
          <a:lstStyle/>
          <a:p>
            <a:r>
              <a:rPr lang="en-US" dirty="0">
                <a:solidFill>
                  <a:srgbClr val="FF0000"/>
                </a:solidFill>
                <a:latin typeface="Courier New" panose="02070309020205020404" pitchFamily="49" charset="0"/>
                <a:cs typeface="Courier New" panose="02070309020205020404" pitchFamily="49" charset="0"/>
              </a:rPr>
              <a:t>I</a:t>
            </a:r>
            <a:r>
              <a:rPr lang="en-CN" dirty="0">
                <a:solidFill>
                  <a:srgbClr val="FF0000"/>
                </a:solidFill>
                <a:latin typeface="Courier New" panose="02070309020205020404" pitchFamily="49" charset="0"/>
                <a:cs typeface="Courier New" panose="02070309020205020404" pitchFamily="49" charset="0"/>
              </a:rPr>
              <a:t>s this correct?</a:t>
            </a:r>
          </a:p>
          <a:p>
            <a:endParaRPr lang="en-CN" dirty="0">
              <a:solidFill>
                <a:srgbClr val="FF0000"/>
              </a:solidFill>
              <a:latin typeface="Courier New" panose="02070309020205020404" pitchFamily="49" charset="0"/>
              <a:cs typeface="Courier New" panose="02070309020205020404" pitchFamily="49" charset="0"/>
            </a:endParaRPr>
          </a:p>
          <a:p>
            <a:r>
              <a:rPr lang="en-US" dirty="0">
                <a:solidFill>
                  <a:srgbClr val="FF0000"/>
                </a:solidFill>
                <a:latin typeface="Courier New" panose="02070309020205020404" pitchFamily="49" charset="0"/>
                <a:cs typeface="Courier New" panose="02070309020205020404" pitchFamily="49" charset="0"/>
              </a:rPr>
              <a:t>char name[50];</a:t>
            </a:r>
          </a:p>
          <a:p>
            <a:endParaRPr lang="en-US" dirty="0">
              <a:solidFill>
                <a:srgbClr val="FF0000"/>
              </a:solidFill>
              <a:latin typeface="Courier New" panose="02070309020205020404" pitchFamily="49" charset="0"/>
              <a:cs typeface="Courier New" panose="02070309020205020404" pitchFamily="49" charset="0"/>
            </a:endParaRPr>
          </a:p>
          <a:p>
            <a:r>
              <a:rPr lang="en-US" dirty="0" err="1">
                <a:solidFill>
                  <a:srgbClr val="FF0000"/>
                </a:solidFill>
                <a:latin typeface="Courier New" panose="02070309020205020404" pitchFamily="49" charset="0"/>
                <a:cs typeface="Courier New" panose="02070309020205020404" pitchFamily="49" charset="0"/>
              </a:rPr>
              <a:t>scanf</a:t>
            </a:r>
            <a:r>
              <a:rPr lang="en-US" dirty="0">
                <a:solidFill>
                  <a:srgbClr val="FF0000"/>
                </a:solidFill>
                <a:latin typeface="Courier New" panose="02070309020205020404" pitchFamily="49" charset="0"/>
                <a:cs typeface="Courier New" panose="02070309020205020404" pitchFamily="49" charset="0"/>
              </a:rPr>
              <a:t>("%s", &amp;name);   </a:t>
            </a:r>
            <a:endParaRPr lang="en-CN" dirty="0">
              <a:solidFill>
                <a:srgbClr val="FF0000"/>
              </a:solidFill>
              <a:latin typeface="Courier New" panose="02070309020205020404" pitchFamily="49" charset="0"/>
              <a:cs typeface="Courier New" panose="02070309020205020404" pitchFamily="49" charset="0"/>
            </a:endParaRPr>
          </a:p>
        </p:txBody>
      </p:sp>
      <p:sp>
        <p:nvSpPr>
          <p:cNvPr id="9" name="TextBox 8">
            <a:extLst>
              <a:ext uri="{FF2B5EF4-FFF2-40B4-BE49-F238E27FC236}">
                <a16:creationId xmlns:a16="http://schemas.microsoft.com/office/drawing/2014/main" id="{61DFB478-41C7-209A-971F-7564CF90DD17}"/>
              </a:ext>
            </a:extLst>
          </p:cNvPr>
          <p:cNvSpPr txBox="1"/>
          <p:nvPr/>
        </p:nvSpPr>
        <p:spPr>
          <a:xfrm>
            <a:off x="5873676" y="5308575"/>
            <a:ext cx="4928016" cy="369332"/>
          </a:xfrm>
          <a:prstGeom prst="rect">
            <a:avLst/>
          </a:prstGeom>
          <a:noFill/>
        </p:spPr>
        <p:txBody>
          <a:bodyPr wrap="none" rtlCol="0">
            <a:spAutoFit/>
          </a:bodyPr>
          <a:lstStyle/>
          <a:p>
            <a:r>
              <a:rPr lang="en-US" dirty="0"/>
              <a:t>No, we don’t use </a:t>
            </a:r>
            <a:r>
              <a:rPr lang="en-US" dirty="0">
                <a:solidFill>
                  <a:srgbClr val="FF0000"/>
                </a:solidFill>
              </a:rPr>
              <a:t>&amp;</a:t>
            </a:r>
            <a:r>
              <a:rPr lang="en-US" dirty="0"/>
              <a:t> for string and character array</a:t>
            </a:r>
            <a:endParaRPr lang="en-CN" dirty="0"/>
          </a:p>
        </p:txBody>
      </p:sp>
      <p:sp>
        <p:nvSpPr>
          <p:cNvPr id="10" name="TextBox 9">
            <a:extLst>
              <a:ext uri="{FF2B5EF4-FFF2-40B4-BE49-F238E27FC236}">
                <a16:creationId xmlns:a16="http://schemas.microsoft.com/office/drawing/2014/main" id="{780EF207-899B-2027-FFEB-B319100B8F43}"/>
              </a:ext>
            </a:extLst>
          </p:cNvPr>
          <p:cNvSpPr txBox="1"/>
          <p:nvPr/>
        </p:nvSpPr>
        <p:spPr>
          <a:xfrm>
            <a:off x="5873676" y="6146866"/>
            <a:ext cx="5212517" cy="646331"/>
          </a:xfrm>
          <a:prstGeom prst="rect">
            <a:avLst/>
          </a:prstGeom>
          <a:noFill/>
        </p:spPr>
        <p:txBody>
          <a:bodyPr wrap="none" rtlCol="0">
            <a:spAutoFit/>
          </a:bodyPr>
          <a:lstStyle/>
          <a:p>
            <a:r>
              <a:rPr lang="en-US" dirty="0" err="1">
                <a:solidFill>
                  <a:srgbClr val="FF0000"/>
                </a:solidFill>
                <a:latin typeface="Courier New" panose="02070309020205020404" pitchFamily="49" charset="0"/>
                <a:cs typeface="Courier New" panose="02070309020205020404" pitchFamily="49" charset="0"/>
              </a:rPr>
              <a:t>printf</a:t>
            </a:r>
            <a:r>
              <a:rPr lang="en-US" dirty="0">
                <a:solidFill>
                  <a:srgbClr val="FF0000"/>
                </a:solidFill>
                <a:latin typeface="Courier New" panose="02070309020205020404" pitchFamily="49" charset="0"/>
                <a:cs typeface="Courier New" panose="02070309020205020404" pitchFamily="49" charset="0"/>
              </a:rPr>
              <a:t>()   </a:t>
            </a:r>
            <a:r>
              <a:rPr lang="en-US" dirty="0">
                <a:solidFill>
                  <a:srgbClr val="FF0000"/>
                </a:solidFill>
              </a:rPr>
              <a:t>// OUTPUT → prints to the screen</a:t>
            </a:r>
          </a:p>
          <a:p>
            <a:r>
              <a:rPr lang="en-US" dirty="0" err="1">
                <a:solidFill>
                  <a:srgbClr val="FF0000"/>
                </a:solidFill>
                <a:latin typeface="Courier New" panose="02070309020205020404" pitchFamily="49" charset="0"/>
                <a:cs typeface="Courier New" panose="02070309020205020404" pitchFamily="49" charset="0"/>
              </a:rPr>
              <a:t>scanf</a:t>
            </a:r>
            <a:r>
              <a:rPr lang="en-US" dirty="0">
                <a:solidFill>
                  <a:srgbClr val="FF0000"/>
                </a:solidFill>
                <a:latin typeface="Courier New" panose="02070309020205020404" pitchFamily="49" charset="0"/>
                <a:cs typeface="Courier New" panose="02070309020205020404" pitchFamily="49" charset="0"/>
              </a:rPr>
              <a:t>()    </a:t>
            </a:r>
            <a:r>
              <a:rPr lang="en-US" dirty="0">
                <a:solidFill>
                  <a:srgbClr val="FF0000"/>
                </a:solidFill>
              </a:rPr>
              <a:t>// INPUT  → reads from the keyboard</a:t>
            </a:r>
            <a:endParaRPr lang="en-CN" dirty="0">
              <a:solidFill>
                <a:srgbClr val="FF0000"/>
              </a:solidFill>
            </a:endParaRPr>
          </a:p>
        </p:txBody>
      </p:sp>
    </p:spTree>
    <p:extLst>
      <p:ext uri="{BB962C8B-B14F-4D97-AF65-F5344CB8AC3E}">
        <p14:creationId xmlns:p14="http://schemas.microsoft.com/office/powerpoint/2010/main" val="605146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64A91-D56D-3E13-B6F2-55AA19E9B707}"/>
              </a:ext>
            </a:extLst>
          </p:cNvPr>
          <p:cNvSpPr>
            <a:spLocks noGrp="1"/>
          </p:cNvSpPr>
          <p:nvPr>
            <p:ph type="title"/>
          </p:nvPr>
        </p:nvSpPr>
        <p:spPr>
          <a:xfrm>
            <a:off x="359228" y="205468"/>
            <a:ext cx="10515600" cy="1057275"/>
          </a:xfrm>
        </p:spPr>
        <p:txBody>
          <a:bodyPr>
            <a:normAutofit/>
          </a:bodyPr>
          <a:lstStyle/>
          <a:p>
            <a:r>
              <a:rPr lang="en-US" dirty="0"/>
              <a:t>S</a:t>
            </a:r>
            <a:r>
              <a:rPr lang="en-CN" dirty="0"/>
              <a:t>canf vs. Printf</a:t>
            </a:r>
          </a:p>
        </p:txBody>
      </p:sp>
      <p:graphicFrame>
        <p:nvGraphicFramePr>
          <p:cNvPr id="4" name="Table 3">
            <a:extLst>
              <a:ext uri="{FF2B5EF4-FFF2-40B4-BE49-F238E27FC236}">
                <a16:creationId xmlns:a16="http://schemas.microsoft.com/office/drawing/2014/main" id="{B89ED5DB-AAB1-DFB8-2F05-B60D428191D3}"/>
              </a:ext>
            </a:extLst>
          </p:cNvPr>
          <p:cNvGraphicFramePr>
            <a:graphicFrameLocks noGrp="1"/>
          </p:cNvGraphicFramePr>
          <p:nvPr>
            <p:extLst>
              <p:ext uri="{D42A27DB-BD31-4B8C-83A1-F6EECF244321}">
                <p14:modId xmlns:p14="http://schemas.microsoft.com/office/powerpoint/2010/main" val="4195378529"/>
              </p:ext>
            </p:extLst>
          </p:nvPr>
        </p:nvGraphicFramePr>
        <p:xfrm>
          <a:off x="359228" y="1262743"/>
          <a:ext cx="10515600" cy="219456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2236975362"/>
                    </a:ext>
                  </a:extLst>
                </a:gridCol>
                <a:gridCol w="3505200">
                  <a:extLst>
                    <a:ext uri="{9D8B030D-6E8A-4147-A177-3AD203B41FA5}">
                      <a16:colId xmlns:a16="http://schemas.microsoft.com/office/drawing/2014/main" val="3466071975"/>
                    </a:ext>
                  </a:extLst>
                </a:gridCol>
                <a:gridCol w="3505200">
                  <a:extLst>
                    <a:ext uri="{9D8B030D-6E8A-4147-A177-3AD203B41FA5}">
                      <a16:colId xmlns:a16="http://schemas.microsoft.com/office/drawing/2014/main" val="2017864449"/>
                    </a:ext>
                  </a:extLst>
                </a:gridCol>
              </a:tblGrid>
              <a:tr h="0">
                <a:tc>
                  <a:txBody>
                    <a:bodyPr/>
                    <a:lstStyle/>
                    <a:p>
                      <a:pPr>
                        <a:buNone/>
                      </a:pPr>
                      <a:r>
                        <a:rPr lang="en-CN"/>
                        <a:t>Data type</a:t>
                      </a:r>
                    </a:p>
                  </a:txBody>
                  <a:tcPr anchor="ctr"/>
                </a:tc>
                <a:tc>
                  <a:txBody>
                    <a:bodyPr/>
                    <a:lstStyle/>
                    <a:p>
                      <a:pPr>
                        <a:buNone/>
                      </a:pPr>
                      <a:r>
                        <a:rPr lang="en-CN"/>
                        <a:t>scanf()</a:t>
                      </a:r>
                    </a:p>
                  </a:txBody>
                  <a:tcPr anchor="ctr"/>
                </a:tc>
                <a:tc>
                  <a:txBody>
                    <a:bodyPr/>
                    <a:lstStyle/>
                    <a:p>
                      <a:pPr>
                        <a:buNone/>
                      </a:pPr>
                      <a:r>
                        <a:rPr lang="en-CN"/>
                        <a:t>printf()</a:t>
                      </a:r>
                    </a:p>
                  </a:txBody>
                  <a:tcPr anchor="ctr"/>
                </a:tc>
                <a:extLst>
                  <a:ext uri="{0D108BD9-81ED-4DB2-BD59-A6C34878D82A}">
                    <a16:rowId xmlns:a16="http://schemas.microsoft.com/office/drawing/2014/main" val="3298147341"/>
                  </a:ext>
                </a:extLst>
              </a:tr>
              <a:tr h="0">
                <a:tc>
                  <a:txBody>
                    <a:bodyPr/>
                    <a:lstStyle/>
                    <a:p>
                      <a:pPr>
                        <a:buNone/>
                      </a:pPr>
                      <a:r>
                        <a:rPr lang="en-CN"/>
                        <a:t>char</a:t>
                      </a:r>
                    </a:p>
                  </a:txBody>
                  <a:tcPr anchor="ctr"/>
                </a:tc>
                <a:tc>
                  <a:txBody>
                    <a:bodyPr/>
                    <a:lstStyle/>
                    <a:p>
                      <a:pPr>
                        <a:buNone/>
                      </a:pPr>
                      <a:r>
                        <a:rPr lang="en-CN"/>
                        <a:t>%c</a:t>
                      </a:r>
                    </a:p>
                  </a:txBody>
                  <a:tcPr anchor="ctr"/>
                </a:tc>
                <a:tc>
                  <a:txBody>
                    <a:bodyPr/>
                    <a:lstStyle/>
                    <a:p>
                      <a:pPr>
                        <a:buNone/>
                      </a:pPr>
                      <a:r>
                        <a:rPr lang="en-CN"/>
                        <a:t>%c</a:t>
                      </a:r>
                    </a:p>
                  </a:txBody>
                  <a:tcPr anchor="ctr"/>
                </a:tc>
                <a:extLst>
                  <a:ext uri="{0D108BD9-81ED-4DB2-BD59-A6C34878D82A}">
                    <a16:rowId xmlns:a16="http://schemas.microsoft.com/office/drawing/2014/main" val="1164386433"/>
                  </a:ext>
                </a:extLst>
              </a:tr>
              <a:tr h="0">
                <a:tc>
                  <a:txBody>
                    <a:bodyPr/>
                    <a:lstStyle/>
                    <a:p>
                      <a:pPr>
                        <a:buNone/>
                      </a:pPr>
                      <a:r>
                        <a:rPr lang="en-CN"/>
                        <a:t>int</a:t>
                      </a:r>
                    </a:p>
                  </a:txBody>
                  <a:tcPr anchor="ctr"/>
                </a:tc>
                <a:tc>
                  <a:txBody>
                    <a:bodyPr/>
                    <a:lstStyle/>
                    <a:p>
                      <a:pPr>
                        <a:buNone/>
                      </a:pPr>
                      <a:r>
                        <a:rPr lang="en-CN"/>
                        <a:t>%d</a:t>
                      </a:r>
                    </a:p>
                  </a:txBody>
                  <a:tcPr anchor="ctr"/>
                </a:tc>
                <a:tc>
                  <a:txBody>
                    <a:bodyPr/>
                    <a:lstStyle/>
                    <a:p>
                      <a:pPr>
                        <a:buNone/>
                      </a:pPr>
                      <a:r>
                        <a:rPr lang="en-CN"/>
                        <a:t>%d</a:t>
                      </a:r>
                    </a:p>
                  </a:txBody>
                  <a:tcPr anchor="ctr"/>
                </a:tc>
                <a:extLst>
                  <a:ext uri="{0D108BD9-81ED-4DB2-BD59-A6C34878D82A}">
                    <a16:rowId xmlns:a16="http://schemas.microsoft.com/office/drawing/2014/main" val="2072313685"/>
                  </a:ext>
                </a:extLst>
              </a:tr>
              <a:tr h="0">
                <a:tc>
                  <a:txBody>
                    <a:bodyPr/>
                    <a:lstStyle/>
                    <a:p>
                      <a:pPr>
                        <a:buNone/>
                      </a:pPr>
                      <a:r>
                        <a:rPr lang="en-CN"/>
                        <a:t>float</a:t>
                      </a:r>
                    </a:p>
                  </a:txBody>
                  <a:tcPr anchor="ctr"/>
                </a:tc>
                <a:tc>
                  <a:txBody>
                    <a:bodyPr/>
                    <a:lstStyle/>
                    <a:p>
                      <a:pPr>
                        <a:buNone/>
                      </a:pPr>
                      <a:r>
                        <a:rPr lang="en-CN"/>
                        <a:t>%f</a:t>
                      </a:r>
                    </a:p>
                  </a:txBody>
                  <a:tcPr anchor="ctr"/>
                </a:tc>
                <a:tc>
                  <a:txBody>
                    <a:bodyPr/>
                    <a:lstStyle/>
                    <a:p>
                      <a:pPr>
                        <a:buNone/>
                      </a:pPr>
                      <a:r>
                        <a:rPr lang="en-CN"/>
                        <a:t>%f</a:t>
                      </a:r>
                    </a:p>
                  </a:txBody>
                  <a:tcPr anchor="ctr"/>
                </a:tc>
                <a:extLst>
                  <a:ext uri="{0D108BD9-81ED-4DB2-BD59-A6C34878D82A}">
                    <a16:rowId xmlns:a16="http://schemas.microsoft.com/office/drawing/2014/main" val="2970751367"/>
                  </a:ext>
                </a:extLst>
              </a:tr>
              <a:tr h="0">
                <a:tc>
                  <a:txBody>
                    <a:bodyPr/>
                    <a:lstStyle/>
                    <a:p>
                      <a:pPr>
                        <a:buNone/>
                      </a:pPr>
                      <a:r>
                        <a:rPr lang="en-CN"/>
                        <a:t>double</a:t>
                      </a:r>
                    </a:p>
                  </a:txBody>
                  <a:tcPr anchor="ctr"/>
                </a:tc>
                <a:tc>
                  <a:txBody>
                    <a:bodyPr/>
                    <a:lstStyle/>
                    <a:p>
                      <a:pPr>
                        <a:buNone/>
                      </a:pPr>
                      <a:r>
                        <a:rPr lang="en-CN"/>
                        <a:t>%lf</a:t>
                      </a:r>
                    </a:p>
                  </a:txBody>
                  <a:tcPr anchor="ctr"/>
                </a:tc>
                <a:tc>
                  <a:txBody>
                    <a:bodyPr/>
                    <a:lstStyle/>
                    <a:p>
                      <a:pPr>
                        <a:buNone/>
                      </a:pPr>
                      <a:r>
                        <a:rPr lang="en-CN"/>
                        <a:t>%f</a:t>
                      </a:r>
                    </a:p>
                  </a:txBody>
                  <a:tcPr anchor="ctr"/>
                </a:tc>
                <a:extLst>
                  <a:ext uri="{0D108BD9-81ED-4DB2-BD59-A6C34878D82A}">
                    <a16:rowId xmlns:a16="http://schemas.microsoft.com/office/drawing/2014/main" val="489065586"/>
                  </a:ext>
                </a:extLst>
              </a:tr>
              <a:tr h="0">
                <a:tc>
                  <a:txBody>
                    <a:bodyPr/>
                    <a:lstStyle/>
                    <a:p>
                      <a:pPr>
                        <a:buNone/>
                      </a:pPr>
                      <a:r>
                        <a:rPr lang="en-CN" dirty="0"/>
                        <a:t>C-style string</a:t>
                      </a:r>
                    </a:p>
                  </a:txBody>
                  <a:tcPr anchor="ctr"/>
                </a:tc>
                <a:tc>
                  <a:txBody>
                    <a:bodyPr/>
                    <a:lstStyle/>
                    <a:p>
                      <a:pPr>
                        <a:buNone/>
                      </a:pPr>
                      <a:r>
                        <a:rPr lang="en-CN"/>
                        <a:t>%s</a:t>
                      </a:r>
                    </a:p>
                  </a:txBody>
                  <a:tcPr anchor="ctr"/>
                </a:tc>
                <a:tc>
                  <a:txBody>
                    <a:bodyPr/>
                    <a:lstStyle/>
                    <a:p>
                      <a:pPr>
                        <a:buNone/>
                      </a:pPr>
                      <a:r>
                        <a:rPr lang="en-CN" dirty="0"/>
                        <a:t>%s</a:t>
                      </a:r>
                    </a:p>
                  </a:txBody>
                  <a:tcPr anchor="ctr"/>
                </a:tc>
                <a:extLst>
                  <a:ext uri="{0D108BD9-81ED-4DB2-BD59-A6C34878D82A}">
                    <a16:rowId xmlns:a16="http://schemas.microsoft.com/office/drawing/2014/main" val="2633154191"/>
                  </a:ext>
                </a:extLst>
              </a:tr>
            </a:tbl>
          </a:graphicData>
        </a:graphic>
      </p:graphicFrame>
      <p:sp>
        <p:nvSpPr>
          <p:cNvPr id="5" name="TextBox 4">
            <a:extLst>
              <a:ext uri="{FF2B5EF4-FFF2-40B4-BE49-F238E27FC236}">
                <a16:creationId xmlns:a16="http://schemas.microsoft.com/office/drawing/2014/main" id="{BE493A3F-1162-9B8D-2C58-75F1BA4DFF18}"/>
              </a:ext>
            </a:extLst>
          </p:cNvPr>
          <p:cNvSpPr txBox="1"/>
          <p:nvPr/>
        </p:nvSpPr>
        <p:spPr>
          <a:xfrm>
            <a:off x="435429" y="3686629"/>
            <a:ext cx="1470531" cy="369332"/>
          </a:xfrm>
          <a:prstGeom prst="rect">
            <a:avLst/>
          </a:prstGeom>
          <a:noFill/>
        </p:spPr>
        <p:txBody>
          <a:bodyPr wrap="none" rtlCol="0">
            <a:spAutoFit/>
          </a:bodyPr>
          <a:lstStyle/>
          <a:p>
            <a:r>
              <a:rPr lang="en-CN" dirty="0"/>
              <a:t>For example:</a:t>
            </a:r>
          </a:p>
        </p:txBody>
      </p:sp>
      <p:sp>
        <p:nvSpPr>
          <p:cNvPr id="7" name="TextBox 6">
            <a:extLst>
              <a:ext uri="{FF2B5EF4-FFF2-40B4-BE49-F238E27FC236}">
                <a16:creationId xmlns:a16="http://schemas.microsoft.com/office/drawing/2014/main" id="{BF974A6F-D345-36FE-C120-D90D04D59784}"/>
              </a:ext>
            </a:extLst>
          </p:cNvPr>
          <p:cNvSpPr txBox="1"/>
          <p:nvPr/>
        </p:nvSpPr>
        <p:spPr>
          <a:xfrm>
            <a:off x="519057" y="4285287"/>
            <a:ext cx="6094206" cy="2031325"/>
          </a:xfrm>
          <a:prstGeom prst="rect">
            <a:avLst/>
          </a:prstGeom>
          <a:noFill/>
        </p:spPr>
        <p:txBody>
          <a:bodyPr wrap="square">
            <a:spAutoFit/>
          </a:bodyPr>
          <a:lstStyle/>
          <a:p>
            <a:r>
              <a:rPr lang="en-CN" dirty="0">
                <a:latin typeface="Courier New" panose="02070309020205020404" pitchFamily="49" charset="0"/>
                <a:cs typeface="Courier New" panose="02070309020205020404" pitchFamily="49" charset="0"/>
              </a:rPr>
              <a:t>double number;</a:t>
            </a:r>
          </a:p>
          <a:p>
            <a:endParaRPr lang="en-CN" dirty="0">
              <a:latin typeface="Courier New" panose="02070309020205020404" pitchFamily="49" charset="0"/>
              <a:cs typeface="Courier New" panose="02070309020205020404" pitchFamily="49" charset="0"/>
            </a:endParaRPr>
          </a:p>
          <a:p>
            <a:r>
              <a:rPr lang="en-CN" dirty="0">
                <a:latin typeface="Courier New" panose="02070309020205020404" pitchFamily="49" charset="0"/>
                <a:cs typeface="Courier New" panose="02070309020205020404" pitchFamily="49" charset="0"/>
              </a:rPr>
              <a:t>// INPUT</a:t>
            </a:r>
          </a:p>
          <a:p>
            <a:r>
              <a:rPr lang="en-CN" dirty="0">
                <a:latin typeface="Courier New" panose="02070309020205020404" pitchFamily="49" charset="0"/>
                <a:cs typeface="Courier New" panose="02070309020205020404" pitchFamily="49" charset="0"/>
              </a:rPr>
              <a:t>scanf("%lf", &amp;number);</a:t>
            </a:r>
          </a:p>
          <a:p>
            <a:endParaRPr lang="en-CN" dirty="0">
              <a:latin typeface="Courier New" panose="02070309020205020404" pitchFamily="49" charset="0"/>
              <a:cs typeface="Courier New" panose="02070309020205020404" pitchFamily="49" charset="0"/>
            </a:endParaRPr>
          </a:p>
          <a:p>
            <a:r>
              <a:rPr lang="en-CN" dirty="0">
                <a:latin typeface="Courier New" panose="02070309020205020404" pitchFamily="49" charset="0"/>
                <a:cs typeface="Courier New" panose="02070309020205020404" pitchFamily="49" charset="0"/>
              </a:rPr>
              <a:t>// OUTPUT</a:t>
            </a:r>
          </a:p>
          <a:p>
            <a:r>
              <a:rPr lang="en-CN" dirty="0">
                <a:latin typeface="Courier New" panose="02070309020205020404" pitchFamily="49" charset="0"/>
                <a:cs typeface="Courier New" panose="02070309020205020404" pitchFamily="49" charset="0"/>
              </a:rPr>
              <a:t>printf("%f", number);</a:t>
            </a:r>
          </a:p>
        </p:txBody>
      </p:sp>
      <p:sp>
        <p:nvSpPr>
          <p:cNvPr id="8" name="TextBox 7">
            <a:extLst>
              <a:ext uri="{FF2B5EF4-FFF2-40B4-BE49-F238E27FC236}">
                <a16:creationId xmlns:a16="http://schemas.microsoft.com/office/drawing/2014/main" id="{EBFAFE29-25C9-2677-0778-ED948EAF65E3}"/>
              </a:ext>
            </a:extLst>
          </p:cNvPr>
          <p:cNvSpPr txBox="1"/>
          <p:nvPr/>
        </p:nvSpPr>
        <p:spPr>
          <a:xfrm>
            <a:off x="6852621" y="4055961"/>
            <a:ext cx="3355406" cy="923330"/>
          </a:xfrm>
          <a:prstGeom prst="rect">
            <a:avLst/>
          </a:prstGeom>
          <a:noFill/>
        </p:spPr>
        <p:txBody>
          <a:bodyPr wrap="none" rtlCol="0">
            <a:spAutoFit/>
          </a:bodyPr>
          <a:lstStyle/>
          <a:p>
            <a:r>
              <a:rPr lang="en-CN" dirty="0">
                <a:solidFill>
                  <a:srgbClr val="FF0000"/>
                </a:solidFill>
              </a:rPr>
              <a:t>What does this do?</a:t>
            </a:r>
          </a:p>
          <a:p>
            <a:endParaRPr lang="en-CN" dirty="0">
              <a:solidFill>
                <a:srgbClr val="FF0000"/>
              </a:solidFill>
            </a:endParaRPr>
          </a:p>
          <a:p>
            <a:r>
              <a:rPr lang="en-US" dirty="0" err="1">
                <a:solidFill>
                  <a:srgbClr val="FF0000"/>
                </a:solidFill>
                <a:latin typeface="Courier New" panose="02070309020205020404" pitchFamily="49" charset="0"/>
                <a:cs typeface="Courier New" panose="02070309020205020404" pitchFamily="49" charset="0"/>
              </a:rPr>
              <a:t>printf</a:t>
            </a:r>
            <a:r>
              <a:rPr lang="en-US" dirty="0">
                <a:solidFill>
                  <a:srgbClr val="FF0000"/>
                </a:solidFill>
                <a:latin typeface="Courier New" panose="02070309020205020404" pitchFamily="49" charset="0"/>
                <a:cs typeface="Courier New" panose="02070309020205020404" pitchFamily="49" charset="0"/>
              </a:rPr>
              <a:t>("%.4f", number);</a:t>
            </a:r>
            <a:endParaRPr lang="en-CN" dirty="0">
              <a:solidFill>
                <a:srgbClr val="FF0000"/>
              </a:solidFill>
              <a:latin typeface="Courier New" panose="02070309020205020404" pitchFamily="49" charset="0"/>
              <a:cs typeface="Courier New" panose="02070309020205020404" pitchFamily="49" charset="0"/>
            </a:endParaRPr>
          </a:p>
        </p:txBody>
      </p:sp>
      <p:sp>
        <p:nvSpPr>
          <p:cNvPr id="9" name="TextBox 8">
            <a:extLst>
              <a:ext uri="{FF2B5EF4-FFF2-40B4-BE49-F238E27FC236}">
                <a16:creationId xmlns:a16="http://schemas.microsoft.com/office/drawing/2014/main" id="{1B9490E5-96E2-E617-3A6B-BD606D587616}"/>
              </a:ext>
            </a:extLst>
          </p:cNvPr>
          <p:cNvSpPr txBox="1"/>
          <p:nvPr/>
        </p:nvSpPr>
        <p:spPr>
          <a:xfrm>
            <a:off x="6613263" y="5484109"/>
            <a:ext cx="5217390" cy="646331"/>
          </a:xfrm>
          <a:prstGeom prst="rect">
            <a:avLst/>
          </a:prstGeom>
          <a:noFill/>
        </p:spPr>
        <p:txBody>
          <a:bodyPr wrap="none" rtlCol="0">
            <a:spAutoFit/>
          </a:bodyPr>
          <a:lstStyle/>
          <a:p>
            <a:r>
              <a:rPr lang="en-CN" dirty="0">
                <a:solidFill>
                  <a:srgbClr val="FF0000"/>
                </a:solidFill>
              </a:rPr>
              <a:t>%.4f means display the floating-point number with </a:t>
            </a:r>
          </a:p>
          <a:p>
            <a:r>
              <a:rPr lang="en-CN" dirty="0">
                <a:solidFill>
                  <a:srgbClr val="FF0000"/>
                </a:solidFill>
              </a:rPr>
              <a:t>4 digits after the decimal point.</a:t>
            </a:r>
          </a:p>
        </p:txBody>
      </p:sp>
    </p:spTree>
    <p:extLst>
      <p:ext uri="{BB962C8B-B14F-4D97-AF65-F5344CB8AC3E}">
        <p14:creationId xmlns:p14="http://schemas.microsoft.com/office/powerpoint/2010/main" val="2904081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4695-4A53-48CA-2748-AD3C6AC34861}"/>
              </a:ext>
            </a:extLst>
          </p:cNvPr>
          <p:cNvSpPr>
            <a:spLocks noGrp="1"/>
          </p:cNvSpPr>
          <p:nvPr>
            <p:ph type="title"/>
          </p:nvPr>
        </p:nvSpPr>
        <p:spPr>
          <a:xfrm>
            <a:off x="325419" y="319237"/>
            <a:ext cx="10515600" cy="1100818"/>
          </a:xfrm>
        </p:spPr>
        <p:txBody>
          <a:bodyPr/>
          <a:lstStyle/>
          <a:p>
            <a:r>
              <a:rPr lang="en-CN" dirty="0"/>
              <a:t>cstdio</a:t>
            </a:r>
          </a:p>
        </p:txBody>
      </p:sp>
      <p:sp>
        <p:nvSpPr>
          <p:cNvPr id="5" name="TextBox 4">
            <a:extLst>
              <a:ext uri="{FF2B5EF4-FFF2-40B4-BE49-F238E27FC236}">
                <a16:creationId xmlns:a16="http://schemas.microsoft.com/office/drawing/2014/main" id="{5CD90AC0-E343-E04D-CA01-230D42EA6B7C}"/>
              </a:ext>
            </a:extLst>
          </p:cNvPr>
          <p:cNvSpPr txBox="1"/>
          <p:nvPr/>
        </p:nvSpPr>
        <p:spPr>
          <a:xfrm>
            <a:off x="325419" y="2295035"/>
            <a:ext cx="6094206" cy="3693319"/>
          </a:xfrm>
          <a:prstGeom prst="rect">
            <a:avLst/>
          </a:prstGeom>
          <a:noFill/>
        </p:spPr>
        <p:txBody>
          <a:bodyPr wrap="square">
            <a:spAutoFit/>
          </a:bodyPr>
          <a:lstStyle/>
          <a:p>
            <a:r>
              <a:rPr lang="en-CN" dirty="0">
                <a:latin typeface="Courier New" panose="02070309020205020404" pitchFamily="49" charset="0"/>
                <a:cs typeface="Courier New" panose="02070309020205020404" pitchFamily="49" charset="0"/>
              </a:rPr>
              <a:t>#include &lt;cstdio&gt;</a:t>
            </a:r>
          </a:p>
          <a:p>
            <a:endParaRPr lang="en-CN" dirty="0">
              <a:latin typeface="Courier New" panose="02070309020205020404" pitchFamily="49" charset="0"/>
              <a:cs typeface="Courier New" panose="02070309020205020404" pitchFamily="49" charset="0"/>
            </a:endParaRPr>
          </a:p>
          <a:p>
            <a:r>
              <a:rPr lang="en-CN" dirty="0">
                <a:latin typeface="Courier New" panose="02070309020205020404" pitchFamily="49" charset="0"/>
                <a:cs typeface="Courier New" panose="02070309020205020404" pitchFamily="49" charset="0"/>
              </a:rPr>
              <a:t>int main()</a:t>
            </a:r>
          </a:p>
          <a:p>
            <a:r>
              <a:rPr lang="en-CN" dirty="0">
                <a:latin typeface="Courier New" panose="02070309020205020404" pitchFamily="49" charset="0"/>
                <a:cs typeface="Courier New" panose="02070309020205020404" pitchFamily="49" charset="0"/>
              </a:rPr>
              <a:t>{</a:t>
            </a:r>
          </a:p>
          <a:p>
            <a:r>
              <a:rPr lang="en-CN" dirty="0">
                <a:latin typeface="Courier New" panose="02070309020205020404" pitchFamily="49" charset="0"/>
                <a:cs typeface="Courier New" panose="02070309020205020404" pitchFamily="49" charset="0"/>
              </a:rPr>
              <a:t>    int age;</a:t>
            </a:r>
          </a:p>
          <a:p>
            <a:endParaRPr lang="en-CN" dirty="0">
              <a:latin typeface="Courier New" panose="02070309020205020404" pitchFamily="49" charset="0"/>
              <a:cs typeface="Courier New" panose="02070309020205020404" pitchFamily="49" charset="0"/>
            </a:endParaRPr>
          </a:p>
          <a:p>
            <a:r>
              <a:rPr lang="en-CN" dirty="0">
                <a:latin typeface="Courier New" panose="02070309020205020404" pitchFamily="49" charset="0"/>
                <a:cs typeface="Courier New" panose="02070309020205020404" pitchFamily="49" charset="0"/>
              </a:rPr>
              <a:t>    printf("Enter your age: ");</a:t>
            </a:r>
          </a:p>
          <a:p>
            <a:r>
              <a:rPr lang="en-CN" dirty="0">
                <a:latin typeface="Courier New" panose="02070309020205020404" pitchFamily="49" charset="0"/>
                <a:cs typeface="Courier New" panose="02070309020205020404" pitchFamily="49" charset="0"/>
              </a:rPr>
              <a:t>    scanf("%d", &amp;age);</a:t>
            </a:r>
          </a:p>
          <a:p>
            <a:endParaRPr lang="en-CN" dirty="0">
              <a:latin typeface="Courier New" panose="02070309020205020404" pitchFamily="49" charset="0"/>
              <a:cs typeface="Courier New" panose="02070309020205020404" pitchFamily="49" charset="0"/>
            </a:endParaRPr>
          </a:p>
          <a:p>
            <a:r>
              <a:rPr lang="en-CN" dirty="0">
                <a:latin typeface="Courier New" panose="02070309020205020404" pitchFamily="49" charset="0"/>
                <a:cs typeface="Courier New" panose="02070309020205020404" pitchFamily="49" charset="0"/>
              </a:rPr>
              <a:t>    printf("You are %d years old.\n", age);</a:t>
            </a:r>
          </a:p>
          <a:p>
            <a:endParaRPr lang="en-CN" dirty="0">
              <a:latin typeface="Courier New" panose="02070309020205020404" pitchFamily="49" charset="0"/>
              <a:cs typeface="Courier New" panose="02070309020205020404" pitchFamily="49" charset="0"/>
            </a:endParaRPr>
          </a:p>
          <a:p>
            <a:r>
              <a:rPr lang="en-CN" dirty="0">
                <a:latin typeface="Courier New" panose="02070309020205020404" pitchFamily="49" charset="0"/>
                <a:cs typeface="Courier New" panose="02070309020205020404" pitchFamily="49" charset="0"/>
              </a:rPr>
              <a:t>    return 0;</a:t>
            </a:r>
          </a:p>
          <a:p>
            <a:r>
              <a:rPr lang="en-CN" dirty="0">
                <a:latin typeface="Courier New" panose="02070309020205020404" pitchFamily="49" charset="0"/>
                <a:cs typeface="Courier New" panose="02070309020205020404" pitchFamily="49" charset="0"/>
              </a:rPr>
              <a:t>}</a:t>
            </a:r>
          </a:p>
        </p:txBody>
      </p:sp>
      <p:sp>
        <p:nvSpPr>
          <p:cNvPr id="6" name="TextBox 5">
            <a:extLst>
              <a:ext uri="{FF2B5EF4-FFF2-40B4-BE49-F238E27FC236}">
                <a16:creationId xmlns:a16="http://schemas.microsoft.com/office/drawing/2014/main" id="{F7E1EAF4-1D81-CB7C-7D70-7BBB45A2DB89}"/>
              </a:ext>
            </a:extLst>
          </p:cNvPr>
          <p:cNvSpPr txBox="1"/>
          <p:nvPr/>
        </p:nvSpPr>
        <p:spPr>
          <a:xfrm>
            <a:off x="5351849" y="2162287"/>
            <a:ext cx="6391301" cy="923330"/>
          </a:xfrm>
          <a:prstGeom prst="rect">
            <a:avLst/>
          </a:prstGeom>
          <a:noFill/>
        </p:spPr>
        <p:txBody>
          <a:bodyPr wrap="none" rtlCol="0">
            <a:spAutoFit/>
          </a:bodyPr>
          <a:lstStyle/>
          <a:p>
            <a:r>
              <a:rPr lang="en-CN" dirty="0"/>
              <a:t>Why is it called </a:t>
            </a:r>
            <a:r>
              <a:rPr lang="en-CN" dirty="0">
                <a:latin typeface="Courier New" panose="02070309020205020404" pitchFamily="49" charset="0"/>
                <a:cs typeface="Courier New" panose="02070309020205020404" pitchFamily="49" charset="0"/>
              </a:rPr>
              <a:t>cstdio</a:t>
            </a:r>
            <a:r>
              <a:rPr lang="en-CN" dirty="0"/>
              <a:t>?</a:t>
            </a:r>
          </a:p>
          <a:p>
            <a:endParaRPr lang="en-CN" dirty="0"/>
          </a:p>
          <a:p>
            <a:r>
              <a:rPr lang="en-CN" dirty="0"/>
              <a:t>It essentially means C Standard Input/Output adapted for C++.</a:t>
            </a:r>
          </a:p>
        </p:txBody>
      </p:sp>
    </p:spTree>
    <p:extLst>
      <p:ext uri="{BB962C8B-B14F-4D97-AF65-F5344CB8AC3E}">
        <p14:creationId xmlns:p14="http://schemas.microsoft.com/office/powerpoint/2010/main" val="2230775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41432-5513-B773-3C2B-ACCCEC3321AC}"/>
              </a:ext>
            </a:extLst>
          </p:cNvPr>
          <p:cNvSpPr>
            <a:spLocks noGrp="1"/>
          </p:cNvSpPr>
          <p:nvPr>
            <p:ph type="title"/>
          </p:nvPr>
        </p:nvSpPr>
        <p:spPr>
          <a:xfrm>
            <a:off x="301171" y="219982"/>
            <a:ext cx="10515600" cy="1028247"/>
          </a:xfrm>
        </p:spPr>
        <p:txBody>
          <a:bodyPr/>
          <a:lstStyle/>
          <a:p>
            <a:r>
              <a:rPr lang="en-CN" dirty="0"/>
              <a:t>#Include Headers</a:t>
            </a:r>
          </a:p>
        </p:txBody>
      </p:sp>
      <p:graphicFrame>
        <p:nvGraphicFramePr>
          <p:cNvPr id="4" name="Table 3">
            <a:extLst>
              <a:ext uri="{FF2B5EF4-FFF2-40B4-BE49-F238E27FC236}">
                <a16:creationId xmlns:a16="http://schemas.microsoft.com/office/drawing/2014/main" id="{84042C5A-E398-E354-98E9-B46DA66D8D80}"/>
              </a:ext>
            </a:extLst>
          </p:cNvPr>
          <p:cNvGraphicFramePr>
            <a:graphicFrameLocks noGrp="1"/>
          </p:cNvGraphicFramePr>
          <p:nvPr>
            <p:extLst>
              <p:ext uri="{D42A27DB-BD31-4B8C-83A1-F6EECF244321}">
                <p14:modId xmlns:p14="http://schemas.microsoft.com/office/powerpoint/2010/main" val="809004493"/>
              </p:ext>
            </p:extLst>
          </p:nvPr>
        </p:nvGraphicFramePr>
        <p:xfrm>
          <a:off x="431800" y="2033156"/>
          <a:ext cx="10515600" cy="219456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3278880853"/>
                    </a:ext>
                  </a:extLst>
                </a:gridCol>
                <a:gridCol w="5257800">
                  <a:extLst>
                    <a:ext uri="{9D8B030D-6E8A-4147-A177-3AD203B41FA5}">
                      <a16:colId xmlns:a16="http://schemas.microsoft.com/office/drawing/2014/main" val="3944423483"/>
                    </a:ext>
                  </a:extLst>
                </a:gridCol>
              </a:tblGrid>
              <a:tr h="0">
                <a:tc>
                  <a:txBody>
                    <a:bodyPr/>
                    <a:lstStyle/>
                    <a:p>
                      <a:pPr>
                        <a:buNone/>
                      </a:pPr>
                      <a:r>
                        <a:rPr lang="en-CN"/>
                        <a:t>Header</a:t>
                      </a:r>
                    </a:p>
                  </a:txBody>
                  <a:tcPr anchor="ctr"/>
                </a:tc>
                <a:tc>
                  <a:txBody>
                    <a:bodyPr/>
                    <a:lstStyle/>
                    <a:p>
                      <a:pPr>
                        <a:buNone/>
                      </a:pPr>
                      <a:r>
                        <a:rPr lang="en-CN"/>
                        <a:t>Gives you</a:t>
                      </a:r>
                    </a:p>
                  </a:txBody>
                  <a:tcPr anchor="ctr"/>
                </a:tc>
                <a:extLst>
                  <a:ext uri="{0D108BD9-81ED-4DB2-BD59-A6C34878D82A}">
                    <a16:rowId xmlns:a16="http://schemas.microsoft.com/office/drawing/2014/main" val="3041071810"/>
                  </a:ext>
                </a:extLst>
              </a:tr>
              <a:tr h="0">
                <a:tc>
                  <a:txBody>
                    <a:bodyPr/>
                    <a:lstStyle/>
                    <a:p>
                      <a:pPr>
                        <a:buNone/>
                      </a:pPr>
                      <a:r>
                        <a:rPr lang="en-CN"/>
                        <a:t>&lt;iostream&gt;</a:t>
                      </a:r>
                    </a:p>
                  </a:txBody>
                  <a:tcPr anchor="ctr"/>
                </a:tc>
                <a:tc>
                  <a:txBody>
                    <a:bodyPr/>
                    <a:lstStyle/>
                    <a:p>
                      <a:pPr>
                        <a:buNone/>
                      </a:pPr>
                      <a:r>
                        <a:rPr lang="en-CN"/>
                        <a:t>cout, cin, endl</a:t>
                      </a:r>
                    </a:p>
                  </a:txBody>
                  <a:tcPr anchor="ctr"/>
                </a:tc>
                <a:extLst>
                  <a:ext uri="{0D108BD9-81ED-4DB2-BD59-A6C34878D82A}">
                    <a16:rowId xmlns:a16="http://schemas.microsoft.com/office/drawing/2014/main" val="21302641"/>
                  </a:ext>
                </a:extLst>
              </a:tr>
              <a:tr h="0">
                <a:tc>
                  <a:txBody>
                    <a:bodyPr/>
                    <a:lstStyle/>
                    <a:p>
                      <a:pPr>
                        <a:buNone/>
                      </a:pPr>
                      <a:r>
                        <a:rPr lang="en-CN"/>
                        <a:t>&lt;cstdio&gt;</a:t>
                      </a:r>
                    </a:p>
                  </a:txBody>
                  <a:tcPr anchor="ctr"/>
                </a:tc>
                <a:tc>
                  <a:txBody>
                    <a:bodyPr/>
                    <a:lstStyle/>
                    <a:p>
                      <a:pPr>
                        <a:buNone/>
                      </a:pPr>
                      <a:r>
                        <a:rPr lang="en-CN"/>
                        <a:t>printf(), scanf()</a:t>
                      </a:r>
                    </a:p>
                  </a:txBody>
                  <a:tcPr anchor="ctr"/>
                </a:tc>
                <a:extLst>
                  <a:ext uri="{0D108BD9-81ED-4DB2-BD59-A6C34878D82A}">
                    <a16:rowId xmlns:a16="http://schemas.microsoft.com/office/drawing/2014/main" val="2628544993"/>
                  </a:ext>
                </a:extLst>
              </a:tr>
              <a:tr h="0">
                <a:tc>
                  <a:txBody>
                    <a:bodyPr/>
                    <a:lstStyle/>
                    <a:p>
                      <a:pPr>
                        <a:buNone/>
                      </a:pPr>
                      <a:r>
                        <a:rPr lang="en-CN"/>
                        <a:t>&lt;string&gt;</a:t>
                      </a:r>
                    </a:p>
                  </a:txBody>
                  <a:tcPr anchor="ctr"/>
                </a:tc>
                <a:tc>
                  <a:txBody>
                    <a:bodyPr/>
                    <a:lstStyle/>
                    <a:p>
                      <a:pPr>
                        <a:buNone/>
                      </a:pPr>
                      <a:r>
                        <a:rPr lang="en-CN"/>
                        <a:t>string, getline()</a:t>
                      </a:r>
                    </a:p>
                  </a:txBody>
                  <a:tcPr anchor="ctr"/>
                </a:tc>
                <a:extLst>
                  <a:ext uri="{0D108BD9-81ED-4DB2-BD59-A6C34878D82A}">
                    <a16:rowId xmlns:a16="http://schemas.microsoft.com/office/drawing/2014/main" val="1939295961"/>
                  </a:ext>
                </a:extLst>
              </a:tr>
              <a:tr h="0">
                <a:tc>
                  <a:txBody>
                    <a:bodyPr/>
                    <a:lstStyle/>
                    <a:p>
                      <a:pPr>
                        <a:buNone/>
                      </a:pPr>
                      <a:r>
                        <a:rPr lang="en-CN"/>
                        <a:t>&lt;cmath&gt;</a:t>
                      </a:r>
                    </a:p>
                  </a:txBody>
                  <a:tcPr anchor="ctr"/>
                </a:tc>
                <a:tc>
                  <a:txBody>
                    <a:bodyPr/>
                    <a:lstStyle/>
                    <a:p>
                      <a:pPr>
                        <a:buNone/>
                      </a:pPr>
                      <a:r>
                        <a:rPr lang="en-CN"/>
                        <a:t>sqrt(), pow(), etc.</a:t>
                      </a:r>
                    </a:p>
                  </a:txBody>
                  <a:tcPr anchor="ctr"/>
                </a:tc>
                <a:extLst>
                  <a:ext uri="{0D108BD9-81ED-4DB2-BD59-A6C34878D82A}">
                    <a16:rowId xmlns:a16="http://schemas.microsoft.com/office/drawing/2014/main" val="3710257401"/>
                  </a:ext>
                </a:extLst>
              </a:tr>
              <a:tr h="0">
                <a:tc>
                  <a:txBody>
                    <a:bodyPr/>
                    <a:lstStyle/>
                    <a:p>
                      <a:pPr>
                        <a:buNone/>
                      </a:pPr>
                      <a:r>
                        <a:rPr lang="en-CN"/>
                        <a:t>&lt;algorithm&gt;</a:t>
                      </a:r>
                    </a:p>
                  </a:txBody>
                  <a:tcPr anchor="ctr"/>
                </a:tc>
                <a:tc>
                  <a:txBody>
                    <a:bodyPr/>
                    <a:lstStyle/>
                    <a:p>
                      <a:pPr>
                        <a:buNone/>
                      </a:pPr>
                      <a:r>
                        <a:rPr lang="en-CN" dirty="0"/>
                        <a:t>sort(), min(), max(), etc.</a:t>
                      </a:r>
                    </a:p>
                  </a:txBody>
                  <a:tcPr anchor="ctr"/>
                </a:tc>
                <a:extLst>
                  <a:ext uri="{0D108BD9-81ED-4DB2-BD59-A6C34878D82A}">
                    <a16:rowId xmlns:a16="http://schemas.microsoft.com/office/drawing/2014/main" val="3885366898"/>
                  </a:ext>
                </a:extLst>
              </a:tr>
            </a:tbl>
          </a:graphicData>
        </a:graphic>
      </p:graphicFrame>
    </p:spTree>
    <p:extLst>
      <p:ext uri="{BB962C8B-B14F-4D97-AF65-F5344CB8AC3E}">
        <p14:creationId xmlns:p14="http://schemas.microsoft.com/office/powerpoint/2010/main" val="2872940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B7B97-EC86-C851-81DB-A51E4E3BECBB}"/>
              </a:ext>
            </a:extLst>
          </p:cNvPr>
          <p:cNvSpPr>
            <a:spLocks noGrp="1"/>
          </p:cNvSpPr>
          <p:nvPr>
            <p:ph type="title"/>
          </p:nvPr>
        </p:nvSpPr>
        <p:spPr>
          <a:xfrm>
            <a:off x="243114" y="321582"/>
            <a:ext cx="10515600" cy="941161"/>
          </a:xfrm>
        </p:spPr>
        <p:txBody>
          <a:bodyPr/>
          <a:lstStyle/>
          <a:p>
            <a:r>
              <a:rPr lang="en-CN" dirty="0"/>
              <a:t>Brief Introduction to Switch Statement</a:t>
            </a:r>
          </a:p>
        </p:txBody>
      </p:sp>
      <p:sp>
        <p:nvSpPr>
          <p:cNvPr id="4" name="TextBox 3">
            <a:extLst>
              <a:ext uri="{FF2B5EF4-FFF2-40B4-BE49-F238E27FC236}">
                <a16:creationId xmlns:a16="http://schemas.microsoft.com/office/drawing/2014/main" id="{5C8557A6-0ECD-3CE5-7A97-55BE3DE8DA0E}"/>
              </a:ext>
            </a:extLst>
          </p:cNvPr>
          <p:cNvSpPr txBox="1"/>
          <p:nvPr/>
        </p:nvSpPr>
        <p:spPr>
          <a:xfrm>
            <a:off x="243114" y="1547617"/>
            <a:ext cx="7706982" cy="369332"/>
          </a:xfrm>
          <a:prstGeom prst="rect">
            <a:avLst/>
          </a:prstGeom>
          <a:noFill/>
        </p:spPr>
        <p:txBody>
          <a:bodyPr wrap="none" rtlCol="0">
            <a:spAutoFit/>
          </a:bodyPr>
          <a:lstStyle/>
          <a:p>
            <a:r>
              <a:rPr lang="en-CN" dirty="0"/>
              <a:t>Use the switch statement to select one of many code blocks to be executed.</a:t>
            </a:r>
          </a:p>
        </p:txBody>
      </p:sp>
      <p:sp>
        <p:nvSpPr>
          <p:cNvPr id="6" name="TextBox 5">
            <a:extLst>
              <a:ext uri="{FF2B5EF4-FFF2-40B4-BE49-F238E27FC236}">
                <a16:creationId xmlns:a16="http://schemas.microsoft.com/office/drawing/2014/main" id="{BF24F17E-0C62-AC01-7883-F76C9604BE10}"/>
              </a:ext>
            </a:extLst>
          </p:cNvPr>
          <p:cNvSpPr txBox="1"/>
          <p:nvPr/>
        </p:nvSpPr>
        <p:spPr>
          <a:xfrm>
            <a:off x="243114" y="2288612"/>
            <a:ext cx="6248400" cy="2862322"/>
          </a:xfrm>
          <a:prstGeom prst="rect">
            <a:avLst/>
          </a:prstGeom>
          <a:noFill/>
        </p:spPr>
        <p:txBody>
          <a:bodyPr wrap="square">
            <a:spAutoFit/>
          </a:bodyPr>
          <a:lstStyle/>
          <a:p>
            <a:r>
              <a:rPr lang="en-CN" sz="1800" b="0" i="0" dirty="0">
                <a:solidFill>
                  <a:schemeClr val="tx1"/>
                </a:solidFill>
                <a:effectLst/>
                <a:latin typeface="Courier New" panose="02070309020205020404" pitchFamily="49" charset="0"/>
                <a:cs typeface="Courier New" panose="02070309020205020404" pitchFamily="49" charset="0"/>
              </a:rPr>
              <a:t>switch(</a:t>
            </a:r>
            <a:r>
              <a:rPr lang="en-CN" sz="1800" b="0" i="1" dirty="0">
                <a:solidFill>
                  <a:schemeClr val="tx1"/>
                </a:solidFill>
                <a:effectLst/>
                <a:latin typeface="Courier New" panose="02070309020205020404" pitchFamily="49" charset="0"/>
                <a:cs typeface="Courier New" panose="02070309020205020404" pitchFamily="49" charset="0"/>
              </a:rPr>
              <a:t>expression</a:t>
            </a:r>
            <a:r>
              <a:rPr lang="en-CN" sz="1800" b="0" i="0" dirty="0">
                <a:solidFill>
                  <a:schemeClr val="tx1"/>
                </a:solidFill>
                <a:effectLst/>
                <a:latin typeface="Courier New" panose="02070309020205020404" pitchFamily="49" charset="0"/>
                <a:cs typeface="Courier New" panose="02070309020205020404" pitchFamily="49" charset="0"/>
              </a:rPr>
              <a:t>) {</a:t>
            </a:r>
            <a:br>
              <a:rPr lang="en-CN" sz="1800" b="0" i="0" dirty="0">
                <a:solidFill>
                  <a:schemeClr val="tx1"/>
                </a:solidFill>
                <a:effectLst/>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case x:</a:t>
            </a:r>
            <a:br>
              <a:rPr lang="en-CN" sz="1800" b="0" i="0" dirty="0">
                <a:solidFill>
                  <a:schemeClr val="tx1"/>
                </a:solidFill>
                <a:effectLst/>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a:t>
            </a:r>
            <a:r>
              <a:rPr lang="en-CN" sz="1800" b="0" i="1" dirty="0">
                <a:solidFill>
                  <a:schemeClr val="tx1"/>
                </a:solidFill>
                <a:effectLst/>
                <a:latin typeface="Courier New" panose="02070309020205020404" pitchFamily="49" charset="0"/>
                <a:cs typeface="Courier New" panose="02070309020205020404" pitchFamily="49" charset="0"/>
              </a:rPr>
              <a:t>// code block</a:t>
            </a:r>
            <a:br>
              <a:rPr lang="en-CN" sz="1800" b="0" i="0" dirty="0">
                <a:solidFill>
                  <a:schemeClr val="tx1"/>
                </a:solidFill>
                <a:effectLst/>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break;</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case y:</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a:t>
            </a:r>
            <a:r>
              <a:rPr lang="en-CN" sz="1800" b="0" i="1" dirty="0">
                <a:solidFill>
                  <a:schemeClr val="tx1"/>
                </a:solidFill>
                <a:effectLst/>
                <a:latin typeface="Courier New" panose="02070309020205020404" pitchFamily="49" charset="0"/>
                <a:cs typeface="Courier New" panose="02070309020205020404" pitchFamily="49" charset="0"/>
              </a:rPr>
              <a:t>// code block</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break;</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default:</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a:t>
            </a:r>
            <a:r>
              <a:rPr lang="en-CN" sz="1800" b="0" i="1" dirty="0">
                <a:solidFill>
                  <a:schemeClr val="tx1"/>
                </a:solidFill>
                <a:effectLst/>
                <a:latin typeface="Courier New" panose="02070309020205020404" pitchFamily="49" charset="0"/>
                <a:cs typeface="Courier New" panose="02070309020205020404" pitchFamily="49" charset="0"/>
              </a:rPr>
              <a:t>// code block</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a:t>
            </a:r>
            <a:endParaRPr lang="en-CN" dirty="0">
              <a:latin typeface="Courier New" panose="02070309020205020404" pitchFamily="49" charset="0"/>
              <a:cs typeface="Courier New" panose="02070309020205020404" pitchFamily="49" charset="0"/>
            </a:endParaRPr>
          </a:p>
        </p:txBody>
      </p:sp>
      <p:sp>
        <p:nvSpPr>
          <p:cNvPr id="8" name="TextBox 7">
            <a:extLst>
              <a:ext uri="{FF2B5EF4-FFF2-40B4-BE49-F238E27FC236}">
                <a16:creationId xmlns:a16="http://schemas.microsoft.com/office/drawing/2014/main" id="{DD6FB57E-4223-0690-FE65-D646B850FEBF}"/>
              </a:ext>
            </a:extLst>
          </p:cNvPr>
          <p:cNvSpPr txBox="1"/>
          <p:nvPr/>
        </p:nvSpPr>
        <p:spPr>
          <a:xfrm>
            <a:off x="5554132" y="2413337"/>
            <a:ext cx="6058823" cy="1754326"/>
          </a:xfrm>
          <a:prstGeom prst="rect">
            <a:avLst/>
          </a:prstGeom>
          <a:noFill/>
        </p:spPr>
        <p:txBody>
          <a:bodyPr wrap="square">
            <a:spAutoFit/>
          </a:bodyPr>
          <a:lstStyle/>
          <a:p>
            <a:pPr marL="342900" lvl="0" indent="-342900" algn="l">
              <a:buFont typeface="Arial" panose="020B0604020202020204" pitchFamily="34" charset="0"/>
              <a:buChar char="•"/>
            </a:pPr>
            <a:r>
              <a:rPr lang="en-CN" sz="1800" b="0" i="0" dirty="0">
                <a:solidFill>
                  <a:schemeClr val="tx1"/>
                </a:solidFill>
                <a:effectLst/>
                <a:latin typeface="+mn-lt"/>
              </a:rPr>
              <a:t>The switch expression is evaluated once</a:t>
            </a:r>
          </a:p>
          <a:p>
            <a:pPr marL="342900" lvl="0" indent="-342900" algn="l">
              <a:buFont typeface="Arial" panose="020B0604020202020204" pitchFamily="34" charset="0"/>
              <a:buChar char="•"/>
            </a:pPr>
            <a:r>
              <a:rPr lang="en-CN" sz="1800" b="0" i="0" dirty="0">
                <a:solidFill>
                  <a:schemeClr val="tx1"/>
                </a:solidFill>
                <a:effectLst/>
                <a:latin typeface="+mn-lt"/>
              </a:rPr>
              <a:t>The value of the expression is compared with the values of each case</a:t>
            </a:r>
          </a:p>
          <a:p>
            <a:pPr marL="342900" lvl="0" indent="-342900" algn="l">
              <a:buFont typeface="Arial" panose="020B0604020202020204" pitchFamily="34" charset="0"/>
              <a:buChar char="•"/>
            </a:pPr>
            <a:r>
              <a:rPr lang="en-CN" sz="1800" b="0" i="0" dirty="0">
                <a:solidFill>
                  <a:schemeClr val="tx1"/>
                </a:solidFill>
                <a:effectLst/>
                <a:latin typeface="+mn-lt"/>
              </a:rPr>
              <a:t>If there is a match, the associated block of code is executed</a:t>
            </a:r>
          </a:p>
          <a:p>
            <a:pPr marL="342900" lvl="0" indent="-342900" algn="l">
              <a:buFont typeface="Arial" panose="020B0604020202020204" pitchFamily="34" charset="0"/>
              <a:buChar char="•"/>
            </a:pPr>
            <a:r>
              <a:rPr lang="en-CN" sz="1800" b="0" i="0" dirty="0">
                <a:solidFill>
                  <a:schemeClr val="tx1"/>
                </a:solidFill>
                <a:effectLst/>
                <a:latin typeface="+mn-lt"/>
              </a:rPr>
              <a:t>The break and default keywords are optional</a:t>
            </a:r>
            <a:endParaRPr lang="en-CN" sz="1200" b="0" i="0" dirty="0">
              <a:solidFill>
                <a:srgbClr val="000000"/>
              </a:solidFill>
              <a:effectLst/>
              <a:latin typeface="Segoe UI" panose="020B0502040204020203" pitchFamily="34" charset="0"/>
            </a:endParaRPr>
          </a:p>
        </p:txBody>
      </p:sp>
      <p:sp>
        <p:nvSpPr>
          <p:cNvPr id="9" name="TextBox 8">
            <a:extLst>
              <a:ext uri="{FF2B5EF4-FFF2-40B4-BE49-F238E27FC236}">
                <a16:creationId xmlns:a16="http://schemas.microsoft.com/office/drawing/2014/main" id="{4B755E14-0C89-A44D-D015-D7EB93E77210}"/>
              </a:ext>
            </a:extLst>
          </p:cNvPr>
          <p:cNvSpPr txBox="1"/>
          <p:nvPr/>
        </p:nvSpPr>
        <p:spPr>
          <a:xfrm>
            <a:off x="4690331" y="4826675"/>
            <a:ext cx="7501669" cy="2031325"/>
          </a:xfrm>
          <a:prstGeom prst="rect">
            <a:avLst/>
          </a:prstGeom>
          <a:noFill/>
        </p:spPr>
        <p:txBody>
          <a:bodyPr wrap="none" rtlCol="0">
            <a:spAutoFit/>
          </a:bodyPr>
          <a:lstStyle/>
          <a:p>
            <a:r>
              <a:rPr lang="en-CN" dirty="0">
                <a:solidFill>
                  <a:srgbClr val="FF0000"/>
                </a:solidFill>
              </a:rPr>
              <a:t>switch is a type of branching (selection) statement.</a:t>
            </a:r>
          </a:p>
          <a:p>
            <a:pPr lvl="0"/>
            <a:r>
              <a:rPr lang="en-CN" dirty="0">
                <a:solidFill>
                  <a:srgbClr val="FF0000"/>
                </a:solidFill>
              </a:rPr>
              <a:t>if</a:t>
            </a:r>
          </a:p>
          <a:p>
            <a:pPr lvl="0"/>
            <a:r>
              <a:rPr lang="en-CN" dirty="0">
                <a:solidFill>
                  <a:srgbClr val="FF0000"/>
                </a:solidFill>
              </a:rPr>
              <a:t>if...else</a:t>
            </a:r>
          </a:p>
          <a:p>
            <a:pPr lvl="0"/>
            <a:r>
              <a:rPr lang="en-CN" dirty="0">
                <a:solidFill>
                  <a:srgbClr val="FF0000"/>
                </a:solidFill>
              </a:rPr>
              <a:t>if...else if...else</a:t>
            </a:r>
          </a:p>
          <a:p>
            <a:pPr lvl="0"/>
            <a:r>
              <a:rPr lang="en-US" dirty="0">
                <a:solidFill>
                  <a:srgbClr val="FF0000"/>
                </a:solidFill>
              </a:rPr>
              <a:t>S</a:t>
            </a:r>
            <a:r>
              <a:rPr lang="en-CN" dirty="0">
                <a:solidFill>
                  <a:srgbClr val="FF0000"/>
                </a:solidFill>
              </a:rPr>
              <a:t>witch</a:t>
            </a:r>
          </a:p>
          <a:p>
            <a:pPr lvl="0"/>
            <a:r>
              <a:rPr lang="en-CN" dirty="0">
                <a:solidFill>
                  <a:srgbClr val="FF0000"/>
                </a:solidFill>
              </a:rPr>
              <a:t>switch usually compares </a:t>
            </a:r>
            <a:r>
              <a:rPr lang="en-CN" b="1" dirty="0">
                <a:solidFill>
                  <a:srgbClr val="FF0000"/>
                </a:solidFill>
              </a:rPr>
              <a:t>one expression against specific case values</a:t>
            </a:r>
            <a:r>
              <a:rPr lang="en-CN" dirty="0">
                <a:solidFill>
                  <a:srgbClr val="FF0000"/>
                </a:solidFill>
              </a:rPr>
              <a:t>:</a:t>
            </a:r>
          </a:p>
          <a:p>
            <a:endParaRPr lang="en-CN" dirty="0">
              <a:solidFill>
                <a:srgbClr val="FF0000"/>
              </a:solidFill>
            </a:endParaRPr>
          </a:p>
        </p:txBody>
      </p:sp>
    </p:spTree>
    <p:extLst>
      <p:ext uri="{BB962C8B-B14F-4D97-AF65-F5344CB8AC3E}">
        <p14:creationId xmlns:p14="http://schemas.microsoft.com/office/powerpoint/2010/main" val="2281277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6195C-F3AF-653E-A0BB-8171404E3789}"/>
              </a:ext>
            </a:extLst>
          </p:cNvPr>
          <p:cNvSpPr>
            <a:spLocks noGrp="1"/>
          </p:cNvSpPr>
          <p:nvPr>
            <p:ph type="title"/>
          </p:nvPr>
        </p:nvSpPr>
        <p:spPr>
          <a:xfrm>
            <a:off x="93133" y="-16933"/>
            <a:ext cx="10515600" cy="668447"/>
          </a:xfrm>
        </p:spPr>
        <p:txBody>
          <a:bodyPr>
            <a:normAutofit fontScale="90000"/>
          </a:bodyPr>
          <a:lstStyle/>
          <a:p>
            <a:r>
              <a:rPr lang="en-CN" dirty="0"/>
              <a:t>Example</a:t>
            </a:r>
          </a:p>
        </p:txBody>
      </p:sp>
      <p:sp>
        <p:nvSpPr>
          <p:cNvPr id="5" name="TextBox 4">
            <a:extLst>
              <a:ext uri="{FF2B5EF4-FFF2-40B4-BE49-F238E27FC236}">
                <a16:creationId xmlns:a16="http://schemas.microsoft.com/office/drawing/2014/main" id="{E80D9967-7719-8A7E-FD9A-F606F1F2770D}"/>
              </a:ext>
            </a:extLst>
          </p:cNvPr>
          <p:cNvSpPr txBox="1"/>
          <p:nvPr/>
        </p:nvSpPr>
        <p:spPr>
          <a:xfrm>
            <a:off x="465667" y="617228"/>
            <a:ext cx="6100010" cy="6247864"/>
          </a:xfrm>
          <a:prstGeom prst="rect">
            <a:avLst/>
          </a:prstGeom>
          <a:noFill/>
        </p:spPr>
        <p:txBody>
          <a:bodyPr wrap="square">
            <a:spAutoFit/>
          </a:bodyPr>
          <a:lstStyle/>
          <a:p>
            <a:r>
              <a:rPr lang="en-CN" sz="1600" b="0" i="0" dirty="0">
                <a:solidFill>
                  <a:schemeClr val="tx1"/>
                </a:solidFill>
                <a:effectLst/>
                <a:latin typeface="Courier New" panose="02070309020205020404" pitchFamily="49" charset="0"/>
                <a:cs typeface="Courier New" panose="02070309020205020404" pitchFamily="49" charset="0"/>
              </a:rPr>
              <a:t>int day = 4;</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switch (day) {</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case 1:</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cout &lt;&lt; "Monday";</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break;</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case 2:</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cout &lt;&lt; "Tuesday";</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break;</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case 3:</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cout &lt;&lt; "Wednesday";</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break;</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case 4:</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cout &lt;&lt; "Thursday";</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break;</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case 5:</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cout &lt;&lt; "Friday";</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break;</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case 6:</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cout &lt;&lt; "Saturday";</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break;</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case 7:</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cout &lt;&lt; "Sunday";</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break;</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a:t>
            </a:r>
            <a:br>
              <a:rPr lang="en-CN" sz="1600" dirty="0">
                <a:latin typeface="Courier New" panose="02070309020205020404" pitchFamily="49" charset="0"/>
                <a:cs typeface="Courier New" panose="02070309020205020404" pitchFamily="49" charset="0"/>
              </a:rPr>
            </a:br>
            <a:r>
              <a:rPr lang="en-CN" sz="1600" b="0" i="0" dirty="0">
                <a:solidFill>
                  <a:schemeClr val="tx1"/>
                </a:solidFill>
                <a:effectLst/>
                <a:latin typeface="Courier New" panose="02070309020205020404" pitchFamily="49" charset="0"/>
                <a:cs typeface="Courier New" panose="02070309020205020404" pitchFamily="49" charset="0"/>
              </a:rPr>
              <a:t>// Outputs "Thursday" (day 4)</a:t>
            </a:r>
            <a:endParaRPr lang="en-CN" sz="1600"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D6EF22D0-5974-2B08-3FF9-0E4F8C1DFCEB}"/>
              </a:ext>
            </a:extLst>
          </p:cNvPr>
          <p:cNvSpPr txBox="1"/>
          <p:nvPr/>
        </p:nvSpPr>
        <p:spPr>
          <a:xfrm>
            <a:off x="4449233" y="386395"/>
            <a:ext cx="6159500" cy="1200329"/>
          </a:xfrm>
          <a:prstGeom prst="rect">
            <a:avLst/>
          </a:prstGeom>
          <a:noFill/>
        </p:spPr>
        <p:txBody>
          <a:bodyPr wrap="square">
            <a:spAutoFit/>
          </a:bodyPr>
          <a:lstStyle/>
          <a:p>
            <a:r>
              <a:rPr lang="en-CN" dirty="0">
                <a:solidFill>
                  <a:srgbClr val="FF0000"/>
                </a:solidFill>
              </a:rPr>
              <a:t>When C++ reaches a break keyword, it breaks out of the switch block. This will stop the execution of more code</a:t>
            </a:r>
          </a:p>
          <a:p>
            <a:r>
              <a:rPr lang="en-CN" sz="1800" b="0" i="0" dirty="0">
                <a:solidFill>
                  <a:srgbClr val="FF0000"/>
                </a:solidFill>
                <a:effectLst/>
                <a:latin typeface="+mn-lt"/>
              </a:rPr>
              <a:t>A break can save a lot of execution time because it "ignores" the execution of all the rest of the code in the switch block.</a:t>
            </a:r>
            <a:endParaRPr lang="en-CN" dirty="0">
              <a:solidFill>
                <a:srgbClr val="FF0000"/>
              </a:solidFill>
            </a:endParaRPr>
          </a:p>
        </p:txBody>
      </p:sp>
      <p:sp>
        <p:nvSpPr>
          <p:cNvPr id="9" name="TextBox 8">
            <a:extLst>
              <a:ext uri="{FF2B5EF4-FFF2-40B4-BE49-F238E27FC236}">
                <a16:creationId xmlns:a16="http://schemas.microsoft.com/office/drawing/2014/main" id="{DC0A2685-DEBA-7363-4708-CB470B65284E}"/>
              </a:ext>
            </a:extLst>
          </p:cNvPr>
          <p:cNvSpPr txBox="1"/>
          <p:nvPr/>
        </p:nvSpPr>
        <p:spPr>
          <a:xfrm>
            <a:off x="4993440" y="1990052"/>
            <a:ext cx="6100010" cy="3970318"/>
          </a:xfrm>
          <a:prstGeom prst="rect">
            <a:avLst/>
          </a:prstGeom>
          <a:noFill/>
        </p:spPr>
        <p:txBody>
          <a:bodyPr wrap="square">
            <a:spAutoFit/>
          </a:bodyPr>
          <a:lstStyle/>
          <a:p>
            <a:r>
              <a:rPr lang="en-CN" sz="1800" b="0" i="0" dirty="0">
                <a:solidFill>
                  <a:schemeClr val="tx1"/>
                </a:solidFill>
                <a:effectLst/>
                <a:latin typeface="Courier New" panose="02070309020205020404" pitchFamily="49" charset="0"/>
                <a:cs typeface="Courier New" panose="02070309020205020404" pitchFamily="49" charset="0"/>
              </a:rPr>
              <a:t>int day = 4;</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switch (day) {</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case 6:</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cout &lt;&lt; "Today is Saturday";</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break;</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case 7:</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cout &lt;&lt; "Today is Sunday";</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break;</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default:</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    cout &lt;&lt; "Looking forward to the Weekend";</a:t>
            </a:r>
            <a:br>
              <a:rPr lang="en-CN" dirty="0">
                <a:latin typeface="Courier New" panose="02070309020205020404" pitchFamily="49" charset="0"/>
                <a:cs typeface="Courier New" panose="02070309020205020404" pitchFamily="49" charset="0"/>
              </a:rPr>
            </a:br>
            <a:r>
              <a:rPr lang="en-CN" sz="1800" b="0" i="0" dirty="0">
                <a:solidFill>
                  <a:schemeClr val="tx1"/>
                </a:solidFill>
                <a:effectLst/>
                <a:latin typeface="Courier New" panose="02070309020205020404" pitchFamily="49" charset="0"/>
                <a:cs typeface="Courier New" panose="02070309020205020404" pitchFamily="49" charset="0"/>
              </a:rPr>
              <a:t>}</a:t>
            </a:r>
            <a:br>
              <a:rPr lang="en-CN" dirty="0">
                <a:latin typeface="Courier New" panose="02070309020205020404" pitchFamily="49" charset="0"/>
                <a:cs typeface="Courier New" panose="02070309020205020404" pitchFamily="49" charset="0"/>
              </a:rPr>
            </a:br>
            <a:r>
              <a:rPr lang="en-CN" dirty="0">
                <a:latin typeface="Courier New" panose="02070309020205020404" pitchFamily="49" charset="0"/>
                <a:cs typeface="Courier New" panose="02070309020205020404" pitchFamily="49" charset="0"/>
              </a:rPr>
              <a:t>// Outputs " Looking forward to the Weekend”</a:t>
            </a:r>
          </a:p>
        </p:txBody>
      </p:sp>
      <p:sp>
        <p:nvSpPr>
          <p:cNvPr id="11" name="TextBox 10">
            <a:extLst>
              <a:ext uri="{FF2B5EF4-FFF2-40B4-BE49-F238E27FC236}">
                <a16:creationId xmlns:a16="http://schemas.microsoft.com/office/drawing/2014/main" id="{9CCB5677-740F-A5A3-A585-C36D7EAB1D6B}"/>
              </a:ext>
            </a:extLst>
          </p:cNvPr>
          <p:cNvSpPr txBox="1"/>
          <p:nvPr/>
        </p:nvSpPr>
        <p:spPr>
          <a:xfrm>
            <a:off x="7267073" y="5657671"/>
            <a:ext cx="6160168" cy="1200329"/>
          </a:xfrm>
          <a:prstGeom prst="rect">
            <a:avLst/>
          </a:prstGeom>
          <a:noFill/>
        </p:spPr>
        <p:txBody>
          <a:bodyPr wrap="square">
            <a:spAutoFit/>
          </a:bodyPr>
          <a:lstStyle/>
          <a:p>
            <a:r>
              <a:rPr lang="en-CN" dirty="0">
                <a:solidFill>
                  <a:srgbClr val="FF0000"/>
                </a:solidFill>
                <a:latin typeface="+mn-lt"/>
              </a:rPr>
              <a:t>switch</a:t>
            </a:r>
            <a:r>
              <a:rPr lang="en-CN" dirty="0">
                <a:solidFill>
                  <a:srgbClr val="FF0000"/>
                </a:solidFill>
              </a:rPr>
              <a:t> = what value are we checking?</a:t>
            </a:r>
            <a:br>
              <a:rPr lang="en-CN" dirty="0">
                <a:solidFill>
                  <a:srgbClr val="FF0000"/>
                </a:solidFill>
              </a:rPr>
            </a:br>
            <a:r>
              <a:rPr lang="en-CN" dirty="0">
                <a:solidFill>
                  <a:srgbClr val="FF0000"/>
                </a:solidFill>
                <a:latin typeface="+mn-lt"/>
              </a:rPr>
              <a:t>case</a:t>
            </a:r>
            <a:r>
              <a:rPr lang="en-CN" dirty="0">
                <a:solidFill>
                  <a:srgbClr val="FF0000"/>
                </a:solidFill>
              </a:rPr>
              <a:t> = is it this value?</a:t>
            </a:r>
            <a:br>
              <a:rPr lang="en-CN" dirty="0">
                <a:solidFill>
                  <a:srgbClr val="FF0000"/>
                </a:solidFill>
              </a:rPr>
            </a:br>
            <a:r>
              <a:rPr lang="en-CN" dirty="0">
                <a:solidFill>
                  <a:srgbClr val="FF0000"/>
                </a:solidFill>
                <a:latin typeface="+mn-lt"/>
              </a:rPr>
              <a:t>break</a:t>
            </a:r>
            <a:r>
              <a:rPr lang="en-CN" dirty="0">
                <a:solidFill>
                  <a:srgbClr val="FF0000"/>
                </a:solidFill>
              </a:rPr>
              <a:t> = stop here after a match.</a:t>
            </a:r>
            <a:br>
              <a:rPr lang="en-CN" dirty="0">
                <a:solidFill>
                  <a:srgbClr val="FF0000"/>
                </a:solidFill>
              </a:rPr>
            </a:br>
            <a:r>
              <a:rPr lang="en-CN" dirty="0">
                <a:solidFill>
                  <a:srgbClr val="FF0000"/>
                </a:solidFill>
                <a:latin typeface="+mn-lt"/>
              </a:rPr>
              <a:t>default</a:t>
            </a:r>
            <a:r>
              <a:rPr lang="en-CN" dirty="0">
                <a:solidFill>
                  <a:srgbClr val="FF0000"/>
                </a:solidFill>
              </a:rPr>
              <a:t> = none of the cases matched.</a:t>
            </a:r>
          </a:p>
        </p:txBody>
      </p:sp>
    </p:spTree>
    <p:extLst>
      <p:ext uri="{BB962C8B-B14F-4D97-AF65-F5344CB8AC3E}">
        <p14:creationId xmlns:p14="http://schemas.microsoft.com/office/powerpoint/2010/main" val="5278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C9CD-5038-25C2-BA4C-C6011DA01710}"/>
              </a:ext>
            </a:extLst>
          </p:cNvPr>
          <p:cNvSpPr>
            <a:spLocks noGrp="1"/>
          </p:cNvSpPr>
          <p:nvPr>
            <p:ph type="title"/>
          </p:nvPr>
        </p:nvSpPr>
        <p:spPr>
          <a:xfrm>
            <a:off x="160866" y="288925"/>
            <a:ext cx="10515600" cy="717717"/>
          </a:xfrm>
        </p:spPr>
        <p:txBody>
          <a:bodyPr>
            <a:normAutofit fontScale="90000"/>
          </a:bodyPr>
          <a:lstStyle/>
          <a:p>
            <a:r>
              <a:rPr lang="en-CN" dirty="0"/>
              <a:t>Challenge: Fix Customer Order</a:t>
            </a:r>
            <a:br>
              <a:rPr lang="en-CN" dirty="0"/>
            </a:br>
            <a:endParaRPr lang="en-CN" dirty="0"/>
          </a:p>
        </p:txBody>
      </p:sp>
      <p:sp>
        <p:nvSpPr>
          <p:cNvPr id="5" name="TextBox 4">
            <a:extLst>
              <a:ext uri="{FF2B5EF4-FFF2-40B4-BE49-F238E27FC236}">
                <a16:creationId xmlns:a16="http://schemas.microsoft.com/office/drawing/2014/main" id="{CA9EFC15-2D4E-FD60-34A6-32DE43357A9A}"/>
              </a:ext>
            </a:extLst>
          </p:cNvPr>
          <p:cNvSpPr txBox="1"/>
          <p:nvPr/>
        </p:nvSpPr>
        <p:spPr>
          <a:xfrm>
            <a:off x="397933" y="881787"/>
            <a:ext cx="6017348" cy="3122946"/>
          </a:xfrm>
          <a:prstGeom prst="rect">
            <a:avLst/>
          </a:prstGeom>
          <a:noFill/>
        </p:spPr>
        <p:txBody>
          <a:bodyPr wrap="square">
            <a:spAutoFit/>
          </a:bodyPr>
          <a:lstStyle/>
          <a:p>
            <a:pPr marL="342900" marR="0" lvl="0" indent="-342900" algn="l">
              <a:spcBef>
                <a:spcPts val="600"/>
              </a:spcBef>
              <a:buFont typeface="+mj-lt"/>
              <a:buAutoNum type="arabicPeriod"/>
            </a:pPr>
            <a:r>
              <a:rPr lang="en-CN" sz="1800" i="0" dirty="0">
                <a:solidFill>
                  <a:schemeClr val="tx1"/>
                </a:solidFill>
                <a:effectLst/>
                <a:latin typeface="+mn-lt"/>
              </a:rPr>
              <a:t>A customer wants to order Coffee.</a:t>
            </a:r>
            <a:br>
              <a:rPr lang="en-CN" dirty="0"/>
            </a:br>
            <a:br>
              <a:rPr lang="en-CN" dirty="0"/>
            </a:br>
            <a:r>
              <a:rPr lang="en-CN" sz="1800" i="0" dirty="0">
                <a:solidFill>
                  <a:schemeClr val="tx1"/>
                </a:solidFill>
                <a:effectLst/>
                <a:latin typeface="+mn-lt"/>
              </a:rPr>
              <a:t>The code in the editor is incomplete. Fix it by inserting the missing values so the program prints the correct order.Change choice to the correct number for Coffee (see the comments).</a:t>
            </a:r>
          </a:p>
          <a:p>
            <a:pPr marL="342900" marR="0" lvl="0" indent="-342900" algn="l">
              <a:spcBef>
                <a:spcPts val="600"/>
              </a:spcBef>
              <a:buFont typeface="+mj-lt"/>
              <a:buAutoNum type="arabicPeriod"/>
            </a:pPr>
            <a:r>
              <a:rPr lang="en-CN" sz="1800" i="0" dirty="0">
                <a:solidFill>
                  <a:schemeClr val="tx1"/>
                </a:solidFill>
                <a:effectLst/>
                <a:latin typeface="+mn-lt"/>
              </a:rPr>
              <a:t>Insert choice inside switch().</a:t>
            </a:r>
          </a:p>
          <a:p>
            <a:pPr marL="342900" marR="0" lvl="0" indent="-342900" algn="l">
              <a:spcBef>
                <a:spcPts val="600"/>
              </a:spcBef>
              <a:buFont typeface="+mj-lt"/>
              <a:buAutoNum type="arabicPeriod"/>
            </a:pPr>
            <a:r>
              <a:rPr lang="en-CN" sz="1800" i="0" dirty="0">
                <a:solidFill>
                  <a:schemeClr val="tx1"/>
                </a:solidFill>
                <a:effectLst/>
                <a:latin typeface="+mn-lt"/>
              </a:rPr>
              <a:t>Replace each case: with the correct number based on the comments above.</a:t>
            </a:r>
          </a:p>
          <a:p>
            <a:pPr marL="342900" marR="0" lvl="0" indent="-342900" algn="l">
              <a:spcBef>
                <a:spcPts val="600"/>
              </a:spcBef>
              <a:buFont typeface="+mj-lt"/>
              <a:buAutoNum type="arabicPeriod"/>
            </a:pPr>
            <a:r>
              <a:rPr lang="en-CN" sz="1800" i="0" dirty="0">
                <a:solidFill>
                  <a:schemeClr val="tx1"/>
                </a:solidFill>
                <a:effectLst/>
                <a:latin typeface="+mn-lt"/>
              </a:rPr>
              <a:t>Move cout &lt;&lt; "Invalid choice" into a default: case.</a:t>
            </a:r>
            <a:endParaRPr lang="en-CN" sz="1125" i="0" dirty="0">
              <a:solidFill>
                <a:srgbClr val="000000"/>
              </a:solidFill>
              <a:effectLst/>
              <a:latin typeface="Segoe UI" panose="020B0502040204020203" pitchFamily="34" charset="0"/>
            </a:endParaRPr>
          </a:p>
        </p:txBody>
      </p:sp>
      <p:sp>
        <p:nvSpPr>
          <p:cNvPr id="7" name="TextBox 6">
            <a:extLst>
              <a:ext uri="{FF2B5EF4-FFF2-40B4-BE49-F238E27FC236}">
                <a16:creationId xmlns:a16="http://schemas.microsoft.com/office/drawing/2014/main" id="{5BFDCAD9-7C1E-3819-0056-9ED85863519A}"/>
              </a:ext>
            </a:extLst>
          </p:cNvPr>
          <p:cNvSpPr txBox="1"/>
          <p:nvPr/>
        </p:nvSpPr>
        <p:spPr>
          <a:xfrm>
            <a:off x="6866914" y="394692"/>
            <a:ext cx="6136104" cy="6463308"/>
          </a:xfrm>
          <a:prstGeom prst="rect">
            <a:avLst/>
          </a:prstGeom>
          <a:noFill/>
        </p:spPr>
        <p:txBody>
          <a:bodyPr wrap="square">
            <a:spAutoFit/>
          </a:bodyPr>
          <a:lstStyle/>
          <a:p>
            <a:r>
              <a:rPr lang="en-CN" dirty="0">
                <a:latin typeface="Courier New" panose="02070309020205020404" pitchFamily="49" charset="0"/>
                <a:cs typeface="Courier New" panose="02070309020205020404" pitchFamily="49" charset="0"/>
              </a:rPr>
              <a:t>#include &lt;iostream&gt;</a:t>
            </a:r>
          </a:p>
          <a:p>
            <a:r>
              <a:rPr lang="en-CN" dirty="0">
                <a:latin typeface="Courier New" panose="02070309020205020404" pitchFamily="49" charset="0"/>
                <a:cs typeface="Courier New" panose="02070309020205020404" pitchFamily="49" charset="0"/>
              </a:rPr>
              <a:t>using namespace std;</a:t>
            </a:r>
          </a:p>
          <a:p>
            <a:endParaRPr lang="en-CN" dirty="0">
              <a:latin typeface="Courier New" panose="02070309020205020404" pitchFamily="49" charset="0"/>
              <a:cs typeface="Courier New" panose="02070309020205020404" pitchFamily="49" charset="0"/>
            </a:endParaRPr>
          </a:p>
          <a:p>
            <a:r>
              <a:rPr lang="en-CN" dirty="0">
                <a:latin typeface="Courier New" panose="02070309020205020404" pitchFamily="49" charset="0"/>
                <a:cs typeface="Courier New" panose="02070309020205020404" pitchFamily="49" charset="0"/>
              </a:rPr>
              <a:t>int main() {</a:t>
            </a:r>
          </a:p>
          <a:p>
            <a:r>
              <a:rPr lang="en-CN" dirty="0">
                <a:latin typeface="Courier New" panose="02070309020205020404" pitchFamily="49" charset="0"/>
                <a:cs typeface="Courier New" panose="02070309020205020404" pitchFamily="49" charset="0"/>
              </a:rPr>
              <a:t>  int choice = 2;</a:t>
            </a:r>
          </a:p>
          <a:p>
            <a:endParaRPr lang="en-CN" dirty="0">
              <a:latin typeface="Courier New" panose="02070309020205020404" pitchFamily="49" charset="0"/>
              <a:cs typeface="Courier New" panose="02070309020205020404" pitchFamily="49" charset="0"/>
            </a:endParaRPr>
          </a:p>
          <a:p>
            <a:r>
              <a:rPr lang="en-CN" dirty="0">
                <a:latin typeface="Courier New" panose="02070309020205020404" pitchFamily="49" charset="0"/>
                <a:cs typeface="Courier New" panose="02070309020205020404" pitchFamily="49" charset="0"/>
              </a:rPr>
              <a:t>  // 1 = Coffee</a:t>
            </a:r>
          </a:p>
          <a:p>
            <a:r>
              <a:rPr lang="en-CN" dirty="0">
                <a:latin typeface="Courier New" panose="02070309020205020404" pitchFamily="49" charset="0"/>
                <a:cs typeface="Courier New" panose="02070309020205020404" pitchFamily="49" charset="0"/>
              </a:rPr>
              <a:t>  // 2 = Tea</a:t>
            </a:r>
          </a:p>
          <a:p>
            <a:endParaRPr lang="en-CN" dirty="0">
              <a:latin typeface="Courier New" panose="02070309020205020404" pitchFamily="49" charset="0"/>
              <a:cs typeface="Courier New" panose="02070309020205020404" pitchFamily="49" charset="0"/>
            </a:endParaRPr>
          </a:p>
          <a:p>
            <a:r>
              <a:rPr lang="en-CN" dirty="0">
                <a:latin typeface="Courier New" panose="02070309020205020404" pitchFamily="49" charset="0"/>
                <a:cs typeface="Courier New" panose="02070309020205020404" pitchFamily="49" charset="0"/>
              </a:rPr>
              <a:t>  switch () {</a:t>
            </a:r>
          </a:p>
          <a:p>
            <a:r>
              <a:rPr lang="en-CN" dirty="0">
                <a:latin typeface="Courier New" panose="02070309020205020404" pitchFamily="49" charset="0"/>
                <a:cs typeface="Courier New" panose="02070309020205020404" pitchFamily="49" charset="0"/>
              </a:rPr>
              <a:t>    case:</a:t>
            </a:r>
          </a:p>
          <a:p>
            <a:r>
              <a:rPr lang="en-CN" dirty="0">
                <a:latin typeface="Courier New" panose="02070309020205020404" pitchFamily="49" charset="0"/>
                <a:cs typeface="Courier New" panose="02070309020205020404" pitchFamily="49" charset="0"/>
              </a:rPr>
              <a:t>      cout &lt;&lt; "You ordered Coffee";</a:t>
            </a:r>
          </a:p>
          <a:p>
            <a:r>
              <a:rPr lang="en-CN" dirty="0">
                <a:latin typeface="Courier New" panose="02070309020205020404" pitchFamily="49" charset="0"/>
                <a:cs typeface="Courier New" panose="02070309020205020404" pitchFamily="49" charset="0"/>
              </a:rPr>
              <a:t>      break;</a:t>
            </a:r>
          </a:p>
          <a:p>
            <a:endParaRPr lang="en-CN" dirty="0">
              <a:latin typeface="Courier New" panose="02070309020205020404" pitchFamily="49" charset="0"/>
              <a:cs typeface="Courier New" panose="02070309020205020404" pitchFamily="49" charset="0"/>
            </a:endParaRPr>
          </a:p>
          <a:p>
            <a:r>
              <a:rPr lang="en-CN" dirty="0">
                <a:latin typeface="Courier New" panose="02070309020205020404" pitchFamily="49" charset="0"/>
                <a:cs typeface="Courier New" panose="02070309020205020404" pitchFamily="49" charset="0"/>
              </a:rPr>
              <a:t>    case:</a:t>
            </a:r>
          </a:p>
          <a:p>
            <a:r>
              <a:rPr lang="en-CN" dirty="0">
                <a:latin typeface="Courier New" panose="02070309020205020404" pitchFamily="49" charset="0"/>
                <a:cs typeface="Courier New" panose="02070309020205020404" pitchFamily="49" charset="0"/>
              </a:rPr>
              <a:t>      cout &lt;&lt; "You ordered Tea";</a:t>
            </a:r>
          </a:p>
          <a:p>
            <a:r>
              <a:rPr lang="en-CN" dirty="0">
                <a:latin typeface="Courier New" panose="02070309020205020404" pitchFamily="49" charset="0"/>
                <a:cs typeface="Courier New" panose="02070309020205020404" pitchFamily="49" charset="0"/>
              </a:rPr>
              <a:t>      break;</a:t>
            </a:r>
          </a:p>
          <a:p>
            <a:endParaRPr lang="en-CN" dirty="0">
              <a:latin typeface="Courier New" panose="02070309020205020404" pitchFamily="49" charset="0"/>
              <a:cs typeface="Courier New" panose="02070309020205020404" pitchFamily="49" charset="0"/>
            </a:endParaRPr>
          </a:p>
          <a:p>
            <a:r>
              <a:rPr lang="en-CN" dirty="0">
                <a:latin typeface="Courier New" panose="02070309020205020404" pitchFamily="49" charset="0"/>
                <a:cs typeface="Courier New" panose="02070309020205020404" pitchFamily="49" charset="0"/>
              </a:rPr>
              <a:t>      cout &lt;&lt; "Invalid choice";</a:t>
            </a:r>
          </a:p>
          <a:p>
            <a:r>
              <a:rPr lang="en-CN" dirty="0">
                <a:latin typeface="Courier New" panose="02070309020205020404" pitchFamily="49" charset="0"/>
                <a:cs typeface="Courier New" panose="02070309020205020404" pitchFamily="49" charset="0"/>
              </a:rPr>
              <a:t>  }</a:t>
            </a:r>
          </a:p>
          <a:p>
            <a:endParaRPr lang="en-CN" dirty="0">
              <a:latin typeface="Courier New" panose="02070309020205020404" pitchFamily="49" charset="0"/>
              <a:cs typeface="Courier New" panose="02070309020205020404" pitchFamily="49" charset="0"/>
            </a:endParaRPr>
          </a:p>
          <a:p>
            <a:r>
              <a:rPr lang="en-CN" dirty="0">
                <a:latin typeface="Courier New" panose="02070309020205020404" pitchFamily="49" charset="0"/>
                <a:cs typeface="Courier New" panose="02070309020205020404" pitchFamily="49" charset="0"/>
              </a:rPr>
              <a:t>  return 0;</a:t>
            </a:r>
          </a:p>
          <a:p>
            <a:r>
              <a:rPr lang="en-CN"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456538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00CBA-1274-17E4-38A0-099F709D042F}"/>
              </a:ext>
            </a:extLst>
          </p:cNvPr>
          <p:cNvSpPr>
            <a:spLocks noGrp="1"/>
          </p:cNvSpPr>
          <p:nvPr>
            <p:ph type="title"/>
          </p:nvPr>
        </p:nvSpPr>
        <p:spPr>
          <a:xfrm>
            <a:off x="152400" y="77259"/>
            <a:ext cx="10515600" cy="744008"/>
          </a:xfrm>
        </p:spPr>
        <p:txBody>
          <a:bodyPr/>
          <a:lstStyle/>
          <a:p>
            <a:r>
              <a:rPr lang="en-CN" dirty="0"/>
              <a:t>Solution</a:t>
            </a:r>
          </a:p>
        </p:txBody>
      </p:sp>
      <p:sp>
        <p:nvSpPr>
          <p:cNvPr id="5" name="TextBox 4">
            <a:extLst>
              <a:ext uri="{FF2B5EF4-FFF2-40B4-BE49-F238E27FC236}">
                <a16:creationId xmlns:a16="http://schemas.microsoft.com/office/drawing/2014/main" id="{54573368-30BE-D23F-A7F4-C2A8117FDBF6}"/>
              </a:ext>
            </a:extLst>
          </p:cNvPr>
          <p:cNvSpPr txBox="1"/>
          <p:nvPr/>
        </p:nvSpPr>
        <p:spPr>
          <a:xfrm>
            <a:off x="211667" y="710780"/>
            <a:ext cx="6096000" cy="6001643"/>
          </a:xfrm>
          <a:prstGeom prst="rect">
            <a:avLst/>
          </a:prstGeom>
          <a:noFill/>
        </p:spPr>
        <p:txBody>
          <a:bodyPr wrap="square">
            <a:spAutoFit/>
          </a:bodyPr>
          <a:lstStyle/>
          <a:p>
            <a:r>
              <a:rPr lang="en-CN" sz="1600" dirty="0">
                <a:latin typeface="Courier New" panose="02070309020205020404" pitchFamily="49" charset="0"/>
                <a:cs typeface="Courier New" panose="02070309020205020404" pitchFamily="49" charset="0"/>
              </a:rPr>
              <a:t>#include &lt;iostream&gt;</a:t>
            </a:r>
          </a:p>
          <a:p>
            <a:r>
              <a:rPr lang="en-CN" sz="1600" dirty="0">
                <a:latin typeface="Courier New" panose="02070309020205020404" pitchFamily="49" charset="0"/>
                <a:cs typeface="Courier New" panose="02070309020205020404" pitchFamily="49" charset="0"/>
              </a:rPr>
              <a:t>using namespace std;</a:t>
            </a:r>
          </a:p>
          <a:p>
            <a:endParaRPr lang="en-CN" sz="1600" dirty="0">
              <a:latin typeface="Courier New" panose="02070309020205020404" pitchFamily="49" charset="0"/>
              <a:cs typeface="Courier New" panose="02070309020205020404" pitchFamily="49" charset="0"/>
            </a:endParaRPr>
          </a:p>
          <a:p>
            <a:r>
              <a:rPr lang="en-CN" sz="1600" dirty="0">
                <a:latin typeface="Courier New" panose="02070309020205020404" pitchFamily="49" charset="0"/>
                <a:cs typeface="Courier New" panose="02070309020205020404" pitchFamily="49" charset="0"/>
              </a:rPr>
              <a:t>int main() {</a:t>
            </a:r>
          </a:p>
          <a:p>
            <a:r>
              <a:rPr lang="en-CN" sz="1600" dirty="0">
                <a:latin typeface="Courier New" panose="02070309020205020404" pitchFamily="49" charset="0"/>
                <a:cs typeface="Courier New" panose="02070309020205020404" pitchFamily="49" charset="0"/>
              </a:rPr>
              <a:t>  int choice = 1;</a:t>
            </a:r>
          </a:p>
          <a:p>
            <a:endParaRPr lang="en-CN" sz="1600" dirty="0">
              <a:latin typeface="Courier New" panose="02070309020205020404" pitchFamily="49" charset="0"/>
              <a:cs typeface="Courier New" panose="02070309020205020404" pitchFamily="49" charset="0"/>
            </a:endParaRPr>
          </a:p>
          <a:p>
            <a:r>
              <a:rPr lang="en-CN" sz="1600" dirty="0">
                <a:latin typeface="Courier New" panose="02070309020205020404" pitchFamily="49" charset="0"/>
                <a:cs typeface="Courier New" panose="02070309020205020404" pitchFamily="49" charset="0"/>
              </a:rPr>
              <a:t>  // 1 = Coffee</a:t>
            </a:r>
          </a:p>
          <a:p>
            <a:r>
              <a:rPr lang="en-CN" sz="1600" dirty="0">
                <a:latin typeface="Courier New" panose="02070309020205020404" pitchFamily="49" charset="0"/>
                <a:cs typeface="Courier New" panose="02070309020205020404" pitchFamily="49" charset="0"/>
              </a:rPr>
              <a:t>  // 2 = Tea</a:t>
            </a:r>
          </a:p>
          <a:p>
            <a:endParaRPr lang="en-CN" sz="1600" dirty="0">
              <a:latin typeface="Courier New" panose="02070309020205020404" pitchFamily="49" charset="0"/>
              <a:cs typeface="Courier New" panose="02070309020205020404" pitchFamily="49" charset="0"/>
            </a:endParaRPr>
          </a:p>
          <a:p>
            <a:r>
              <a:rPr lang="en-CN" sz="1600" dirty="0">
                <a:latin typeface="Courier New" panose="02070309020205020404" pitchFamily="49" charset="0"/>
                <a:cs typeface="Courier New" panose="02070309020205020404" pitchFamily="49" charset="0"/>
              </a:rPr>
              <a:t>  switch (choice) {</a:t>
            </a:r>
          </a:p>
          <a:p>
            <a:r>
              <a:rPr lang="en-CN" sz="1600" dirty="0">
                <a:latin typeface="Courier New" panose="02070309020205020404" pitchFamily="49" charset="0"/>
                <a:cs typeface="Courier New" panose="02070309020205020404" pitchFamily="49" charset="0"/>
              </a:rPr>
              <a:t>    case 1:</a:t>
            </a:r>
          </a:p>
          <a:p>
            <a:r>
              <a:rPr lang="en-CN" sz="1600" dirty="0">
                <a:latin typeface="Courier New" panose="02070309020205020404" pitchFamily="49" charset="0"/>
                <a:cs typeface="Courier New" panose="02070309020205020404" pitchFamily="49" charset="0"/>
              </a:rPr>
              <a:t>      cout &lt;&lt; "You ordered Coffee";</a:t>
            </a:r>
          </a:p>
          <a:p>
            <a:r>
              <a:rPr lang="en-CN" sz="1600" dirty="0">
                <a:latin typeface="Courier New" panose="02070309020205020404" pitchFamily="49" charset="0"/>
                <a:cs typeface="Courier New" panose="02070309020205020404" pitchFamily="49" charset="0"/>
              </a:rPr>
              <a:t>      break;</a:t>
            </a:r>
          </a:p>
          <a:p>
            <a:endParaRPr lang="en-CN" sz="1600" dirty="0">
              <a:latin typeface="Courier New" panose="02070309020205020404" pitchFamily="49" charset="0"/>
              <a:cs typeface="Courier New" panose="02070309020205020404" pitchFamily="49" charset="0"/>
            </a:endParaRPr>
          </a:p>
          <a:p>
            <a:r>
              <a:rPr lang="en-CN" sz="1600" dirty="0">
                <a:latin typeface="Courier New" panose="02070309020205020404" pitchFamily="49" charset="0"/>
                <a:cs typeface="Courier New" panose="02070309020205020404" pitchFamily="49" charset="0"/>
              </a:rPr>
              <a:t>    case 2:</a:t>
            </a:r>
          </a:p>
          <a:p>
            <a:r>
              <a:rPr lang="en-CN" sz="1600" dirty="0">
                <a:latin typeface="Courier New" panose="02070309020205020404" pitchFamily="49" charset="0"/>
                <a:cs typeface="Courier New" panose="02070309020205020404" pitchFamily="49" charset="0"/>
              </a:rPr>
              <a:t>      cout &lt;&lt; "You ordered Tea";</a:t>
            </a:r>
          </a:p>
          <a:p>
            <a:r>
              <a:rPr lang="en-CN" sz="1600" dirty="0">
                <a:latin typeface="Courier New" panose="02070309020205020404" pitchFamily="49" charset="0"/>
                <a:cs typeface="Courier New" panose="02070309020205020404" pitchFamily="49" charset="0"/>
              </a:rPr>
              <a:t>      break;</a:t>
            </a:r>
          </a:p>
          <a:p>
            <a:endParaRPr lang="en-CN" sz="1600" dirty="0">
              <a:latin typeface="Courier New" panose="02070309020205020404" pitchFamily="49" charset="0"/>
              <a:cs typeface="Courier New" panose="02070309020205020404" pitchFamily="49" charset="0"/>
            </a:endParaRPr>
          </a:p>
          <a:p>
            <a:r>
              <a:rPr lang="en-CN" sz="1600" dirty="0">
                <a:latin typeface="Courier New" panose="02070309020205020404" pitchFamily="49" charset="0"/>
                <a:cs typeface="Courier New" panose="02070309020205020404" pitchFamily="49" charset="0"/>
              </a:rPr>
              <a:t>    default:</a:t>
            </a:r>
          </a:p>
          <a:p>
            <a:r>
              <a:rPr lang="en-CN" sz="1600" dirty="0">
                <a:latin typeface="Courier New" panose="02070309020205020404" pitchFamily="49" charset="0"/>
                <a:cs typeface="Courier New" panose="02070309020205020404" pitchFamily="49" charset="0"/>
              </a:rPr>
              <a:t>      cout &lt;&lt; "Invalid choice";</a:t>
            </a:r>
          </a:p>
          <a:p>
            <a:r>
              <a:rPr lang="en-CN" sz="1600" dirty="0">
                <a:latin typeface="Courier New" panose="02070309020205020404" pitchFamily="49" charset="0"/>
                <a:cs typeface="Courier New" panose="02070309020205020404" pitchFamily="49" charset="0"/>
              </a:rPr>
              <a:t>  }</a:t>
            </a:r>
          </a:p>
          <a:p>
            <a:endParaRPr lang="en-CN" sz="1600" dirty="0">
              <a:latin typeface="Courier New" panose="02070309020205020404" pitchFamily="49" charset="0"/>
              <a:cs typeface="Courier New" panose="02070309020205020404" pitchFamily="49" charset="0"/>
            </a:endParaRPr>
          </a:p>
          <a:p>
            <a:r>
              <a:rPr lang="en-CN" sz="1600" dirty="0">
                <a:latin typeface="Courier New" panose="02070309020205020404" pitchFamily="49" charset="0"/>
                <a:cs typeface="Courier New" panose="02070309020205020404" pitchFamily="49" charset="0"/>
              </a:rPr>
              <a:t>  return 0;</a:t>
            </a:r>
          </a:p>
          <a:p>
            <a:r>
              <a:rPr lang="en-CN" sz="1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510238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1899</TotalTime>
  <Words>2521</Words>
  <Application>Microsoft Macintosh PowerPoint</Application>
  <PresentationFormat>Widescreen</PresentationFormat>
  <Paragraphs>441</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Courier New</vt:lpstr>
      <vt:lpstr>Segoe UI</vt:lpstr>
      <vt:lpstr>Office Theme</vt:lpstr>
      <vt:lpstr>Debugging and Exam Review  Lab 3</vt:lpstr>
      <vt:lpstr>Can You Find the Bugs?</vt:lpstr>
      <vt:lpstr>PowerPoint Presentation</vt:lpstr>
      <vt:lpstr>Can You Identify the Errors?</vt:lpstr>
      <vt:lpstr>Fix It Together</vt:lpstr>
      <vt:lpstr>The Logic Error</vt:lpstr>
      <vt:lpstr>Another Sneaky Bug</vt:lpstr>
      <vt:lpstr>Correct Program</vt:lpstr>
      <vt:lpstr>Exam Connection &amp; Expectation</vt:lpstr>
      <vt:lpstr>Find the Bugs: Student Profile</vt:lpstr>
      <vt:lpstr>Faulty code:</vt:lpstr>
      <vt:lpstr>Syntax errors</vt:lpstr>
      <vt:lpstr>Correct version</vt:lpstr>
      <vt:lpstr>Practice: Can you identify and fix all the errors?</vt:lpstr>
      <vt:lpstr>Solution</vt:lpstr>
      <vt:lpstr>Format Specifier for Input Reading - scanf</vt:lpstr>
      <vt:lpstr>Scanf vs. Printf</vt:lpstr>
      <vt:lpstr>cstdio</vt:lpstr>
      <vt:lpstr>#Include Headers</vt:lpstr>
      <vt:lpstr>Brief Introduction to Switch Statement</vt:lpstr>
      <vt:lpstr>Example</vt:lpstr>
      <vt:lpstr>Challenge: Fix Customer Order </vt:lpstr>
      <vt:lpstr>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Ebuka P Oguchi</dc:creator>
  <cp:lastModifiedBy>Ebuka P Oguchi</cp:lastModifiedBy>
  <cp:revision>10</cp:revision>
  <dcterms:created xsi:type="dcterms:W3CDTF">2026-09-07T19:15:35Z</dcterms:created>
  <dcterms:modified xsi:type="dcterms:W3CDTF">2026-09-22T18:38:42Z</dcterms:modified>
</cp:coreProperties>
</file>