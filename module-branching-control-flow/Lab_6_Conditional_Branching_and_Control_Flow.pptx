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51"/>
    <p:restoredTop sz="94647"/>
  </p:normalViewPr>
  <p:slideViewPr>
    <p:cSldViewPr snapToGrid="0" showGuides="1">
      <p:cViewPr varScale="1">
        <p:scale>
          <a:sx n="96" d="100"/>
          <a:sy n="96" d="100"/>
        </p:scale>
        <p:origin x="176" y="25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70AC-B053-6E42-E0FF-69805ECD4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16244-F3FC-ECFF-BDA4-4CE7DD189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AB292-BFF2-AAD9-8EC6-4377ECD04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042A2-0C62-0240-A5C9-8CFA53F1E784}" type="datetimeFigureOut">
              <a:rPr lang="en-CN" smtClean="0"/>
              <a:t>2026/10/25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57BCA-D2DA-AEB5-BB38-6BE224441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A5873-C556-F2B6-1E2B-8FC7AD926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F97-FE4D-F14F-ADBA-2B22340536E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2002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32211-5A8C-3580-E77D-E4E08AA8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D2D61-4181-4DC4-9038-16BDB5904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9E5AD-4770-CF0D-E279-9BF48C5C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042A2-0C62-0240-A5C9-8CFA53F1E784}" type="datetimeFigureOut">
              <a:rPr lang="en-CN" smtClean="0"/>
              <a:t>2026/10/25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12684-B601-68A7-5DA2-DC51F73A2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56478-99A9-B90A-A57D-7CCB5248E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F97-FE4D-F14F-ADBA-2B22340536E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50715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A417B-1D14-94E3-BB9E-495AF770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E6523-E990-D7B5-1B67-66A8D7644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194CB-23EE-619A-3441-C09138BBE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042A2-0C62-0240-A5C9-8CFA53F1E784}" type="datetimeFigureOut">
              <a:rPr lang="en-CN" smtClean="0"/>
              <a:t>2026/10/25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62D2B-FFFB-E3FA-51C1-1862699F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6CDB3-F098-4A42-4A98-3BADB753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F97-FE4D-F14F-ADBA-2B22340536E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9183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00E4-2AC7-BC7E-E1A0-5EF8713E9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3AB3E-C704-41C1-C2FC-2817AF34B6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157CC-4941-DAE7-C007-137A899F2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5C71E-C800-630E-3096-2656D318E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042A2-0C62-0240-A5C9-8CFA53F1E784}" type="datetimeFigureOut">
              <a:rPr lang="en-CN" smtClean="0"/>
              <a:t>2026/10/25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6F421-B516-3ED5-B0C9-62E18F4D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D454E-5C3C-9EFC-BDDB-713A4B47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F97-FE4D-F14F-ADBA-2B22340536E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7719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BAF64-F741-0BA9-F1F2-2726CAD8E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B2583-D5D3-6E81-7AA2-C9D8E4F9D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242D6-01FB-1517-DAE0-53155E91C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A8924-B3A0-9585-E526-72EA7B44D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B997C4-ED9C-1A1F-2480-E8797B34F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CB5DDE-1120-FE54-1652-2630B95E7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042A2-0C62-0240-A5C9-8CFA53F1E784}" type="datetimeFigureOut">
              <a:rPr lang="en-CN" smtClean="0"/>
              <a:t>2026/10/25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324B05-65D7-5407-DB8A-83048EE85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3776BC-AE7C-C040-E4E9-2294AD7E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F97-FE4D-F14F-ADBA-2B22340536E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40626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47F5-A3CA-0310-8C6E-CB203AE35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52052E-5CFC-BD80-5FE6-68B25BF98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042A2-0C62-0240-A5C9-8CFA53F1E784}" type="datetimeFigureOut">
              <a:rPr lang="en-CN" smtClean="0"/>
              <a:t>2026/10/25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073A7-9BA9-B969-8459-A92B3FFA9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390BC-7503-8A26-CEE9-A166F10C2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F97-FE4D-F14F-ADBA-2B22340536E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284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843CE-DB23-384E-11F2-A0D79D6B2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042A2-0C62-0240-A5C9-8CFA53F1E784}" type="datetimeFigureOut">
              <a:rPr lang="en-CN" smtClean="0"/>
              <a:t>2026/10/25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DCF3A-CE31-FD9E-6061-88B9B3FBA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E8439-C1F8-E0C0-92B0-DBB7EA85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F97-FE4D-F14F-ADBA-2B22340536E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521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CC43-4AB2-1257-0EAB-C1F689F0C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464E5-EED8-BFC6-3272-F2EC2121E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B3706-2555-EE07-8ECD-9EBC5876C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FF950-A376-EE7C-D6F8-4806BCCA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042A2-0C62-0240-A5C9-8CFA53F1E784}" type="datetimeFigureOut">
              <a:rPr lang="en-CN" smtClean="0"/>
              <a:t>2026/10/25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B3612-6CC5-B9FE-5AFC-393D7DC14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40611-64ED-7CCB-A2C8-081B58CE6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F97-FE4D-F14F-ADBA-2B22340536E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2641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B5F1F-B701-B2CE-6B1C-A34854067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679ED9-64CA-C333-96A3-1DC749F00BE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A9BE9-3F66-6F83-C2A7-A5B702671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82E3B-9A5F-0E80-6B9D-C9F780BC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042A2-0C62-0240-A5C9-8CFA53F1E784}" type="datetimeFigureOut">
              <a:rPr lang="en-CN" smtClean="0"/>
              <a:t>2026/10/25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BA7B1-912F-1D55-637F-217D28DA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A4B78-FF9D-0F5A-B3A7-5074A6BC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F97-FE4D-F14F-ADBA-2B22340536E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74346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A81C7-538F-91D6-41D3-3B022773C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1339C-AAEA-AE7C-AE87-F99EB838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9B24E-85F9-F248-7FB3-2D465BC69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042A2-0C62-0240-A5C9-8CFA53F1E784}" type="datetimeFigureOut">
              <a:rPr lang="en-CN" smtClean="0"/>
              <a:t>2026/10/25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D94A9-B1F6-2FE4-3829-D7702CC3F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B09A1-7ECA-A85C-B634-693237807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F97-FE4D-F14F-ADBA-2B22340536E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65226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AA488B-563A-39B8-C960-6E3106FEF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4D64D-3942-42A8-52AB-C42B885C8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7DB23-3CAA-09EE-6883-098F4248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042A2-0C62-0240-A5C9-8CFA53F1E784}" type="datetimeFigureOut">
              <a:rPr lang="en-CN" smtClean="0"/>
              <a:t>2026/10/25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2DFA7-A1E5-3B2F-4C4E-180E18A20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1B4D2-9D80-993E-FCE9-F66D4E79B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40F97-FE4D-F14F-ADBA-2B22340536E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2446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30695C-13FC-9C0B-B7E9-F294D481F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DA8FB-D8A0-39B4-EE6D-BB96CB815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0FF70-D391-48D2-39A6-DFC32E8D9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042A2-0C62-0240-A5C9-8CFA53F1E784}" type="datetimeFigureOut">
              <a:rPr lang="en-CN" smtClean="0"/>
              <a:t>2026/10/25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A894-40CC-69F9-6C14-1E4768162D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DADA8-7FA2-AC9C-87D1-AAD7566E2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E40F97-FE4D-F14F-ADBA-2B22340536E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67291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914F3-8436-CBE2-23CA-7FD809A33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1786" y="188645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CN" b="1" dirty="0"/>
              <a:t>Lab 6: Conditional Branching and Control Flow in MIPS</a:t>
            </a:r>
            <a:br>
              <a:rPr lang="en-CN" b="1" dirty="0"/>
            </a:b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42485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1C86-A6D0-8174-C3AF-D997212FF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5" y="277443"/>
            <a:ext cx="10515600" cy="1025264"/>
          </a:xfrm>
        </p:spPr>
        <p:txBody>
          <a:bodyPr/>
          <a:lstStyle/>
          <a:p>
            <a:r>
              <a:rPr lang="en-CN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3A270-695F-1147-93CC-B8C5F4D4E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0" y="1637734"/>
            <a:ext cx="10515600" cy="4351338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CN" dirty="0"/>
              <a:t>Explain how branch instructions control program flow in MIPS.</a:t>
            </a:r>
          </a:p>
          <a:p>
            <a:pPr lvl="0">
              <a:lnSpc>
                <a:spcPct val="150000"/>
              </a:lnSpc>
            </a:pPr>
            <a:r>
              <a:rPr lang="en-CN" dirty="0"/>
              <a:t>Use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CN" dirty="0"/>
              <a:t> and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CN" dirty="0"/>
              <a:t> to implement conditional decisions.</a:t>
            </a:r>
          </a:p>
          <a:p>
            <a:pPr lvl="0">
              <a:lnSpc>
                <a:spcPct val="150000"/>
              </a:lnSpc>
            </a:pPr>
            <a:r>
              <a:rPr lang="en-CN" dirty="0"/>
              <a:t>Use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CN" dirty="0"/>
              <a:t> and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slti</a:t>
            </a:r>
            <a:r>
              <a:rPr lang="en-CN" dirty="0"/>
              <a:t> to compare values.</a:t>
            </a:r>
          </a:p>
          <a:p>
            <a:pPr lvl="0">
              <a:lnSpc>
                <a:spcPct val="150000"/>
              </a:lnSpc>
            </a:pPr>
            <a:r>
              <a:rPr lang="en-CN" dirty="0"/>
              <a:t>Translate C-style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N" dirty="0"/>
              <a:t> and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if–else </a:t>
            </a:r>
            <a:r>
              <a:rPr lang="en-CN" dirty="0"/>
              <a:t>statements into MIPS.</a:t>
            </a:r>
          </a:p>
          <a:p>
            <a:pPr lvl="0">
              <a:lnSpc>
                <a:spcPct val="150000"/>
              </a:lnSpc>
            </a:pPr>
            <a:r>
              <a:rPr lang="en-CN" dirty="0"/>
              <a:t>Implement while loops using branch and jump instructions.</a:t>
            </a:r>
          </a:p>
          <a:p>
            <a:pPr lvl="0">
              <a:lnSpc>
                <a:spcPct val="150000"/>
              </a:lnSpc>
            </a:pPr>
            <a:r>
              <a:rPr lang="en-CN" dirty="0"/>
              <a:t>Trace program execution using QtSPIM.</a:t>
            </a:r>
          </a:p>
        </p:txBody>
      </p:sp>
    </p:spTree>
    <p:extLst>
      <p:ext uri="{BB962C8B-B14F-4D97-AF65-F5344CB8AC3E}">
        <p14:creationId xmlns:p14="http://schemas.microsoft.com/office/powerpoint/2010/main" val="2958836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8806B-2C6B-818F-360F-0AF8C407F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556" y="180931"/>
            <a:ext cx="11736887" cy="1000212"/>
          </a:xfrm>
        </p:spPr>
        <p:txBody>
          <a:bodyPr/>
          <a:lstStyle/>
          <a:p>
            <a:r>
              <a:rPr lang="en-CN" dirty="0"/>
              <a:t>Common Arithmetic and Comparison Instructions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E05032-D09D-CA75-0F08-2E10FFCBB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040758"/>
              </p:ext>
            </p:extLst>
          </p:nvPr>
        </p:nvGraphicFramePr>
        <p:xfrm>
          <a:off x="562627" y="1480452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9932993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875823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/>
                        <a:t>Instruction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802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</a:rPr>
                        <a:t>add rd, rs, rt</a:t>
                      </a:r>
                      <a:endParaRPr lang="en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Add two registers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246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</a:rPr>
                        <a:t>sub rd, rs, rt</a:t>
                      </a:r>
                      <a:endParaRPr lang="en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Subtract two registers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81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</a:rPr>
                        <a:t>mul rd, rs, rt</a:t>
                      </a:r>
                      <a:endParaRPr lang="en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Multiply register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261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</a:rPr>
                        <a:t>sll rd, rt, shamt</a:t>
                      </a:r>
                      <a:endParaRPr lang="en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Shift left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054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</a:rPr>
                        <a:t>srl rd, rt, shamt</a:t>
                      </a:r>
                      <a:endParaRPr lang="en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Shift right logical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143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>
                          <a:latin typeface="Courier New" panose="02070309020205020404" pitchFamily="49" charset="0"/>
                        </a:rPr>
                        <a:t>sra rd, rt, shamt</a:t>
                      </a:r>
                      <a:endParaRPr lang="en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Shift right arithmetic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311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</a:rPr>
                        <a:t>slt rd, rs, rt</a:t>
                      </a:r>
                      <a:endParaRPr lang="en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Set </a:t>
                      </a:r>
                      <a:r>
                        <a:rPr lang="en-CN">
                          <a:latin typeface="Courier New" panose="02070309020205020404" pitchFamily="49" charset="0"/>
                        </a:rPr>
                        <a:t>rd = 1</a:t>
                      </a:r>
                      <a:r>
                        <a:rPr lang="en-CN"/>
                        <a:t> if </a:t>
                      </a:r>
                      <a:r>
                        <a:rPr lang="en-CN">
                          <a:latin typeface="Courier New" panose="02070309020205020404" pitchFamily="49" charset="0"/>
                        </a:rPr>
                        <a:t>rs &lt; rt</a:t>
                      </a:r>
                      <a:r>
                        <a:rPr lang="en-CN"/>
                        <a:t>; otherwise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32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</a:rPr>
                        <a:t>slti rt, rs, imm</a:t>
                      </a:r>
                      <a:endParaRPr lang="en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Set </a:t>
                      </a:r>
                      <a:r>
                        <a:rPr lang="en-CN" dirty="0">
                          <a:latin typeface="Courier New" panose="02070309020205020404" pitchFamily="49" charset="0"/>
                        </a:rPr>
                        <a:t>rt = 1</a:t>
                      </a:r>
                      <a:r>
                        <a:rPr lang="en-CN" dirty="0"/>
                        <a:t> if </a:t>
                      </a:r>
                      <a:r>
                        <a:rPr lang="en-CN" dirty="0">
                          <a:latin typeface="Courier New" panose="02070309020205020404" pitchFamily="49" charset="0"/>
                        </a:rPr>
                        <a:t>rs &lt; immediate</a:t>
                      </a:r>
                      <a:r>
                        <a:rPr lang="en-CN" dirty="0"/>
                        <a:t>; otherwise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0302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A0D816D-DAE2-8C94-A3DC-DF95750B228D}"/>
              </a:ext>
            </a:extLst>
          </p:cNvPr>
          <p:cNvSpPr txBox="1"/>
          <p:nvPr/>
        </p:nvSpPr>
        <p:spPr>
          <a:xfrm>
            <a:off x="588723" y="5774499"/>
            <a:ext cx="5865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Remember: slt and slti produce a value of either 0 or 1.</a:t>
            </a:r>
          </a:p>
        </p:txBody>
      </p:sp>
    </p:spTree>
    <p:extLst>
      <p:ext uri="{BB962C8B-B14F-4D97-AF65-F5344CB8AC3E}">
        <p14:creationId xmlns:p14="http://schemas.microsoft.com/office/powerpoint/2010/main" val="3419584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23DFD-BF60-EAF2-D457-DC47FC83F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45" y="224772"/>
            <a:ext cx="10515600" cy="912530"/>
          </a:xfrm>
        </p:spPr>
        <p:txBody>
          <a:bodyPr/>
          <a:lstStyle/>
          <a:p>
            <a:r>
              <a:rPr lang="en-CN" dirty="0"/>
              <a:t>Memory Access and System Calls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822CB1-EA68-31BC-0FE8-A89EFBE38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452519"/>
              </p:ext>
            </p:extLst>
          </p:nvPr>
        </p:nvGraphicFramePr>
        <p:xfrm>
          <a:off x="926925" y="1699010"/>
          <a:ext cx="7395576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7788">
                  <a:extLst>
                    <a:ext uri="{9D8B030D-6E8A-4147-A177-3AD203B41FA5}">
                      <a16:colId xmlns:a16="http://schemas.microsoft.com/office/drawing/2014/main" val="2181972032"/>
                    </a:ext>
                  </a:extLst>
                </a:gridCol>
                <a:gridCol w="3697788">
                  <a:extLst>
                    <a:ext uri="{9D8B030D-6E8A-4147-A177-3AD203B41FA5}">
                      <a16:colId xmlns:a16="http://schemas.microsoft.com/office/drawing/2014/main" val="45917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/>
                        <a:t>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5759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lw rt, 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Load a word from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188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 rt, 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Store a word in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0639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36893FD-4FD7-E43A-991F-6429C8461321}"/>
              </a:ext>
            </a:extLst>
          </p:cNvPr>
          <p:cNvSpPr txBox="1"/>
          <p:nvPr/>
        </p:nvSpPr>
        <p:spPr>
          <a:xfrm>
            <a:off x="474945" y="1137302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Memory Access 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9A838-4D85-57F7-F740-1C01238EF3F8}"/>
              </a:ext>
            </a:extLst>
          </p:cNvPr>
          <p:cNvSpPr txBox="1"/>
          <p:nvPr/>
        </p:nvSpPr>
        <p:spPr>
          <a:xfrm>
            <a:off x="588723" y="3369501"/>
            <a:ext cx="3547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Common QtSPIM System Calls</a:t>
            </a:r>
          </a:p>
          <a:p>
            <a:endParaRPr lang="en-CN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BA6C181-527F-5132-F3ED-9BB85C850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629963"/>
              </p:ext>
            </p:extLst>
          </p:nvPr>
        </p:nvGraphicFramePr>
        <p:xfrm>
          <a:off x="926925" y="4015832"/>
          <a:ext cx="7395576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7788">
                  <a:extLst>
                    <a:ext uri="{9D8B030D-6E8A-4147-A177-3AD203B41FA5}">
                      <a16:colId xmlns:a16="http://schemas.microsoft.com/office/drawing/2014/main" val="1191332293"/>
                    </a:ext>
                  </a:extLst>
                </a:gridCol>
                <a:gridCol w="3697788">
                  <a:extLst>
                    <a:ext uri="{9D8B030D-6E8A-4147-A177-3AD203B41FA5}">
                      <a16:colId xmlns:a16="http://schemas.microsoft.com/office/drawing/2014/main" val="18759246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$v0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Service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8309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Print integer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931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Print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8303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Exit program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83616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8711FD7-84F0-50E6-46F4-BFD5278C86B6}"/>
              </a:ext>
            </a:extLst>
          </p:cNvPr>
          <p:cNvSpPr txBox="1"/>
          <p:nvPr/>
        </p:nvSpPr>
        <p:spPr>
          <a:xfrm>
            <a:off x="358588" y="5719482"/>
            <a:ext cx="29450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Example: Print an Integer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move $a0, $s2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li   $v0, 1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84679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6D672-B4E9-E7E6-B8AF-AFE6237B9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94" y="209176"/>
            <a:ext cx="10515600" cy="943722"/>
          </a:xfrm>
        </p:spPr>
        <p:txBody>
          <a:bodyPr/>
          <a:lstStyle/>
          <a:p>
            <a:r>
              <a:rPr lang="en-CN" dirty="0"/>
              <a:t>Common Branch Instructions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1B706D-E3BF-2699-210E-FE07898BC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162452"/>
              </p:ext>
            </p:extLst>
          </p:nvPr>
        </p:nvGraphicFramePr>
        <p:xfrm>
          <a:off x="658906" y="1237116"/>
          <a:ext cx="8413377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4459">
                  <a:extLst>
                    <a:ext uri="{9D8B030D-6E8A-4147-A177-3AD203B41FA5}">
                      <a16:colId xmlns:a16="http://schemas.microsoft.com/office/drawing/2014/main" val="1254239214"/>
                    </a:ext>
                  </a:extLst>
                </a:gridCol>
                <a:gridCol w="2804459">
                  <a:extLst>
                    <a:ext uri="{9D8B030D-6E8A-4147-A177-3AD203B41FA5}">
                      <a16:colId xmlns:a16="http://schemas.microsoft.com/office/drawing/2014/main" val="1292173551"/>
                    </a:ext>
                  </a:extLst>
                </a:gridCol>
                <a:gridCol w="2804459">
                  <a:extLst>
                    <a:ext uri="{9D8B030D-6E8A-4147-A177-3AD203B41FA5}">
                      <a16:colId xmlns:a16="http://schemas.microsoft.com/office/drawing/2014/main" val="13112220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/>
                        <a:t>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 dirty="0"/>
                        <a:t>Condition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97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beq rs, rt, 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Branch if equal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 == 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017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bne rs, rt, 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Branch if not equal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 != 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97203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CE6623A-ED95-0E9E-12B7-73BA67169E11}"/>
              </a:ext>
            </a:extLst>
          </p:cNvPr>
          <p:cNvSpPr txBox="1"/>
          <p:nvPr/>
        </p:nvSpPr>
        <p:spPr>
          <a:xfrm>
            <a:off x="658906" y="2581836"/>
            <a:ext cx="464422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Example 1: Branch if Equal</a:t>
            </a:r>
          </a:p>
          <a:p>
            <a:pPr lvl="1">
              <a:lnSpc>
                <a:spcPct val="150000"/>
              </a:lnSpc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li  $t0, 5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li  $t1, 5</a:t>
            </a:r>
          </a:p>
          <a:p>
            <a:pPr lvl="1"/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beq $t0, $t1, L1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addi $s0, $s0, 1    # Skipped</a:t>
            </a:r>
          </a:p>
          <a:p>
            <a:pPr lvl="1"/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L1: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# Branch target</a:t>
            </a:r>
          </a:p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5E3AF5-16EE-D516-A110-3CEF246E239C}"/>
              </a:ext>
            </a:extLst>
          </p:cNvPr>
          <p:cNvSpPr txBox="1"/>
          <p:nvPr/>
        </p:nvSpPr>
        <p:spPr>
          <a:xfrm>
            <a:off x="6888874" y="2581836"/>
            <a:ext cx="464422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Example 2: Branch if Not Equal</a:t>
            </a:r>
          </a:p>
          <a:p>
            <a:pPr lvl="1">
              <a:lnSpc>
                <a:spcPct val="150000"/>
              </a:lnSpc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li  $t0, 5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li  $t1, 7</a:t>
            </a:r>
          </a:p>
          <a:p>
            <a:pPr lvl="1"/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bne $t0, $t1, L1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addi $s0, $s0, 1    # Skipped</a:t>
            </a:r>
          </a:p>
          <a:p>
            <a:pPr lvl="1"/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L1: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# Branch target</a:t>
            </a:r>
          </a:p>
          <a:p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6F3EE-3930-CF84-DCC1-D44AD0410D95}"/>
              </a:ext>
            </a:extLst>
          </p:cNvPr>
          <p:cNvSpPr txBox="1"/>
          <p:nvPr/>
        </p:nvSpPr>
        <p:spPr>
          <a:xfrm>
            <a:off x="376518" y="5880847"/>
            <a:ext cx="109211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CN" dirty="0"/>
              <a:t> and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CN" dirty="0"/>
              <a:t> compare registers for equality or inequality. For conditions such as less than, we can use slt.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81434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E5DD9-6623-1A14-E155-D52EF80CE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211" y="180930"/>
            <a:ext cx="10515600" cy="799796"/>
          </a:xfrm>
        </p:spPr>
        <p:txBody>
          <a:bodyPr/>
          <a:lstStyle/>
          <a:p>
            <a:r>
              <a:rPr lang="en-CN" dirty="0"/>
              <a:t>Common MIPS Registers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05472D-A95C-99ED-2C94-F925543CD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596865"/>
              </p:ext>
            </p:extLst>
          </p:nvPr>
        </p:nvGraphicFramePr>
        <p:xfrm>
          <a:off x="543777" y="1234440"/>
          <a:ext cx="8520954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0477">
                  <a:extLst>
                    <a:ext uri="{9D8B030D-6E8A-4147-A177-3AD203B41FA5}">
                      <a16:colId xmlns:a16="http://schemas.microsoft.com/office/drawing/2014/main" val="3142601387"/>
                    </a:ext>
                  </a:extLst>
                </a:gridCol>
                <a:gridCol w="4260477">
                  <a:extLst>
                    <a:ext uri="{9D8B030D-6E8A-4147-A177-3AD203B41FA5}">
                      <a16:colId xmlns:a16="http://schemas.microsoft.com/office/drawing/2014/main" val="25830389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/>
                        <a:t>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 dirty="0"/>
                        <a:t>Typical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230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$t0–$t9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Temporary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535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$s0–$s7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Saved registers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583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$zero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Constant value </a:t>
                      </a:r>
                      <a:r>
                        <a:rPr lang="en-C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5206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$a0–$a3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Function arguments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698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$v0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Return value or syscall service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6736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0D775A6-2CBC-AFA0-33FD-9BB0FD3EA574}"/>
              </a:ext>
            </a:extLst>
          </p:cNvPr>
          <p:cNvSpPr txBox="1"/>
          <p:nvPr/>
        </p:nvSpPr>
        <p:spPr>
          <a:xfrm>
            <a:off x="362211" y="3682714"/>
            <a:ext cx="29899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b="1" dirty="0"/>
              <a:t>Example:</a:t>
            </a:r>
            <a:endParaRPr lang="en-CN" dirty="0"/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li  $s0, 5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li  $s1, 3</a:t>
            </a:r>
          </a:p>
          <a:p>
            <a:pPr lvl="1"/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slt $t0, $s0, $s1</a:t>
            </a:r>
          </a:p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D08B55-1DAF-D10C-C48C-0D9EAD465011}"/>
              </a:ext>
            </a:extLst>
          </p:cNvPr>
          <p:cNvSpPr txBox="1"/>
          <p:nvPr/>
        </p:nvSpPr>
        <p:spPr>
          <a:xfrm>
            <a:off x="362211" y="5372867"/>
            <a:ext cx="5507149" cy="1304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Since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5 &lt; 3 </a:t>
            </a:r>
            <a:r>
              <a:rPr lang="en-CN" dirty="0"/>
              <a:t>is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false</a:t>
            </a:r>
            <a:r>
              <a:rPr lang="en-CN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$t0 = 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If the comparison were true,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$t0 </a:t>
            </a:r>
            <a:r>
              <a:rPr lang="en-CN" dirty="0"/>
              <a:t>would contain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C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7458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9335-0FB7-C54C-A281-B8BB5C31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789" y="218509"/>
            <a:ext cx="10515600" cy="925056"/>
          </a:xfrm>
        </p:spPr>
        <p:txBody>
          <a:bodyPr/>
          <a:lstStyle/>
          <a:p>
            <a:r>
              <a:rPr lang="en-CN" dirty="0"/>
              <a:t>Conditional Operations in MIPS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7B2C0-25B8-C61C-3ADA-9718F40805A8}"/>
              </a:ext>
            </a:extLst>
          </p:cNvPr>
          <p:cNvSpPr txBox="1"/>
          <p:nvPr/>
        </p:nvSpPr>
        <p:spPr>
          <a:xfrm>
            <a:off x="399789" y="982176"/>
            <a:ext cx="8088433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Programs use conditional operations to make decisions and repeat instructions.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C-style If–Else</a:t>
            </a:r>
          </a:p>
          <a:p>
            <a:pPr lvl="1">
              <a:lnSpc>
                <a:spcPct val="150000"/>
              </a:lnSpc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if (a == b)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+ 1;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- 1;</a:t>
            </a:r>
          </a:p>
          <a:p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E9FB3C-8A71-DF0D-A18F-21A6DBE6D0A0}"/>
              </a:ext>
            </a:extLst>
          </p:cNvPr>
          <p:cNvSpPr txBox="1"/>
          <p:nvPr/>
        </p:nvSpPr>
        <p:spPr>
          <a:xfrm>
            <a:off x="399789" y="3720230"/>
            <a:ext cx="24384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C-style While Loop</a:t>
            </a:r>
          </a:p>
          <a:p>
            <a:pPr lvl="1">
              <a:lnSpc>
                <a:spcPct val="150000"/>
              </a:lnSpc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while (i &lt; 5)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i++;</a:t>
            </a:r>
          </a:p>
          <a:p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44FA1-D0BA-DCE2-E33D-9BFF4A1D8B60}"/>
              </a:ext>
            </a:extLst>
          </p:cNvPr>
          <p:cNvSpPr txBox="1"/>
          <p:nvPr/>
        </p:nvSpPr>
        <p:spPr>
          <a:xfrm>
            <a:off x="4644014" y="1969113"/>
            <a:ext cx="3459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/>
              <a:t>MIPS Control-Flow Instructions</a:t>
            </a:r>
            <a:endParaRPr lang="en-CN" dirty="0"/>
          </a:p>
          <a:p>
            <a:endParaRPr lang="en-C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8B202B4-919A-3FDE-DE0B-89E30BAD5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693544"/>
              </p:ext>
            </p:extLst>
          </p:nvPr>
        </p:nvGraphicFramePr>
        <p:xfrm>
          <a:off x="4644014" y="2615444"/>
          <a:ext cx="7148197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7179">
                  <a:extLst>
                    <a:ext uri="{9D8B030D-6E8A-4147-A177-3AD203B41FA5}">
                      <a16:colId xmlns:a16="http://schemas.microsoft.com/office/drawing/2014/main" val="1534565698"/>
                    </a:ext>
                  </a:extLst>
                </a:gridCol>
                <a:gridCol w="5001018">
                  <a:extLst>
                    <a:ext uri="{9D8B030D-6E8A-4147-A177-3AD203B41FA5}">
                      <a16:colId xmlns:a16="http://schemas.microsoft.com/office/drawing/2014/main" val="3050013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 dirty="0"/>
                        <a:t>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252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Branch when two registers are 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381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Branch when two registers are different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766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Test whether one register is less than another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326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Jump unconditionally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13721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02E6E25-5F9D-F9C8-B9ED-49F6225356FD}"/>
              </a:ext>
            </a:extLst>
          </p:cNvPr>
          <p:cNvSpPr txBox="1"/>
          <p:nvPr/>
        </p:nvSpPr>
        <p:spPr>
          <a:xfrm>
            <a:off x="513567" y="5993160"/>
            <a:ext cx="8997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Important: A label identifies a location in the program that a branch or jump can target.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82496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CD589-3AD5-07C2-C13A-87C5DE2AB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06" y="243561"/>
            <a:ext cx="10515600" cy="874952"/>
          </a:xfrm>
        </p:spPr>
        <p:txBody>
          <a:bodyPr/>
          <a:lstStyle/>
          <a:p>
            <a:r>
              <a:rPr lang="en-CN" dirty="0"/>
              <a:t>Example 1: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If–Else If–Else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98A527-3B8E-3F41-0037-5836199EB8DA}"/>
              </a:ext>
            </a:extLst>
          </p:cNvPr>
          <p:cNvSpPr txBox="1"/>
          <p:nvPr/>
        </p:nvSpPr>
        <p:spPr>
          <a:xfrm>
            <a:off x="312106" y="1118513"/>
            <a:ext cx="6368154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Translate the following C-style program into MIPS assembly.</a:t>
            </a:r>
          </a:p>
          <a:p>
            <a:pPr lvl="1"/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a = 5;</a:t>
            </a:r>
          </a:p>
          <a:p>
            <a:pPr lvl="1"/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b = 3;</a:t>
            </a:r>
          </a:p>
          <a:p>
            <a:pPr lvl="1"/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result;</a:t>
            </a:r>
          </a:p>
          <a:p>
            <a:pPr lvl="1"/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(a &lt; b)</a:t>
            </a:r>
          </a:p>
          <a:p>
            <a:pPr lvl="1"/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a + b;</a:t>
            </a:r>
          </a:p>
          <a:p>
            <a:pPr lvl="1"/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else if (a == b)</a:t>
            </a:r>
          </a:p>
          <a:p>
            <a:pPr lvl="1"/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a * b;</a:t>
            </a:r>
          </a:p>
          <a:p>
            <a:pPr lvl="1"/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lvl="1"/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a - b;</a:t>
            </a:r>
          </a:p>
          <a:p>
            <a:pPr lvl="1"/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4FD31-BA3A-167C-5523-FC0C8C011EC3}"/>
              </a:ext>
            </a:extLst>
          </p:cNvPr>
          <p:cNvSpPr txBox="1"/>
          <p:nvPr/>
        </p:nvSpPr>
        <p:spPr>
          <a:xfrm>
            <a:off x="312106" y="4886564"/>
            <a:ext cx="21275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Register Mapping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a → $s0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b → $s1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result → $s2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49781F-B062-F343-D3B8-3B6357CADF43}"/>
              </a:ext>
            </a:extLst>
          </p:cNvPr>
          <p:cNvSpPr txBox="1"/>
          <p:nvPr/>
        </p:nvSpPr>
        <p:spPr>
          <a:xfrm>
            <a:off x="312106" y="6086893"/>
            <a:ext cx="96174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Requirements: Use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slt, beq </a:t>
            </a:r>
            <a:r>
              <a:rPr lang="en-CN" dirty="0"/>
              <a:t>or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bne, labels, </a:t>
            </a:r>
            <a:r>
              <a:rPr lang="en-CN" dirty="0"/>
              <a:t>and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j.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Expected Result: Since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5 &lt; 3 </a:t>
            </a:r>
            <a:r>
              <a:rPr lang="en-CN" dirty="0"/>
              <a:t>is false and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5 == 3 </a:t>
            </a:r>
            <a:r>
              <a:rPr lang="en-CN" dirty="0"/>
              <a:t>is false, the final result is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5 − 3 = 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38145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B482-5742-A841-5EBB-803F977F2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9" y="132044"/>
            <a:ext cx="10515600" cy="818216"/>
          </a:xfrm>
        </p:spPr>
        <p:txBody>
          <a:bodyPr/>
          <a:lstStyle/>
          <a:p>
            <a:r>
              <a:rPr lang="en-CN" dirty="0"/>
              <a:t>MIPS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DB3012-2642-C6A6-645F-F37FBC1625B1}"/>
              </a:ext>
            </a:extLst>
          </p:cNvPr>
          <p:cNvSpPr txBox="1"/>
          <p:nvPr/>
        </p:nvSpPr>
        <p:spPr>
          <a:xfrm>
            <a:off x="394447" y="950260"/>
            <a:ext cx="2977097" cy="5478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a:       .word 5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b:       .word 3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result:  .word 0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newline: .asciiz "\n"</a:t>
            </a:r>
          </a:p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.text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.globl main</a:t>
            </a:r>
          </a:p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# Load a and b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lw $s0, a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lw $s1, b</a:t>
            </a:r>
          </a:p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# if (a &lt; b)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slt $t0, $s0, $s1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bne $t0, $zero, LESS</a:t>
            </a:r>
          </a:p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# else if (a == b)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beq $s0, $s1, EQUAL</a:t>
            </a:r>
          </a:p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# else: result = a - b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sub $s2, $s0, $s1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j STORE</a:t>
            </a:r>
          </a:p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423D5-C9C4-70C5-5955-1F1477077BB4}"/>
              </a:ext>
            </a:extLst>
          </p:cNvPr>
          <p:cNvSpPr txBox="1"/>
          <p:nvPr/>
        </p:nvSpPr>
        <p:spPr>
          <a:xfrm>
            <a:off x="5074023" y="950260"/>
            <a:ext cx="2440092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LESS: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add $s2, $s0, $s1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j STORE</a:t>
            </a:r>
          </a:p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EQUAL: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mul $s2, $s0, $s1</a:t>
            </a:r>
          </a:p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STORE: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# Store result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sw $s2, result</a:t>
            </a:r>
          </a:p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# Print result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move $a0, $s2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li   $v0, 1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syscall</a:t>
            </a:r>
          </a:p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# Print newline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la $a0, newline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li $v0, 4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syscall</a:t>
            </a:r>
          </a:p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# Exit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li $v0, 10</a:t>
            </a:r>
          </a:p>
          <a:p>
            <a:r>
              <a:rPr lang="en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syscall</a:t>
            </a:r>
          </a:p>
          <a:p>
            <a:endParaRPr lang="en-C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617894-162F-218E-102A-9E7A830D057E}"/>
              </a:ext>
            </a:extLst>
          </p:cNvPr>
          <p:cNvSpPr txBox="1"/>
          <p:nvPr/>
        </p:nvSpPr>
        <p:spPr>
          <a:xfrm>
            <a:off x="9466729" y="1792941"/>
            <a:ext cx="1160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0000"/>
                </a:solidFill>
              </a:rPr>
              <a:t>Output: </a:t>
            </a:r>
            <a:r>
              <a:rPr lang="en-CN" dirty="0">
                <a:solidFill>
                  <a:srgbClr val="FF0000"/>
                </a:solidFill>
              </a:rPr>
              <a:t>2</a:t>
            </a:r>
          </a:p>
          <a:p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374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65169-4F7C-549C-9CD7-1F0CFBD5D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06" y="114604"/>
            <a:ext cx="10515600" cy="1163051"/>
          </a:xfrm>
        </p:spPr>
        <p:txBody>
          <a:bodyPr/>
          <a:lstStyle/>
          <a:p>
            <a:r>
              <a:rPr lang="en-CN" dirty="0"/>
              <a:t>Example 2: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While Loop </a:t>
            </a:r>
            <a:r>
              <a:rPr lang="en-CN" dirty="0"/>
              <a:t>with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If–Else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FBB21-65B0-88F5-655A-91C2741DC9E8}"/>
              </a:ext>
            </a:extLst>
          </p:cNvPr>
          <p:cNvSpPr txBox="1"/>
          <p:nvPr/>
        </p:nvSpPr>
        <p:spPr>
          <a:xfrm>
            <a:off x="312106" y="1110395"/>
            <a:ext cx="636815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Translate the following C-style program into MIPS assembly.</a:t>
            </a:r>
          </a:p>
          <a:p>
            <a:pPr lvl="1">
              <a:lnSpc>
                <a:spcPct val="150000"/>
              </a:lnSpc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int i = 0;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int sum = 0;</a:t>
            </a:r>
          </a:p>
          <a:p>
            <a:pPr lvl="1"/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while (i &lt; 5)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if (i % 2 == 0)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sum = sum + i;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sum = sum - i;</a:t>
            </a:r>
          </a:p>
          <a:p>
            <a:pPr lvl="1"/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i++;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1D1EF7-3F22-D8A5-1C4C-E12BCC365E2D}"/>
              </a:ext>
            </a:extLst>
          </p:cNvPr>
          <p:cNvSpPr txBox="1"/>
          <p:nvPr/>
        </p:nvSpPr>
        <p:spPr>
          <a:xfrm>
            <a:off x="179294" y="5002306"/>
            <a:ext cx="418858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Program Logic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If i is even, add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N" dirty="0"/>
              <a:t> to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sum.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If i is odd, subtract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i </a:t>
            </a:r>
            <a:r>
              <a:rPr lang="en-CN" dirty="0"/>
              <a:t>from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CN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Continue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while i &lt; 5</a:t>
            </a:r>
            <a:r>
              <a:rPr lang="en-CN" dirty="0"/>
              <a:t>.</a:t>
            </a:r>
          </a:p>
          <a:p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C6E3B2-E3DA-CDE6-1309-226EDA2F3C61}"/>
              </a:ext>
            </a:extLst>
          </p:cNvPr>
          <p:cNvSpPr txBox="1"/>
          <p:nvPr/>
        </p:nvSpPr>
        <p:spPr>
          <a:xfrm>
            <a:off x="5490506" y="5002306"/>
            <a:ext cx="1902187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Register Mapping</a:t>
            </a:r>
          </a:p>
          <a:p>
            <a:pPr>
              <a:lnSpc>
                <a:spcPct val="150000"/>
              </a:lnSpc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 → $t0</a:t>
            </a:r>
            <a:b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sum → $t1</a:t>
            </a:r>
          </a:p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176C1-82C1-6EF7-DEA5-18BF3DBBFF56}"/>
              </a:ext>
            </a:extLst>
          </p:cNvPr>
          <p:cNvSpPr txBox="1"/>
          <p:nvPr/>
        </p:nvSpPr>
        <p:spPr>
          <a:xfrm>
            <a:off x="8032376" y="2886635"/>
            <a:ext cx="23903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0 → sum =  0</a:t>
            </a:r>
          </a:p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1 → sum = -1</a:t>
            </a:r>
          </a:p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2 → sum =  1</a:t>
            </a:r>
          </a:p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3 → sum = -2</a:t>
            </a:r>
          </a:p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4 → sum =  2</a:t>
            </a:r>
          </a:p>
          <a:p>
            <a:r>
              <a:rPr lang="en-CN" b="1" dirty="0"/>
              <a:t>Result: 2</a:t>
            </a:r>
            <a:endParaRPr lang="en-CN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1008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F71A-4DF8-5A88-E870-0B84ABACD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89" y="-48521"/>
            <a:ext cx="10515600" cy="907863"/>
          </a:xfrm>
        </p:spPr>
        <p:txBody>
          <a:bodyPr/>
          <a:lstStyle/>
          <a:p>
            <a:r>
              <a:rPr lang="en-CN" dirty="0"/>
              <a:t>MIPS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F17B2-9032-8251-F41A-CFBAA52C63E1}"/>
              </a:ext>
            </a:extLst>
          </p:cNvPr>
          <p:cNvSpPr txBox="1"/>
          <p:nvPr/>
        </p:nvSpPr>
        <p:spPr>
          <a:xfrm>
            <a:off x="282389" y="876990"/>
            <a:ext cx="4596130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newline: .asciiz "\n"</a:t>
            </a:r>
          </a:p>
          <a:p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.text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.globl main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li $t0, 0       # i = 0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li $t1, 0       # sum = 0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li $t2, 5       # loop limit</a:t>
            </a:r>
          </a:p>
          <a:p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LOOP: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# while (i &lt; 5)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slt $t3, $t0, $t2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beq $t3, $zero, END</a:t>
            </a:r>
          </a:p>
          <a:p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# Check whether i is even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andi $t4, $t0, 1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beq  $t4, $zero, EVEN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ODD: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sub $t1, $t1, $t0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j CONTINUE</a:t>
            </a:r>
          </a:p>
          <a:p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A8CF6-F7CC-A9E4-C54A-0F6757C5CA72}"/>
              </a:ext>
            </a:extLst>
          </p:cNvPr>
          <p:cNvSpPr txBox="1"/>
          <p:nvPr/>
        </p:nvSpPr>
        <p:spPr>
          <a:xfrm>
            <a:off x="7135905" y="859342"/>
            <a:ext cx="3079689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EVEN: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add $t1, $t1, $t0</a:t>
            </a:r>
          </a:p>
          <a:p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CONTINUE: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addi $t0, $t0, 1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j LOOP</a:t>
            </a:r>
          </a:p>
          <a:p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END: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# Print sum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move $a0, $t1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li   $v0, 1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syscall</a:t>
            </a:r>
          </a:p>
          <a:p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# Print newline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la $a0, newline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li $v0, 4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syscall</a:t>
            </a:r>
          </a:p>
          <a:p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# Exit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li $v0, 10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syscall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E16AB-5E17-AC91-B886-DE11CBB50410}"/>
              </a:ext>
            </a:extLst>
          </p:cNvPr>
          <p:cNvSpPr txBox="1"/>
          <p:nvPr/>
        </p:nvSpPr>
        <p:spPr>
          <a:xfrm>
            <a:off x="11185742" y="2229633"/>
            <a:ext cx="9220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0000"/>
                </a:solidFill>
              </a:rPr>
              <a:t>Output</a:t>
            </a:r>
            <a:endParaRPr lang="en-CN" dirty="0">
              <a:solidFill>
                <a:srgbClr val="FF0000"/>
              </a:solidFill>
            </a:endParaRPr>
          </a:p>
          <a:p>
            <a:r>
              <a:rPr lang="en-CN" dirty="0">
                <a:solidFill>
                  <a:srgbClr val="FF0000"/>
                </a:solidFill>
              </a:rPr>
              <a:t>2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96454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B245-0810-2995-39AF-0DC182C2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81" y="64342"/>
            <a:ext cx="10515600" cy="937582"/>
          </a:xfrm>
        </p:spPr>
        <p:txBody>
          <a:bodyPr/>
          <a:lstStyle/>
          <a:p>
            <a:r>
              <a:rPr lang="en-CN" dirty="0"/>
              <a:t>In-Class Task 1: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If–Else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31DCBF-F6F7-4CD4-E1E1-D6D7E0998719}"/>
              </a:ext>
            </a:extLst>
          </p:cNvPr>
          <p:cNvSpPr txBox="1"/>
          <p:nvPr/>
        </p:nvSpPr>
        <p:spPr>
          <a:xfrm>
            <a:off x="299581" y="886297"/>
            <a:ext cx="636815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Translate the following C-style program into MIPS assembly.</a:t>
            </a:r>
          </a:p>
          <a:p>
            <a:pPr lvl="1">
              <a:lnSpc>
                <a:spcPct val="150000"/>
              </a:lnSpc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int x = 8;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int y = 5;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int z;</a:t>
            </a:r>
          </a:p>
          <a:p>
            <a:pPr lvl="1"/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if (x &lt; y)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z = x + y;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z = x - y;</a:t>
            </a:r>
          </a:p>
          <a:p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03ADF-82B7-489F-A697-07B71D931009}"/>
              </a:ext>
            </a:extLst>
          </p:cNvPr>
          <p:cNvSpPr txBox="1"/>
          <p:nvPr/>
        </p:nvSpPr>
        <p:spPr>
          <a:xfrm>
            <a:off x="299581" y="3762087"/>
            <a:ext cx="219072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Register Mapping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x → $s0</a:t>
            </a:r>
            <a:b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y → $s1</a:t>
            </a:r>
            <a:b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z → $s2</a:t>
            </a:r>
          </a:p>
          <a:p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CA7267-4361-E24E-7757-2932E13F2CA3}"/>
              </a:ext>
            </a:extLst>
          </p:cNvPr>
          <p:cNvSpPr txBox="1"/>
          <p:nvPr/>
        </p:nvSpPr>
        <p:spPr>
          <a:xfrm>
            <a:off x="299581" y="4847573"/>
            <a:ext cx="554934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Requirements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Load x and y.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N" dirty="0"/>
              <a:t>Compare the values using slt.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N" dirty="0"/>
              <a:t>Use a branch instruction to implement if–else.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N" dirty="0"/>
              <a:t>Store the final result in z.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N" dirty="0"/>
              <a:t>Print z in QtSPIM.</a:t>
            </a:r>
          </a:p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0F322-D97E-572B-77E3-CC92EA701B0B}"/>
              </a:ext>
            </a:extLst>
          </p:cNvPr>
          <p:cNvSpPr txBox="1"/>
          <p:nvPr/>
        </p:nvSpPr>
        <p:spPr>
          <a:xfrm>
            <a:off x="6764055" y="5239415"/>
            <a:ext cx="4486613" cy="1304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Expected Output</a:t>
            </a:r>
          </a:p>
          <a:p>
            <a:pPr>
              <a:lnSpc>
                <a:spcPct val="150000"/>
              </a:lnSpc>
            </a:pPr>
            <a:r>
              <a:rPr lang="en-CN" dirty="0"/>
              <a:t>Since 8 &lt; 5 is false, the else block executes: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z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= 8 – 5 = 3</a:t>
            </a:r>
          </a:p>
        </p:txBody>
      </p:sp>
    </p:spTree>
    <p:extLst>
      <p:ext uri="{BB962C8B-B14F-4D97-AF65-F5344CB8AC3E}">
        <p14:creationId xmlns:p14="http://schemas.microsoft.com/office/powerpoint/2010/main" val="1091318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AEEBC-4891-1C3A-3DBA-03917A9F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99" y="0"/>
            <a:ext cx="10515600" cy="937582"/>
          </a:xfrm>
        </p:spPr>
        <p:txBody>
          <a:bodyPr/>
          <a:lstStyle/>
          <a:p>
            <a:r>
              <a:rPr lang="en-CN" dirty="0"/>
              <a:t>In-Class Task 2: While Loop and If–Else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D97C2-B2C1-E5AC-8B7C-0AB569F02EAD}"/>
              </a:ext>
            </a:extLst>
          </p:cNvPr>
          <p:cNvSpPr txBox="1"/>
          <p:nvPr/>
        </p:nvSpPr>
        <p:spPr>
          <a:xfrm>
            <a:off x="211899" y="751562"/>
            <a:ext cx="636815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Translate the following C-style program into MIPS assembly.</a:t>
            </a:r>
          </a:p>
          <a:p>
            <a:pPr lvl="1">
              <a:lnSpc>
                <a:spcPct val="150000"/>
              </a:lnSpc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int i = 0;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int sum = 0;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while (i &lt; 6)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if (i &lt; 3)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sum = sum + i;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sum = sum - i;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    i++;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CN" dirty="0"/>
              <a:t>Register Mapping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 → $t0</a:t>
            </a:r>
            <a:b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sum → $t1</a:t>
            </a:r>
          </a:p>
          <a:p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6681CA-DA91-1836-B00D-9B0CBB8544ED}"/>
              </a:ext>
            </a:extLst>
          </p:cNvPr>
          <p:cNvSpPr txBox="1"/>
          <p:nvPr/>
        </p:nvSpPr>
        <p:spPr>
          <a:xfrm>
            <a:off x="99165" y="4873277"/>
            <a:ext cx="543610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b="1" dirty="0"/>
              <a:t>Requirements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N" dirty="0"/>
              <a:t>Implement the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while (i &lt; 6) </a:t>
            </a:r>
            <a:r>
              <a:rPr lang="en-CN" dirty="0"/>
              <a:t>condition.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N" dirty="0"/>
              <a:t>Implement the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if (i &lt; 3) </a:t>
            </a:r>
            <a:r>
              <a:rPr lang="en-CN" dirty="0"/>
              <a:t>condition.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N" dirty="0"/>
              <a:t>Update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CN" dirty="0"/>
              <a:t> correctly.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N" dirty="0"/>
              <a:t>Increment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N" dirty="0"/>
              <a:t> after each iteration.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N" dirty="0"/>
              <a:t>Use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slt, beq </a:t>
            </a:r>
            <a:r>
              <a:rPr lang="en-CN" dirty="0"/>
              <a:t>or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bne, </a:t>
            </a:r>
            <a:r>
              <a:rPr lang="en-CN" dirty="0"/>
              <a:t>and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labels.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N" dirty="0"/>
              <a:t>Print the final value of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sum.</a:t>
            </a:r>
          </a:p>
          <a:p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3CBE3B-CF47-5276-98A8-6E1DF0699BD4}"/>
              </a:ext>
            </a:extLst>
          </p:cNvPr>
          <p:cNvSpPr txBox="1"/>
          <p:nvPr/>
        </p:nvSpPr>
        <p:spPr>
          <a:xfrm>
            <a:off x="7227744" y="4596278"/>
            <a:ext cx="285206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Expected Calculation</a:t>
            </a:r>
          </a:p>
          <a:p>
            <a:pPr lvl="1">
              <a:lnSpc>
                <a:spcPct val="150000"/>
              </a:lnSpc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 = 0 → sum =  0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 = 1 → sum =  1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 = 2 → sum =  3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 = 3 → sum =  0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 = 4 → sum = -4</a:t>
            </a:r>
          </a:p>
          <a:p>
            <a:pPr lvl="1"/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 = 5 → sum = -9</a:t>
            </a:r>
          </a:p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E8B2F-489C-F4C9-BD3D-1AC60738493B}"/>
              </a:ext>
            </a:extLst>
          </p:cNvPr>
          <p:cNvSpPr txBox="1"/>
          <p:nvPr/>
        </p:nvSpPr>
        <p:spPr>
          <a:xfrm>
            <a:off x="10755086" y="5098093"/>
            <a:ext cx="1225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Result: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−9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83445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D15BC-003C-0F19-17FC-CA02D9D34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51" y="262350"/>
            <a:ext cx="10515600" cy="837374"/>
          </a:xfrm>
        </p:spPr>
        <p:txBody>
          <a:bodyPr>
            <a:normAutofit/>
          </a:bodyPr>
          <a:lstStyle/>
          <a:p>
            <a:r>
              <a:rPr lang="en-CN" dirty="0"/>
              <a:t>Summary: Conditional Branching in MIPS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07D21-CDD7-221B-CB29-67109845CA91}"/>
              </a:ext>
            </a:extLst>
          </p:cNvPr>
          <p:cNvSpPr txBox="1"/>
          <p:nvPr/>
        </p:nvSpPr>
        <p:spPr>
          <a:xfrm>
            <a:off x="338203" y="849304"/>
            <a:ext cx="11096627" cy="6008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200000"/>
              </a:lnSpc>
            </a:pPr>
            <a:r>
              <a:rPr lang="en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beq: </a:t>
            </a:r>
            <a:r>
              <a:rPr lang="en-CN" sz="2800" dirty="0"/>
              <a:t>Branches when two registers contain equal values.</a:t>
            </a:r>
          </a:p>
          <a:p>
            <a:pPr lvl="0">
              <a:lnSpc>
                <a:spcPct val="200000"/>
              </a:lnSpc>
            </a:pPr>
            <a:r>
              <a:rPr lang="en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bne: </a:t>
            </a:r>
            <a:r>
              <a:rPr lang="en-CN" sz="2800" dirty="0"/>
              <a:t>Branches when two registers contain different values.</a:t>
            </a:r>
          </a:p>
          <a:p>
            <a:pPr lvl="0">
              <a:lnSpc>
                <a:spcPct val="200000"/>
              </a:lnSpc>
            </a:pPr>
            <a:r>
              <a:rPr lang="en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slt: </a:t>
            </a:r>
            <a:r>
              <a:rPr lang="en-CN" sz="2800" dirty="0"/>
              <a:t>Sets a register to 1 if one value is less than another; otherwise 0.</a:t>
            </a:r>
          </a:p>
          <a:p>
            <a:pPr lvl="0">
              <a:lnSpc>
                <a:spcPct val="200000"/>
              </a:lnSpc>
            </a:pPr>
            <a:r>
              <a:rPr lang="en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slti: </a:t>
            </a:r>
            <a:r>
              <a:rPr lang="en-CN" sz="2800" dirty="0"/>
              <a:t>Compares a register against an immediate value.</a:t>
            </a:r>
          </a:p>
          <a:p>
            <a:pPr lvl="0">
              <a:lnSpc>
                <a:spcPct val="200000"/>
              </a:lnSpc>
            </a:pPr>
            <a:r>
              <a:rPr lang="en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j: </a:t>
            </a:r>
            <a:r>
              <a:rPr lang="en-CN" sz="2800" dirty="0"/>
              <a:t>Transfers control unconditionally to a label.</a:t>
            </a:r>
          </a:p>
          <a:p>
            <a:pPr lvl="0">
              <a:lnSpc>
                <a:spcPct val="200000"/>
              </a:lnSpc>
            </a:pPr>
            <a:r>
              <a:rPr lang="en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Labels: </a:t>
            </a:r>
            <a:r>
              <a:rPr lang="en-CN" sz="2800" dirty="0"/>
              <a:t>Identify locations that branches and jumps can target.</a:t>
            </a:r>
          </a:p>
          <a:p>
            <a:pPr>
              <a:lnSpc>
                <a:spcPct val="200000"/>
              </a:lnSpc>
            </a:pPr>
            <a:endParaRPr lang="en-C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DD8D5-C3C1-FDF9-936F-AE6EBEEF66E9}"/>
              </a:ext>
            </a:extLst>
          </p:cNvPr>
          <p:cNvSpPr txBox="1"/>
          <p:nvPr/>
        </p:nvSpPr>
        <p:spPr>
          <a:xfrm>
            <a:off x="601250" y="6100175"/>
            <a:ext cx="100115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MIPS combines comparison instructions, conditional branches, unconditional jumps, and labels to </a:t>
            </a:r>
          </a:p>
          <a:p>
            <a:r>
              <a:rPr lang="en-CN" dirty="0">
                <a:solidFill>
                  <a:srgbClr val="FF0000"/>
                </a:solidFill>
              </a:rPr>
              <a:t>implement if, if–else, and while constructs.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18664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1613</Words>
  <Application>Microsoft Macintosh PowerPoint</Application>
  <PresentationFormat>Widescreen</PresentationFormat>
  <Paragraphs>326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Office Theme</vt:lpstr>
      <vt:lpstr>Lab 6: Conditional Branching and Control Flow in MIPS </vt:lpstr>
      <vt:lpstr>Learning Objectives</vt:lpstr>
      <vt:lpstr>Common Arithmetic and Comparison Instructions</vt:lpstr>
      <vt:lpstr>Memory Access and System Calls</vt:lpstr>
      <vt:lpstr>Common Branch Instructions</vt:lpstr>
      <vt:lpstr>Common MIPS Registers</vt:lpstr>
      <vt:lpstr>Conditional Operations in MIPS</vt:lpstr>
      <vt:lpstr>Example 1: If–Else If–Else</vt:lpstr>
      <vt:lpstr>MIPS Solution</vt:lpstr>
      <vt:lpstr>Example 2: While Loop with If–Else</vt:lpstr>
      <vt:lpstr>MIPS Solution</vt:lpstr>
      <vt:lpstr>In-Class Task 1: If–Else</vt:lpstr>
      <vt:lpstr>In-Class Task 2: While Loop and If–Else</vt:lpstr>
      <vt:lpstr>Summary: Conditional Branching in MIPS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Ebuka P Oguchi</dc:creator>
  <cp:lastModifiedBy>Ebuka P Oguchi</cp:lastModifiedBy>
  <cp:revision>5</cp:revision>
  <dcterms:created xsi:type="dcterms:W3CDTF">2026-10-24T23:28:47Z</dcterms:created>
  <dcterms:modified xsi:type="dcterms:W3CDTF">2026-10-25T19:12:45Z</dcterms:modified>
</cp:coreProperties>
</file>