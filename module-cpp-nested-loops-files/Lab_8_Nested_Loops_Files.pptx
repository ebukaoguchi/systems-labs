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13"/>
    <p:restoredTop sz="94537"/>
  </p:normalViewPr>
  <p:slideViewPr>
    <p:cSldViewPr snapToGrid="0" showGuides="1">
      <p:cViewPr varScale="1">
        <p:scale>
          <a:sx n="119" d="100"/>
          <a:sy n="119" d="100"/>
        </p:scale>
        <p:origin x="145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F4BA3-C325-2AF3-0095-4F8FA54D7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28B87E-F854-7696-1C9F-05E5B0AE7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901ED-5A19-88B8-5AF3-BE9F0D0B7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CA03-6587-FA47-9BEB-B08547DB4D2A}" type="datetimeFigureOut">
              <a:rPr lang="en-CN" smtClean="0"/>
              <a:t>2026/10/28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B301A-7B6A-5744-5476-41032937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12991-74E7-36B9-4FC9-E3DD182D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1C7C-48AF-7E42-9B16-80CCD81292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0730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3CA3E-7308-F515-638B-4EB5F6F4A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0F783-9B3F-E5BC-0728-62D5C5FC7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F0B95-099B-CDDC-22B2-387A74B8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CA03-6587-FA47-9BEB-B08547DB4D2A}" type="datetimeFigureOut">
              <a:rPr lang="en-CN" smtClean="0"/>
              <a:t>2026/10/28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807EB-B9B1-DD59-895F-C1E3554D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08A44-75E5-89B2-1B38-5187EF19D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1C7C-48AF-7E42-9B16-80CCD81292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31691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6F35D-D95E-C591-4B0F-2CECABDD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978B4-FA15-E5B1-4F8B-97D2EB8B4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66E91-ADB1-F8AC-6B3F-CCF3D919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CA03-6587-FA47-9BEB-B08547DB4D2A}" type="datetimeFigureOut">
              <a:rPr lang="en-CN" smtClean="0"/>
              <a:t>2026/10/28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389ED-3DBF-CCAC-8303-4D004EF60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ADCB3-744F-D573-3D9F-9EC488FC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1C7C-48AF-7E42-9B16-80CCD81292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0861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7D56B-1E1C-79CD-599A-47C200BB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5CC4C-D35B-7C43-2FD2-6B70F419F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267ED-413F-DE57-EF91-41BE59E2E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1C2B8-B2B3-0E74-D7EC-D99813D2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CA03-6587-FA47-9BEB-B08547DB4D2A}" type="datetimeFigureOut">
              <a:rPr lang="en-CN" smtClean="0"/>
              <a:t>2026/10/28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28BF1-1D29-8E51-6D51-8A61676FA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EBD86-454F-0C4C-BBDF-6EABF4E36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1C7C-48AF-7E42-9B16-80CCD81292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0804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3BF3C-0B0C-C0F4-5D0C-0B57BF98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F6204-ECB9-463E-A27B-8B3AF3E55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6056A-05DD-0C72-A0C8-6F6B698A5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70323-0858-157C-DF5D-5907CBFA6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1F6137-0C99-34EC-A859-D7CC2BBBD8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B6E12A-B1B2-C422-A25A-724E0E037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CA03-6587-FA47-9BEB-B08547DB4D2A}" type="datetimeFigureOut">
              <a:rPr lang="en-CN" smtClean="0"/>
              <a:t>2026/10/28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A926A-1525-E2E4-7851-92F370D9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39CC83-06EF-A1A1-C327-E52767BC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1C7C-48AF-7E42-9B16-80CCD81292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38828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9857B-1B87-784E-D2B0-DEC3E955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71F11E-F6C7-6D77-CEA5-A54FFB780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CA03-6587-FA47-9BEB-B08547DB4D2A}" type="datetimeFigureOut">
              <a:rPr lang="en-CN" smtClean="0"/>
              <a:t>2026/10/28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B9F0D6-BA43-A9FC-75AB-3CB6A883A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4123C-E479-84AE-B6EA-7E658100D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1C7C-48AF-7E42-9B16-80CCD81292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4380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822C1E-1373-D573-36BE-A71B03899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CA03-6587-FA47-9BEB-B08547DB4D2A}" type="datetimeFigureOut">
              <a:rPr lang="en-CN" smtClean="0"/>
              <a:t>2026/10/28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D474D1-2937-E47B-AF98-815B8209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5EEF8-E0F0-AB69-BCEB-6DA52727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1C7C-48AF-7E42-9B16-80CCD81292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13197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79C0C-AE58-2DED-C758-8B95A77B3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B7ED9-E086-7C1B-5715-C84F6CF87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60260-383D-8654-9CAD-1843FF1BC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AA5FB-B223-3C57-F5FD-E1A606782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CA03-6587-FA47-9BEB-B08547DB4D2A}" type="datetimeFigureOut">
              <a:rPr lang="en-CN" smtClean="0"/>
              <a:t>2026/10/28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910A0-CF03-C1C3-7C39-C1362854A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65D84-6557-91DA-EE9E-373CA0ADA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1C7C-48AF-7E42-9B16-80CCD81292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01233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27F8E-FAAA-7725-5718-214076E00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8EDD1-9E70-505A-8D02-12648A3C6FD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65468-A368-CACF-AB14-D2D7BD27F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39BCE-4D53-6015-33BB-D2C029FC2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CA03-6587-FA47-9BEB-B08547DB4D2A}" type="datetimeFigureOut">
              <a:rPr lang="en-CN" smtClean="0"/>
              <a:t>2026/10/28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30686-0AAE-8A31-6E94-747DC733E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64D4B-E580-CB76-DECF-C98269D3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1C7C-48AF-7E42-9B16-80CCD81292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447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8E64F-E203-F520-7640-4C2A6E6E2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1E4C0-CDB4-D05E-9270-669B00D8B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191A2-EAE1-1081-7A39-51A6507E4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CA03-6587-FA47-9BEB-B08547DB4D2A}" type="datetimeFigureOut">
              <a:rPr lang="en-CN" smtClean="0"/>
              <a:t>2026/10/28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00B96-8795-A62A-E30B-CCF53DD04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75AEC-C93E-17B9-C411-1D3CB7F3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1C7C-48AF-7E42-9B16-80CCD81292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23458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CAF1A3-C41C-3D5E-AA2F-158F996FB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58EBAE-4F44-7B5A-E527-D8DD0685F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5734A-9B73-DCBB-F7B1-BCEF5F36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CA03-6587-FA47-9BEB-B08547DB4D2A}" type="datetimeFigureOut">
              <a:rPr lang="en-CN" smtClean="0"/>
              <a:t>2026/10/28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E3B66-211F-5507-7E3A-9B19B35ED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9B57D-2DEB-A70D-E589-18A9FB8D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1C7C-48AF-7E42-9B16-80CCD81292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2900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495CA-9883-2E04-D646-942851CBA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BD876-4587-D71E-2A77-7B8716761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210FD-8961-35BC-352D-218E37485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FCA03-6587-FA47-9BEB-B08547DB4D2A}" type="datetimeFigureOut">
              <a:rPr lang="en-CN" smtClean="0"/>
              <a:t>2026/10/28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F8749-A53D-DBD1-7E42-07B59516E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725B0-C5EA-1EC8-BB17-97951FC8F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21C7C-48AF-7E42-9B16-80CCD81292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52903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B5E93-AF2C-CA79-A5B3-EB5C1FED9F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Lab 8: Nested Loops and File Handling</a:t>
            </a:r>
          </a:p>
        </p:txBody>
      </p:sp>
    </p:spTree>
    <p:extLst>
      <p:ext uri="{BB962C8B-B14F-4D97-AF65-F5344CB8AC3E}">
        <p14:creationId xmlns:p14="http://schemas.microsoft.com/office/powerpoint/2010/main" val="2844251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3DCDD-A6E7-1959-E94E-D355297BA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6ED95-500A-C279-DBC6-EB956B16C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17" y="1879413"/>
            <a:ext cx="10515600" cy="4351338"/>
          </a:xfrm>
        </p:spPr>
        <p:txBody>
          <a:bodyPr>
            <a:normAutofit lnSpcReduction="10000"/>
          </a:bodyPr>
          <a:lstStyle/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Explain the purpose of file input and output.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Distinguish between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CN" dirty="0"/>
              <a:t> and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CN" dirty="0"/>
              <a:t>.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Open, write to, read from, and close text files.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Use nested loops to process multiple groups of data.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Use accumulators and conditional statements to analyze data.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Create programs that save results to files and retrieve them.</a:t>
            </a:r>
          </a:p>
        </p:txBody>
      </p:sp>
    </p:spTree>
    <p:extLst>
      <p:ext uri="{BB962C8B-B14F-4D97-AF65-F5344CB8AC3E}">
        <p14:creationId xmlns:p14="http://schemas.microsoft.com/office/powerpoint/2010/main" val="937943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B403-FD7F-AFE7-91A3-7A13CABF4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188" y="197224"/>
            <a:ext cx="10515600" cy="1128339"/>
          </a:xfrm>
        </p:spPr>
        <p:txBody>
          <a:bodyPr/>
          <a:lstStyle/>
          <a:p>
            <a:r>
              <a:rPr lang="en-CN" dirty="0"/>
              <a:t>Review: Nested Loops From Lecture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DA8999-2A16-0F97-1B01-DDCF1C49FDBE}"/>
              </a:ext>
            </a:extLst>
          </p:cNvPr>
          <p:cNvSpPr txBox="1"/>
          <p:nvPr/>
        </p:nvSpPr>
        <p:spPr>
          <a:xfrm>
            <a:off x="362271" y="1325563"/>
            <a:ext cx="71658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A nested loop is a loop inside another loop.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(int row = 1; row &lt;= 3; row++)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for (int col = 1; col &lt;= 4; col++)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col &lt;&lt; " ";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23B0B-16E1-2E16-2AA6-4572C802E126}"/>
              </a:ext>
            </a:extLst>
          </p:cNvPr>
          <p:cNvSpPr txBox="1"/>
          <p:nvPr/>
        </p:nvSpPr>
        <p:spPr>
          <a:xfrm>
            <a:off x="8154444" y="2192055"/>
            <a:ext cx="8178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1 2 3 4</a:t>
            </a:r>
          </a:p>
          <a:p>
            <a:r>
              <a:rPr lang="en-CN" dirty="0">
                <a:solidFill>
                  <a:srgbClr val="FF0000"/>
                </a:solidFill>
              </a:rPr>
              <a:t>1 2 3 4</a:t>
            </a:r>
          </a:p>
          <a:p>
            <a:r>
              <a:rPr lang="en-CN" dirty="0">
                <a:solidFill>
                  <a:srgbClr val="FF0000"/>
                </a:solidFill>
              </a:rPr>
              <a:t>1 2 3 4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E7DC04-9372-FDA4-B355-D7C81538D53C}"/>
              </a:ext>
            </a:extLst>
          </p:cNvPr>
          <p:cNvSpPr txBox="1"/>
          <p:nvPr/>
        </p:nvSpPr>
        <p:spPr>
          <a:xfrm>
            <a:off x="375781" y="4684734"/>
            <a:ext cx="7424725" cy="1714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The outer loop controls the rows.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The inner loop controls the columns.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The inner loop completes all its iterations for each outer-loop iteration.</a:t>
            </a:r>
          </a:p>
          <a:p>
            <a:pPr>
              <a:lnSpc>
                <a:spcPct val="150000"/>
              </a:lnSpc>
            </a:pP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29D2D-6886-2C14-6573-FD4138D047C9}"/>
              </a:ext>
            </a:extLst>
          </p:cNvPr>
          <p:cNvSpPr txBox="1"/>
          <p:nvPr/>
        </p:nvSpPr>
        <p:spPr>
          <a:xfrm>
            <a:off x="362271" y="6014445"/>
            <a:ext cx="74967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000" dirty="0"/>
              <a:t>Question: How many times does the inner loop execute in total?</a:t>
            </a:r>
          </a:p>
          <a:p>
            <a:endParaRPr lang="en-C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70CDB1-0397-3AFA-4CE8-B054D287B9BC}"/>
              </a:ext>
            </a:extLst>
          </p:cNvPr>
          <p:cNvSpPr txBox="1"/>
          <p:nvPr/>
        </p:nvSpPr>
        <p:spPr>
          <a:xfrm>
            <a:off x="8693063" y="5885063"/>
            <a:ext cx="1781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3 × 4 = 12 times.</a:t>
            </a:r>
          </a:p>
          <a:p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15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AC1ED-4075-45C5-9A64-202C1DA55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211" y="289970"/>
            <a:ext cx="10515600" cy="1050316"/>
          </a:xfrm>
        </p:spPr>
        <p:txBody>
          <a:bodyPr/>
          <a:lstStyle/>
          <a:p>
            <a:r>
              <a:rPr lang="en-CN" dirty="0"/>
              <a:t>Introduction to File Handling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3C0A4D-DDE6-E950-4807-D7EE750D0D83}"/>
              </a:ext>
            </a:extLst>
          </p:cNvPr>
          <p:cNvSpPr txBox="1"/>
          <p:nvPr/>
        </p:nvSpPr>
        <p:spPr>
          <a:xfrm>
            <a:off x="502024" y="1167410"/>
            <a:ext cx="5471370" cy="1304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So far, we have mainly used: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number;    // Keyboard input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number;   // Screen output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9215A-F197-BF86-65A7-2845304D6C95}"/>
              </a:ext>
            </a:extLst>
          </p:cNvPr>
          <p:cNvSpPr txBox="1"/>
          <p:nvPr/>
        </p:nvSpPr>
        <p:spPr>
          <a:xfrm>
            <a:off x="362211" y="2806444"/>
            <a:ext cx="712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But what if we want to save information so that it can be used later?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61CA5D-04AE-F24C-779A-87B1DA6C25DC}"/>
              </a:ext>
            </a:extLst>
          </p:cNvPr>
          <p:cNvSpPr txBox="1"/>
          <p:nvPr/>
        </p:nvSpPr>
        <p:spPr>
          <a:xfrm>
            <a:off x="362211" y="3545108"/>
            <a:ext cx="4798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C++ allows programs to read and write files.</a:t>
            </a:r>
          </a:p>
          <a:p>
            <a:endParaRPr lang="en-C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74323F-AA58-1B8D-7A44-382B833B3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752000"/>
              </p:ext>
            </p:extLst>
          </p:nvPr>
        </p:nvGraphicFramePr>
        <p:xfrm>
          <a:off x="1478072" y="4031306"/>
          <a:ext cx="6590286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5143">
                  <a:extLst>
                    <a:ext uri="{9D8B030D-6E8A-4147-A177-3AD203B41FA5}">
                      <a16:colId xmlns:a16="http://schemas.microsoft.com/office/drawing/2014/main" val="2295297569"/>
                    </a:ext>
                  </a:extLst>
                </a:gridCol>
                <a:gridCol w="3295143">
                  <a:extLst>
                    <a:ext uri="{9D8B030D-6E8A-4147-A177-3AD203B41FA5}">
                      <a16:colId xmlns:a16="http://schemas.microsoft.com/office/drawing/2014/main" val="14446734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Stream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933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ofstream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Writes data to a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5174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ifstream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Reads data from a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536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fstream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Can read and write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806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321CB61-C5B0-3D36-110D-B6ED9C2775A6}"/>
              </a:ext>
            </a:extLst>
          </p:cNvPr>
          <p:cNvSpPr txBox="1"/>
          <p:nvPr/>
        </p:nvSpPr>
        <p:spPr>
          <a:xfrm>
            <a:off x="362211" y="5611212"/>
            <a:ext cx="4713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Required header: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50C8E-ABF8-4689-E26C-D3B4779BF515}"/>
              </a:ext>
            </a:extLst>
          </p:cNvPr>
          <p:cNvSpPr txBox="1"/>
          <p:nvPr/>
        </p:nvSpPr>
        <p:spPr>
          <a:xfrm>
            <a:off x="362211" y="6349876"/>
            <a:ext cx="8378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solidFill>
                  <a:srgbClr val="FF0000"/>
                </a:solidFill>
              </a:rPr>
              <a:t>Variables such as outfile and infile are object names chosen by the programmer.</a:t>
            </a:r>
          </a:p>
        </p:txBody>
      </p:sp>
    </p:spTree>
    <p:extLst>
      <p:ext uri="{BB962C8B-B14F-4D97-AF65-F5344CB8AC3E}">
        <p14:creationId xmlns:p14="http://schemas.microsoft.com/office/powerpoint/2010/main" val="327548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8CA7E-9551-DE9B-5AC8-4E144D9B5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0212"/>
          </a:xfrm>
        </p:spPr>
        <p:txBody>
          <a:bodyPr/>
          <a:lstStyle/>
          <a:p>
            <a:r>
              <a:rPr lang="en-CN" dirty="0"/>
              <a:t>Writing Data to a File Using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15E0A0-73CB-0D34-5DEA-F49D1E14EB4E}"/>
              </a:ext>
            </a:extLst>
          </p:cNvPr>
          <p:cNvSpPr txBox="1"/>
          <p:nvPr/>
        </p:nvSpPr>
        <p:spPr>
          <a:xfrm>
            <a:off x="563671" y="1365338"/>
            <a:ext cx="459613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outfile.open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numbers.txt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10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20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30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outfile.close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B8EFB1-6FB1-DA16-F870-1859AED326E9}"/>
              </a:ext>
            </a:extLst>
          </p:cNvPr>
          <p:cNvSpPr txBox="1"/>
          <p:nvPr/>
        </p:nvSpPr>
        <p:spPr>
          <a:xfrm>
            <a:off x="450938" y="6443651"/>
            <a:ext cx="6585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The program creates a file named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numbers.txt </a:t>
            </a:r>
            <a:r>
              <a:rPr lang="en-CN" dirty="0"/>
              <a:t>containing:</a:t>
            </a:r>
          </a:p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E633E9-7211-49B7-8AA7-C0AF31FE8097}"/>
              </a:ext>
            </a:extLst>
          </p:cNvPr>
          <p:cNvSpPr txBox="1"/>
          <p:nvPr/>
        </p:nvSpPr>
        <p:spPr>
          <a:xfrm>
            <a:off x="7149513" y="6443651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10 20 30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0DD7A-B580-37A6-F8C5-C3F3D2271B60}"/>
              </a:ext>
            </a:extLst>
          </p:cNvPr>
          <p:cNvSpPr txBox="1"/>
          <p:nvPr/>
        </p:nvSpPr>
        <p:spPr>
          <a:xfrm>
            <a:off x="6814159" y="2517732"/>
            <a:ext cx="5221879" cy="2169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open() </a:t>
            </a:r>
            <a:r>
              <a:rPr lang="en-CN" dirty="0"/>
              <a:t>opens the file.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CN" dirty="0"/>
              <a:t> writes data to the file.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close() </a:t>
            </a:r>
            <a:r>
              <a:rPr lang="en-CN" dirty="0"/>
              <a:t>closes the file.</a:t>
            </a:r>
          </a:p>
          <a:p>
            <a:endParaRPr lang="en-CN" dirty="0"/>
          </a:p>
          <a:p>
            <a:r>
              <a:rPr lang="en-CN" dirty="0">
                <a:solidFill>
                  <a:srgbClr val="FF0000"/>
                </a:solidFill>
              </a:rPr>
              <a:t>Opening an existing file with </a:t>
            </a:r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CN" dirty="0">
                <a:solidFill>
                  <a:srgbClr val="FF0000"/>
                </a:solidFill>
              </a:rPr>
              <a:t> in this way </a:t>
            </a:r>
          </a:p>
          <a:p>
            <a:r>
              <a:rPr lang="en-CN" dirty="0">
                <a:solidFill>
                  <a:srgbClr val="FF0000"/>
                </a:solidFill>
              </a:rPr>
              <a:t>normally replaces its previous contents.</a:t>
            </a:r>
          </a:p>
        </p:txBody>
      </p:sp>
    </p:spTree>
    <p:extLst>
      <p:ext uri="{BB962C8B-B14F-4D97-AF65-F5344CB8AC3E}">
        <p14:creationId xmlns:p14="http://schemas.microsoft.com/office/powerpoint/2010/main" val="185940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799EB-0D6D-7BEC-7B31-DBE00D69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43" y="326"/>
            <a:ext cx="10515600" cy="1026808"/>
          </a:xfrm>
        </p:spPr>
        <p:txBody>
          <a:bodyPr/>
          <a:lstStyle/>
          <a:p>
            <a:r>
              <a:rPr lang="en-CN" dirty="0"/>
              <a:t>Reading Data from a File Using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58FAA-2ED6-49E4-5E0E-6172F013F15E}"/>
              </a:ext>
            </a:extLst>
          </p:cNvPr>
          <p:cNvSpPr txBox="1"/>
          <p:nvPr/>
        </p:nvSpPr>
        <p:spPr>
          <a:xfrm>
            <a:off x="487472" y="864296"/>
            <a:ext cx="445827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number;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infile.open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numbers.txt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number)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number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infile.close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EB9A8-27A2-CC65-5E58-1DCF3C6C05AE}"/>
              </a:ext>
            </a:extLst>
          </p:cNvPr>
          <p:cNvSpPr txBox="1"/>
          <p:nvPr/>
        </p:nvSpPr>
        <p:spPr>
          <a:xfrm>
            <a:off x="6137753" y="1741118"/>
            <a:ext cx="4315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10</a:t>
            </a:r>
          </a:p>
          <a:p>
            <a:r>
              <a:rPr lang="en-CN" dirty="0">
                <a:solidFill>
                  <a:srgbClr val="FF0000"/>
                </a:solidFill>
              </a:rPr>
              <a:t>20</a:t>
            </a:r>
          </a:p>
          <a:p>
            <a:r>
              <a:rPr lang="en-CN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ACD6A8-D3EE-980C-3672-4938F55518BC}"/>
              </a:ext>
            </a:extLst>
          </p:cNvPr>
          <p:cNvSpPr txBox="1"/>
          <p:nvPr/>
        </p:nvSpPr>
        <p:spPr>
          <a:xfrm>
            <a:off x="5616964" y="3454889"/>
            <a:ext cx="6549229" cy="2129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How does while (infile &gt;&gt; number) work?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It attempts to read the next integer.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If reading succeeds, the loop executes.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When no more integers can be read, the loop terminates.</a:t>
            </a:r>
          </a:p>
          <a:p>
            <a:pPr>
              <a:lnSpc>
                <a:spcPct val="150000"/>
              </a:lnSpc>
            </a:pP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50D66D-468A-2FA8-B8AE-F221C7D6DCFA}"/>
              </a:ext>
            </a:extLst>
          </p:cNvPr>
          <p:cNvSpPr txBox="1"/>
          <p:nvPr/>
        </p:nvSpPr>
        <p:spPr>
          <a:xfrm>
            <a:off x="5373666" y="5448822"/>
            <a:ext cx="5983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Question: Why don't we need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number++ </a:t>
            </a:r>
            <a:r>
              <a:rPr lang="en-CN" dirty="0"/>
              <a:t>inside this loop?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3534A0-179C-A882-F6E3-8887F844A337}"/>
              </a:ext>
            </a:extLst>
          </p:cNvPr>
          <p:cNvSpPr txBox="1"/>
          <p:nvPr/>
        </p:nvSpPr>
        <p:spPr>
          <a:xfrm>
            <a:off x="5394543" y="6052042"/>
            <a:ext cx="5989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Because the file stream advances as data is read; the loop </a:t>
            </a:r>
          </a:p>
          <a:p>
            <a:r>
              <a:rPr lang="en-CN" dirty="0">
                <a:solidFill>
                  <a:srgbClr val="FF0000"/>
                </a:solidFill>
              </a:rPr>
              <a:t>condition does not depend on incrementing number.</a:t>
            </a:r>
          </a:p>
        </p:txBody>
      </p:sp>
    </p:spTree>
    <p:extLst>
      <p:ext uri="{BB962C8B-B14F-4D97-AF65-F5344CB8AC3E}">
        <p14:creationId xmlns:p14="http://schemas.microsoft.com/office/powerpoint/2010/main" val="68798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CA1AD-EA50-F183-0F58-21B831B6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448" y="227338"/>
            <a:ext cx="11099104" cy="1325563"/>
          </a:xfrm>
        </p:spPr>
        <p:txBody>
          <a:bodyPr/>
          <a:lstStyle/>
          <a:p>
            <a:r>
              <a:rPr lang="en-CN" dirty="0"/>
              <a:t>Checking Whether a File Opened Successfully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5857A-0468-0F6E-A3E5-1B8311B31A84}"/>
              </a:ext>
            </a:extLst>
          </p:cNvPr>
          <p:cNvSpPr txBox="1"/>
          <p:nvPr/>
        </p:nvSpPr>
        <p:spPr>
          <a:xfrm>
            <a:off x="413359" y="1552575"/>
            <a:ext cx="10678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A file might fail to open because it does not exist, the path is incorrect, or the program lacks permission.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587B7-1394-3BD6-8F9A-09637AF90101}"/>
              </a:ext>
            </a:extLst>
          </p:cNvPr>
          <p:cNvSpPr txBox="1"/>
          <p:nvPr/>
        </p:nvSpPr>
        <p:spPr>
          <a:xfrm>
            <a:off x="726510" y="2116899"/>
            <a:ext cx="597471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numbers.txt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(!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"Error opening file!"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1;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0F6D9F-2F56-80C2-9B22-7E472FD1A989}"/>
              </a:ext>
            </a:extLst>
          </p:cNvPr>
          <p:cNvSpPr txBox="1"/>
          <p:nvPr/>
        </p:nvSpPr>
        <p:spPr>
          <a:xfrm>
            <a:off x="413359" y="4343216"/>
            <a:ext cx="3881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We should also check output files: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A4127-156E-4DE5-3E1C-1BA4E80F1201}"/>
              </a:ext>
            </a:extLst>
          </p:cNvPr>
          <p:cNvSpPr txBox="1"/>
          <p:nvPr/>
        </p:nvSpPr>
        <p:spPr>
          <a:xfrm>
            <a:off x="726510" y="4826675"/>
            <a:ext cx="611257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report.txt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(!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"Error creating file!"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1;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457824-E224-DF10-A307-F97CC0FC9369}"/>
              </a:ext>
            </a:extLst>
          </p:cNvPr>
          <p:cNvSpPr txBox="1"/>
          <p:nvPr/>
        </p:nvSpPr>
        <p:spPr>
          <a:xfrm>
            <a:off x="5752513" y="3753949"/>
            <a:ext cx="65403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>
                <a:solidFill>
                  <a:srgbClr val="FF0000"/>
                </a:solidFill>
              </a:rPr>
              <a:t>Remember: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CN" dirty="0">
                <a:solidFill>
                  <a:srgbClr val="FF0000"/>
                </a:solidFill>
              </a:rPr>
              <a:t> does not automatically create a missing input file.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CN" dirty="0">
                <a:solidFill>
                  <a:srgbClr val="FF0000"/>
                </a:solidFill>
              </a:rPr>
              <a:t> can create an output file.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>
                <a:solidFill>
                  <a:srgbClr val="FF0000"/>
                </a:solidFill>
              </a:rPr>
              <a:t>Always check that important file operations succeed.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54534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58A3-A3F2-E3F0-8FA1-C807880AA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41" y="264918"/>
            <a:ext cx="10515600" cy="1087894"/>
          </a:xfrm>
        </p:spPr>
        <p:txBody>
          <a:bodyPr/>
          <a:lstStyle/>
          <a:p>
            <a:r>
              <a:rPr lang="en-CN" dirty="0"/>
              <a:t>Live Coding: Weekly Sales Report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A71D0-768B-FADC-0BF5-3ACEE8A0EA75}"/>
              </a:ext>
            </a:extLst>
          </p:cNvPr>
          <p:cNvSpPr txBox="1"/>
          <p:nvPr/>
        </p:nvSpPr>
        <p:spPr>
          <a:xfrm>
            <a:off x="210732" y="1202498"/>
            <a:ext cx="7252691" cy="4985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sz="2000" dirty="0"/>
              <a:t>Problem</a:t>
            </a:r>
          </a:p>
          <a:p>
            <a:pPr>
              <a:lnSpc>
                <a:spcPct val="150000"/>
              </a:lnSpc>
            </a:pPr>
            <a:r>
              <a:rPr lang="en-CN" dirty="0"/>
              <a:t>Write a C++ program that: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Asks how many stores will be processed.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Asks how many days of sales will be recorded for each store.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Uses nested loops to collect daily sales.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Calculates total sales for each store.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Uses if/else </a:t>
            </a:r>
            <a:r>
              <a:rPr lang="en-CN" dirty="0"/>
              <a:t>to determine performance: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Total sales of $500 or more: Good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Otherwise: Needs Improvement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Writes each store's total and performance to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sales_report.txt</a:t>
            </a:r>
            <a:r>
              <a:rPr lang="en-CN" dirty="0"/>
              <a:t>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Reads the saved report and displays it on the screen.</a:t>
            </a:r>
          </a:p>
          <a:p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9B43A-CB37-7FB8-7220-11FD71B642A8}"/>
              </a:ext>
            </a:extLst>
          </p:cNvPr>
          <p:cNvSpPr txBox="1"/>
          <p:nvPr/>
        </p:nvSpPr>
        <p:spPr>
          <a:xfrm>
            <a:off x="6325644" y="2247151"/>
            <a:ext cx="380687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Think Before You Code</a:t>
            </a:r>
          </a:p>
          <a:p>
            <a:endParaRPr lang="en-C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Which loop processes stores?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Which loop processes days?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/>
              <a:t>Where should total be initialized?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/>
              <a:t>Which stream writes to the file?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/>
              <a:t>Which stream reads from the file?</a:t>
            </a:r>
          </a:p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38210-8CF2-F053-4C68-7C1DD8EC6F56}"/>
              </a:ext>
            </a:extLst>
          </p:cNvPr>
          <p:cNvSpPr txBox="1"/>
          <p:nvPr/>
        </p:nvSpPr>
        <p:spPr>
          <a:xfrm>
            <a:off x="9719120" y="2705622"/>
            <a:ext cx="1748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>
                <a:solidFill>
                  <a:srgbClr val="FF0000"/>
                </a:solidFill>
              </a:rPr>
              <a:t>Outer for loop </a:t>
            </a:r>
          </a:p>
          <a:p>
            <a:r>
              <a:rPr lang="en-CN" sz="1600" dirty="0">
                <a:solidFill>
                  <a:srgbClr val="FF0000"/>
                </a:solidFill>
              </a:rPr>
              <a:t>processes stores.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9B9C7-0028-31AE-8F21-157A16B1A804}"/>
              </a:ext>
            </a:extLst>
          </p:cNvPr>
          <p:cNvSpPr txBox="1"/>
          <p:nvPr/>
        </p:nvSpPr>
        <p:spPr>
          <a:xfrm>
            <a:off x="9673018" y="3244438"/>
            <a:ext cx="1613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>
                <a:solidFill>
                  <a:srgbClr val="FF0000"/>
                </a:solidFill>
              </a:rPr>
              <a:t>Inner for loop </a:t>
            </a:r>
          </a:p>
          <a:p>
            <a:r>
              <a:rPr lang="en-CN" sz="1600" dirty="0">
                <a:solidFill>
                  <a:srgbClr val="FF0000"/>
                </a:solidFill>
              </a:rPr>
              <a:t>processes days.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E51D3A-CC28-6099-43BA-700D2A0A1E4B}"/>
              </a:ext>
            </a:extLst>
          </p:cNvPr>
          <p:cNvSpPr txBox="1"/>
          <p:nvPr/>
        </p:nvSpPr>
        <p:spPr>
          <a:xfrm>
            <a:off x="9879253" y="3819235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 = 0; </a:t>
            </a:r>
            <a:r>
              <a:rPr lang="en-CN" sz="1600" dirty="0">
                <a:solidFill>
                  <a:srgbClr val="FF0000"/>
                </a:solidFill>
              </a:rPr>
              <a:t>inside the </a:t>
            </a:r>
          </a:p>
          <a:p>
            <a:r>
              <a:rPr lang="en-CN" sz="1600" dirty="0">
                <a:solidFill>
                  <a:srgbClr val="FF0000"/>
                </a:solidFill>
              </a:rPr>
              <a:t>outer loop, before </a:t>
            </a:r>
          </a:p>
          <a:p>
            <a:r>
              <a:rPr lang="en-CN" sz="1600" dirty="0">
                <a:solidFill>
                  <a:srgbClr val="FF0000"/>
                </a:solidFill>
              </a:rPr>
              <a:t>the inner loop.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D76D25-48B1-9D80-430E-96B2D3ECAD57}"/>
              </a:ext>
            </a:extLst>
          </p:cNvPr>
          <p:cNvSpPr txBox="1"/>
          <p:nvPr/>
        </p:nvSpPr>
        <p:spPr>
          <a:xfrm>
            <a:off x="9506423" y="4623024"/>
            <a:ext cx="266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CN" sz="1600" dirty="0">
                <a:solidFill>
                  <a:srgbClr val="FF0000"/>
                </a:solidFill>
              </a:rPr>
              <a:t> writes to the file.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DD473E-3FEC-5931-254C-B64EA253B406}"/>
              </a:ext>
            </a:extLst>
          </p:cNvPr>
          <p:cNvSpPr txBox="1"/>
          <p:nvPr/>
        </p:nvSpPr>
        <p:spPr>
          <a:xfrm>
            <a:off x="8885846" y="5269355"/>
            <a:ext cx="3188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CN" dirty="0">
                <a:solidFill>
                  <a:srgbClr val="FF0000"/>
                </a:solidFill>
              </a:rPr>
              <a:t> reads from the file.</a:t>
            </a:r>
          </a:p>
        </p:txBody>
      </p:sp>
    </p:spTree>
    <p:extLst>
      <p:ext uri="{BB962C8B-B14F-4D97-AF65-F5344CB8AC3E}">
        <p14:creationId xmlns:p14="http://schemas.microsoft.com/office/powerpoint/2010/main" val="214716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F09B-1A78-0C80-DECB-2C76D322C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-298263"/>
            <a:ext cx="10869706" cy="1325563"/>
          </a:xfrm>
        </p:spPr>
        <p:txBody>
          <a:bodyPr/>
          <a:lstStyle/>
          <a:p>
            <a:r>
              <a:rPr lang="en-CN" dirty="0"/>
              <a:t>Part 1: Getting input and opening the output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FB5D3-972C-5DD9-4133-3426096C37BB}"/>
              </a:ext>
            </a:extLst>
          </p:cNvPr>
          <p:cNvSpPr txBox="1"/>
          <p:nvPr/>
        </p:nvSpPr>
        <p:spPr>
          <a:xfrm>
            <a:off x="471271" y="517803"/>
            <a:ext cx="5232523" cy="6340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numStores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numDays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sales, total;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number of stores: ";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numStores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number of days: ";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numDays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numStores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&lt;= 0 ||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numDays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&lt;= 0)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"Invalid input!"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sales_report.txt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(!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"Error creating file!"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364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D0819-2283-10F5-DA37-50E016E83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11887200" cy="1021089"/>
          </a:xfrm>
        </p:spPr>
        <p:txBody>
          <a:bodyPr>
            <a:normAutofit/>
          </a:bodyPr>
          <a:lstStyle/>
          <a:p>
            <a:r>
              <a:rPr lang="en-CN" sz="3600" dirty="0"/>
              <a:t>Part 2: Nested loops, accumulator, and conditional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93D35-7A54-368F-F210-38131F876B50}"/>
              </a:ext>
            </a:extLst>
          </p:cNvPr>
          <p:cNvSpPr txBox="1"/>
          <p:nvPr/>
        </p:nvSpPr>
        <p:spPr>
          <a:xfrm>
            <a:off x="412376" y="948690"/>
            <a:ext cx="598433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for (int store = 1; store &lt;=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numStores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 store++)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total = 0;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(int day = 1; day &lt;=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numDays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 day++)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"Store " &lt;&lt; store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&lt;&lt; ", Day " &lt;&lt; day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&lt;&lt; " sales: ";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sales;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total += sales;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"Store " &lt;&lt; store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&lt;&lt; ": Total = $" &lt;&lt; total;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(total &gt;= 500)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 - Good"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 - Needs Improvement"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outfile.close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E0755-0486-3B7B-1BDD-4911ADC242E2}"/>
              </a:ext>
            </a:extLst>
          </p:cNvPr>
          <p:cNvSpPr txBox="1"/>
          <p:nvPr/>
        </p:nvSpPr>
        <p:spPr>
          <a:xfrm>
            <a:off x="4127165" y="2621086"/>
            <a:ext cx="5532668" cy="189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>
                <a:solidFill>
                  <a:srgbClr val="FF0000"/>
                </a:solidFill>
              </a:rPr>
              <a:t>Why is total = 0; inside the outer loop?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solidFill>
                  <a:srgbClr val="FF0000"/>
                </a:solidFill>
              </a:rPr>
              <a:t>What happens if we move it outside the outer loop?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solidFill>
                  <a:srgbClr val="FF0000"/>
                </a:solidFill>
              </a:rPr>
              <a:t>Why is the if/else after the inner loop?</a:t>
            </a:r>
          </a:p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0CF67-8CF0-973A-434A-F374AEF76DD8}"/>
              </a:ext>
            </a:extLst>
          </p:cNvPr>
          <p:cNvSpPr txBox="1"/>
          <p:nvPr/>
        </p:nvSpPr>
        <p:spPr>
          <a:xfrm>
            <a:off x="8417742" y="2693412"/>
            <a:ext cx="3361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To reset the total for each new store.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A7B3E-D3DE-E3D2-E576-1C1F8ABDEF18}"/>
              </a:ext>
            </a:extLst>
          </p:cNvPr>
          <p:cNvSpPr txBox="1"/>
          <p:nvPr/>
        </p:nvSpPr>
        <p:spPr>
          <a:xfrm>
            <a:off x="8833934" y="3429000"/>
            <a:ext cx="32907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Sales from previous stores will </a:t>
            </a:r>
          </a:p>
          <a:p>
            <a:r>
              <a:rPr lang="en-CN" sz="1600" dirty="0"/>
              <a:t>accumulate, giving incorrect totals.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49E8BF-5E30-3F52-A48D-D7AE7A68E6AC}"/>
              </a:ext>
            </a:extLst>
          </p:cNvPr>
          <p:cNvSpPr txBox="1"/>
          <p:nvPr/>
        </p:nvSpPr>
        <p:spPr>
          <a:xfrm>
            <a:off x="8168784" y="4118421"/>
            <a:ext cx="2982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To classify each store after all </a:t>
            </a:r>
          </a:p>
          <a:p>
            <a:r>
              <a:rPr lang="en-CN" sz="1600" dirty="0"/>
              <a:t>its daily sales have been added.</a:t>
            </a:r>
          </a:p>
        </p:txBody>
      </p:sp>
    </p:spTree>
    <p:extLst>
      <p:ext uri="{BB962C8B-B14F-4D97-AF65-F5344CB8AC3E}">
        <p14:creationId xmlns:p14="http://schemas.microsoft.com/office/powerpoint/2010/main" val="290918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2F850-CBA7-266F-AFA8-7D5F2EA2D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90" y="262350"/>
            <a:ext cx="11548998" cy="837374"/>
          </a:xfrm>
        </p:spPr>
        <p:txBody>
          <a:bodyPr/>
          <a:lstStyle/>
          <a:p>
            <a:r>
              <a:rPr lang="en-CN" dirty="0"/>
              <a:t>Part 3: Reading and displaying the saved report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86D79-77C8-33A4-E724-3B96CDB17148}"/>
              </a:ext>
            </a:extLst>
          </p:cNvPr>
          <p:cNvSpPr txBox="1"/>
          <p:nvPr/>
        </p:nvSpPr>
        <p:spPr>
          <a:xfrm>
            <a:off x="651354" y="948690"/>
            <a:ext cx="6801862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sales_report.txt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if (!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"Error opening report!"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line;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nWeekly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Sales Report\n";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line))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line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infile.close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88917-CEB6-F070-9AAF-BB4B24F1F3E7}"/>
              </a:ext>
            </a:extLst>
          </p:cNvPr>
          <p:cNvSpPr txBox="1"/>
          <p:nvPr/>
        </p:nvSpPr>
        <p:spPr>
          <a:xfrm>
            <a:off x="7791189" y="1691014"/>
            <a:ext cx="268336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Example input:</a:t>
            </a:r>
          </a:p>
          <a:p>
            <a:r>
              <a:rPr lang="en-US" dirty="0">
                <a:solidFill>
                  <a:srgbClr val="FF0000"/>
                </a:solidFill>
              </a:rPr>
              <a:t>Enter number of stores: 2</a:t>
            </a:r>
          </a:p>
          <a:p>
            <a:r>
              <a:rPr lang="en-US" dirty="0">
                <a:solidFill>
                  <a:srgbClr val="FF0000"/>
                </a:solidFill>
              </a:rPr>
              <a:t>Enter number of days: 2</a:t>
            </a:r>
          </a:p>
          <a:p>
            <a:r>
              <a:rPr lang="en-US" dirty="0">
                <a:solidFill>
                  <a:srgbClr val="FF0000"/>
                </a:solidFill>
              </a:rPr>
              <a:t>Store 1, Day 1 sales: 200</a:t>
            </a:r>
          </a:p>
          <a:p>
            <a:r>
              <a:rPr lang="en-US" dirty="0">
                <a:solidFill>
                  <a:srgbClr val="FF0000"/>
                </a:solidFill>
              </a:rPr>
              <a:t>Store 1, Day 2 sales: 350</a:t>
            </a:r>
          </a:p>
          <a:p>
            <a:r>
              <a:rPr lang="en-US" dirty="0">
                <a:solidFill>
                  <a:srgbClr val="FF0000"/>
                </a:solidFill>
              </a:rPr>
              <a:t>Store 2, Day 1 sales: 100</a:t>
            </a:r>
          </a:p>
          <a:p>
            <a:r>
              <a:rPr lang="en-US" dirty="0">
                <a:solidFill>
                  <a:srgbClr val="FF0000"/>
                </a:solidFill>
              </a:rPr>
              <a:t>Store 2, Day 2 sales: 150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87978-8C12-9DE7-D235-F4CBB16DD840}"/>
              </a:ext>
            </a:extLst>
          </p:cNvPr>
          <p:cNvSpPr txBox="1"/>
          <p:nvPr/>
        </p:nvSpPr>
        <p:spPr>
          <a:xfrm>
            <a:off x="7766137" y="4459266"/>
            <a:ext cx="3621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File contents and displayed report: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41A6AD-3B2F-7585-1693-F1ABE7FB5BA6}"/>
              </a:ext>
            </a:extLst>
          </p:cNvPr>
          <p:cNvSpPr txBox="1"/>
          <p:nvPr/>
        </p:nvSpPr>
        <p:spPr>
          <a:xfrm>
            <a:off x="7766137" y="5166986"/>
            <a:ext cx="4375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 1: Total = $550 - Good</a:t>
            </a:r>
          </a:p>
          <a:p>
            <a:r>
              <a:rPr lang="en-US" dirty="0"/>
              <a:t>Store 2: Total = $250 - Needs Improvement</a:t>
            </a: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F0A43E-5EEF-4AAA-3A70-1BD8BABBE3DC}"/>
              </a:ext>
            </a:extLst>
          </p:cNvPr>
          <p:cNvSpPr txBox="1"/>
          <p:nvPr/>
        </p:nvSpPr>
        <p:spPr>
          <a:xfrm>
            <a:off x="3537222" y="5967039"/>
            <a:ext cx="860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Question: Why use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getline(infile, line) </a:t>
            </a:r>
            <a:r>
              <a:rPr lang="en-CN" dirty="0"/>
              <a:t>rather than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infile &gt;&gt; line</a:t>
            </a:r>
            <a:r>
              <a:rPr lang="en-CN" dirty="0"/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CAFFDF-03C1-EB67-748B-F911A0223177}"/>
              </a:ext>
            </a:extLst>
          </p:cNvPr>
          <p:cNvSpPr txBox="1"/>
          <p:nvPr/>
        </p:nvSpPr>
        <p:spPr>
          <a:xfrm>
            <a:off x="4415460" y="6314991"/>
            <a:ext cx="7848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Because </a:t>
            </a:r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getline() </a:t>
            </a:r>
            <a:r>
              <a:rPr lang="en-CN" dirty="0">
                <a:solidFill>
                  <a:srgbClr val="FF0000"/>
                </a:solidFill>
              </a:rPr>
              <a:t>reads the entire line, including spaces between words.</a:t>
            </a:r>
          </a:p>
        </p:txBody>
      </p:sp>
    </p:spTree>
    <p:extLst>
      <p:ext uri="{BB962C8B-B14F-4D97-AF65-F5344CB8AC3E}">
        <p14:creationId xmlns:p14="http://schemas.microsoft.com/office/powerpoint/2010/main" val="13553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C039-1897-483F-A4B4-701C4E6B8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43" y="0"/>
            <a:ext cx="10515600" cy="611905"/>
          </a:xfrm>
        </p:spPr>
        <p:txBody>
          <a:bodyPr>
            <a:normAutofit fontScale="90000"/>
          </a:bodyPr>
          <a:lstStyle/>
          <a:p>
            <a:r>
              <a:rPr lang="en-CN" dirty="0"/>
              <a:t>Complete Weekly Sales Report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E9FF55-47F8-71BA-5A58-17EB0F4B5A1F}"/>
              </a:ext>
            </a:extLst>
          </p:cNvPr>
          <p:cNvSpPr txBox="1"/>
          <p:nvPr/>
        </p:nvSpPr>
        <p:spPr>
          <a:xfrm>
            <a:off x="375781" y="457132"/>
            <a:ext cx="4185761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numStores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numDays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sales, total;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number of stores: ";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numStores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number of days: ";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numDays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numStores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&lt;= 0 ||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numDays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&lt;= 0)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"Invalid input!" &lt;&lt;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Open file for writing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sales_report.txt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(!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"Error creating file!" &lt;&lt;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Process each store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(int store = 1; store &lt;=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numStores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 store++)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total = 0;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Collect daily sales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(int day = 1; day &lt;=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numDays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 day++)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"Store " &lt;&lt; store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&lt;&lt; ", Day " &lt;&lt; day &lt;&lt; " sales: ";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75FDAF-E94B-23E6-ED93-07A152D48579}"/>
              </a:ext>
            </a:extLst>
          </p:cNvPr>
          <p:cNvSpPr txBox="1"/>
          <p:nvPr/>
        </p:nvSpPr>
        <p:spPr>
          <a:xfrm>
            <a:off x="7476569" y="622561"/>
            <a:ext cx="4339650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sales;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total += sales;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Write results to file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"Store " &lt;&lt; store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&lt;&lt; ": Total = $" &lt;&lt; total;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(total &gt;= 500)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 - Good" &lt;&lt;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 - Needs Improvement" &lt;&lt;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outfile.close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Open file for reading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sales_report.txt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(!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"Error opening report!" &lt;&lt;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line;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"\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nWeekly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Sales Report\n";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line))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line &lt;&lt;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infile.close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C8296-3AAE-09A0-D610-AABED1A01BF9}"/>
              </a:ext>
            </a:extLst>
          </p:cNvPr>
          <p:cNvSpPr txBox="1"/>
          <p:nvPr/>
        </p:nvSpPr>
        <p:spPr>
          <a:xfrm>
            <a:off x="3831213" y="814193"/>
            <a:ext cx="268336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Input</a:t>
            </a:r>
          </a:p>
          <a:p>
            <a:endParaRPr lang="en-CN" dirty="0"/>
          </a:p>
          <a:p>
            <a:r>
              <a:rPr lang="en-US" dirty="0">
                <a:solidFill>
                  <a:srgbClr val="FF0000"/>
                </a:solidFill>
              </a:rPr>
              <a:t>Enter number of stores: 2</a:t>
            </a:r>
          </a:p>
          <a:p>
            <a:r>
              <a:rPr lang="en-US" dirty="0">
                <a:solidFill>
                  <a:srgbClr val="FF0000"/>
                </a:solidFill>
              </a:rPr>
              <a:t>Enter number of days: 2</a:t>
            </a:r>
          </a:p>
          <a:p>
            <a:r>
              <a:rPr lang="en-US" dirty="0">
                <a:solidFill>
                  <a:srgbClr val="FF0000"/>
                </a:solidFill>
              </a:rPr>
              <a:t>Store 1, Day 1 sales: 200</a:t>
            </a:r>
          </a:p>
          <a:p>
            <a:r>
              <a:rPr lang="en-US" dirty="0">
                <a:solidFill>
                  <a:srgbClr val="FF0000"/>
                </a:solidFill>
              </a:rPr>
              <a:t>Store 1, Day 2 sales: 350</a:t>
            </a:r>
          </a:p>
          <a:p>
            <a:r>
              <a:rPr lang="en-US" dirty="0">
                <a:solidFill>
                  <a:srgbClr val="FF0000"/>
                </a:solidFill>
              </a:rPr>
              <a:t>Store 2, Day 1 sales: 100</a:t>
            </a:r>
          </a:p>
          <a:p>
            <a:r>
              <a:rPr lang="en-US" dirty="0">
                <a:solidFill>
                  <a:srgbClr val="FF0000"/>
                </a:solidFill>
              </a:rPr>
              <a:t>Store 2, Day 2 sales: 150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A0717F-F9C5-0522-3005-FE1808754809}"/>
              </a:ext>
            </a:extLst>
          </p:cNvPr>
          <p:cNvSpPr txBox="1"/>
          <p:nvPr/>
        </p:nvSpPr>
        <p:spPr>
          <a:xfrm>
            <a:off x="3831213" y="3133173"/>
            <a:ext cx="41472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Output</a:t>
            </a:r>
          </a:p>
          <a:p>
            <a:endParaRPr lang="en-CN" dirty="0"/>
          </a:p>
          <a:p>
            <a:r>
              <a:rPr lang="en-US" dirty="0">
                <a:solidFill>
                  <a:srgbClr val="FF0000"/>
                </a:solidFill>
              </a:rPr>
              <a:t>Weekly Sales Report</a:t>
            </a:r>
          </a:p>
          <a:p>
            <a:r>
              <a:rPr lang="en-US" dirty="0">
                <a:solidFill>
                  <a:srgbClr val="FF0000"/>
                </a:solidFill>
              </a:rPr>
              <a:t>Store 1: Total = $550 - Good</a:t>
            </a:r>
          </a:p>
          <a:p>
            <a:r>
              <a:rPr lang="en-US" dirty="0">
                <a:solidFill>
                  <a:srgbClr val="FF0000"/>
                </a:solidFill>
              </a:rPr>
              <a:t>Store 2: Total = $250 - </a:t>
            </a:r>
            <a:r>
              <a:rPr lang="en-US" sz="1600" dirty="0">
                <a:solidFill>
                  <a:srgbClr val="FF0000"/>
                </a:solidFill>
              </a:rPr>
              <a:t>Needs Improvement</a:t>
            </a:r>
            <a:endParaRPr lang="en-CN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00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A625-A237-502D-482F-0DB6D14D8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448"/>
            <a:ext cx="11561523" cy="962634"/>
          </a:xfrm>
        </p:spPr>
        <p:txBody>
          <a:bodyPr/>
          <a:lstStyle/>
          <a:p>
            <a:r>
              <a:rPr lang="en-CN" dirty="0"/>
              <a:t>In-Class Exercise 1: Employee Work Hours Report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5809A-998F-841D-BEDA-AA0A3B4EAB63}"/>
              </a:ext>
            </a:extLst>
          </p:cNvPr>
          <p:cNvSpPr txBox="1"/>
          <p:nvPr/>
        </p:nvSpPr>
        <p:spPr>
          <a:xfrm>
            <a:off x="290186" y="594747"/>
            <a:ext cx="8634480" cy="6263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Write a C++ program that: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Asks the user for the number of employees.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Asks for the number of workdays.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Uses nested loops to collect each employee's daily work hours.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Calculates total hours worked by each employee.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Uses if/else to classify: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More than 40 hours: Overtime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Otherwise: Regular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Writes each employee's total hours and classification to employee_report.txt.</a:t>
            </a:r>
          </a:p>
          <a:p>
            <a:pPr>
              <a:lnSpc>
                <a:spcPct val="100000"/>
              </a:lnSpc>
            </a:pPr>
            <a:r>
              <a:rPr lang="en-CN" dirty="0"/>
              <a:t>Example: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Enter number of employees: 2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Enter number of days: 3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 1, Day 1 hours: 8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 1, Day 2 hours: 9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 1, Day 3 hours: 8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 2, Day 1 hours: 15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 2, Day 2 hours: 14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 2, Day 3 hours: 13</a:t>
            </a: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72F9CC-0956-A5F7-B954-EB24987A4989}"/>
              </a:ext>
            </a:extLst>
          </p:cNvPr>
          <p:cNvSpPr txBox="1"/>
          <p:nvPr/>
        </p:nvSpPr>
        <p:spPr>
          <a:xfrm>
            <a:off x="4910203" y="4496843"/>
            <a:ext cx="4919937" cy="1304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Expected file contents: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 1: 25 hours - Regular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 2: 42 hours - Overtime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3F5AE2-A7D9-6F5F-F829-627B9D567958}"/>
              </a:ext>
            </a:extLst>
          </p:cNvPr>
          <p:cNvSpPr txBox="1"/>
          <p:nvPr/>
        </p:nvSpPr>
        <p:spPr>
          <a:xfrm>
            <a:off x="5410907" y="6006357"/>
            <a:ext cx="5501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Hint: Follow the structure of the Weekly Sales Report, </a:t>
            </a:r>
          </a:p>
          <a:p>
            <a:r>
              <a:rPr lang="en-CN" dirty="0">
                <a:solidFill>
                  <a:srgbClr val="FF0000"/>
                </a:solidFill>
              </a:rPr>
              <a:t>but change the input, calculations, and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3303960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869E-3690-DF32-6EF3-E468410F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52" y="0"/>
            <a:ext cx="11837096" cy="900004"/>
          </a:xfrm>
        </p:spPr>
        <p:txBody>
          <a:bodyPr/>
          <a:lstStyle/>
          <a:p>
            <a:r>
              <a:rPr lang="en-CN" dirty="0"/>
              <a:t>In-Class Exercise 2: Electricity Consumption Report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37AA8-029B-4288-A7CB-5DD77BB7DBD3}"/>
              </a:ext>
            </a:extLst>
          </p:cNvPr>
          <p:cNvSpPr txBox="1"/>
          <p:nvPr/>
        </p:nvSpPr>
        <p:spPr>
          <a:xfrm>
            <a:off x="267222" y="726511"/>
            <a:ext cx="7639527" cy="4108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Write a C++ program that: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Asks how many households will be processed.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Asks how many days of electricity usage will be recorded.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Uses nested loops to collect daily electricity consumption in kWh.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Calculates total consumption for each household.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Uses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if/else </a:t>
            </a:r>
            <a:r>
              <a:rPr lang="en-CN" dirty="0"/>
              <a:t>to classify: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Total greater than 100 kWh: High Usage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Otherwise: Normal Usage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Writes the results to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electricity_report.txt</a:t>
            </a:r>
            <a:r>
              <a:rPr lang="en-CN" dirty="0"/>
              <a:t>.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</a:pPr>
            <a:r>
              <a:rPr lang="en-CN" dirty="0"/>
              <a:t>Uses ifstream and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getline() </a:t>
            </a:r>
            <a:r>
              <a:rPr lang="en-CN" dirty="0"/>
              <a:t>to read the file and display its contents.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9E794F-BEC0-2C79-BB84-614284B95BDC}"/>
              </a:ext>
            </a:extLst>
          </p:cNvPr>
          <p:cNvSpPr txBox="1"/>
          <p:nvPr/>
        </p:nvSpPr>
        <p:spPr>
          <a:xfrm>
            <a:off x="538620" y="4835328"/>
            <a:ext cx="3528530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Example input:</a:t>
            </a:r>
          </a:p>
          <a:p>
            <a:pPr lvl="1"/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Enter number of households: 2</a:t>
            </a:r>
          </a:p>
          <a:p>
            <a:pPr lvl="1"/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Enter number of days: 2</a:t>
            </a:r>
          </a:p>
          <a:p>
            <a:pPr lvl="1"/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Household 1, Day 1 usage: 30</a:t>
            </a:r>
          </a:p>
          <a:p>
            <a:pPr lvl="1"/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Household 1, Day 2 usage: 40</a:t>
            </a:r>
          </a:p>
          <a:p>
            <a:pPr lvl="1"/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Household 2, Day 1 usage: 60</a:t>
            </a:r>
          </a:p>
          <a:p>
            <a:pPr lvl="1"/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Household 2, Day 2 usage: 55</a:t>
            </a:r>
            <a:endParaRPr lang="en-CN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B90B4F-BA00-4439-9866-E04629D9F451}"/>
              </a:ext>
            </a:extLst>
          </p:cNvPr>
          <p:cNvSpPr txBox="1"/>
          <p:nvPr/>
        </p:nvSpPr>
        <p:spPr>
          <a:xfrm>
            <a:off x="5260931" y="4827286"/>
            <a:ext cx="4871847" cy="1304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Expected report: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Household 1: 70 kWh - Normal Usage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Household 2: 115 kWh - High Usage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F72D1-0876-4D73-7C01-7F3BFE6493D6}"/>
              </a:ext>
            </a:extLst>
          </p:cNvPr>
          <p:cNvSpPr txBox="1"/>
          <p:nvPr/>
        </p:nvSpPr>
        <p:spPr>
          <a:xfrm>
            <a:off x="6011144" y="6435766"/>
            <a:ext cx="5784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Close the output file before reopening it with </a:t>
            </a:r>
            <a:r>
              <a:rPr lang="en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CN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7620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A46FB-BECE-F618-0819-65C5FA8F2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72" y="0"/>
            <a:ext cx="10515600" cy="900004"/>
          </a:xfrm>
        </p:spPr>
        <p:txBody>
          <a:bodyPr/>
          <a:lstStyle/>
          <a:p>
            <a:r>
              <a:rPr lang="en-CN" dirty="0"/>
              <a:t>Optional Practice: Student Attendance Report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99BFF7-593E-401E-9A12-50FA0D66456B}"/>
              </a:ext>
            </a:extLst>
          </p:cNvPr>
          <p:cNvSpPr txBox="1"/>
          <p:nvPr/>
        </p:nvSpPr>
        <p:spPr>
          <a:xfrm>
            <a:off x="413359" y="702067"/>
            <a:ext cx="7157409" cy="5453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Write a C++ program that: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Asks for the number of students and the number of class meetings.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Uses nested loops to record attendance for each student.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For each class meeting, enter: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1 for Present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0 for Absent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Counts how many classes each student attended.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Uses if/else to classify: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Attended all classes: Perfect Attendance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Otherwise: Has Absences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Saves the results to attendance.txt.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CN" dirty="0"/>
              <a:t>Reads and displays the saved report.</a:t>
            </a:r>
          </a:p>
          <a:p>
            <a:pPr>
              <a:lnSpc>
                <a:spcPct val="150000"/>
              </a:lnSpc>
            </a:pP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E13B5-B0CB-1369-1007-9F49B761593B}"/>
              </a:ext>
            </a:extLst>
          </p:cNvPr>
          <p:cNvSpPr txBox="1"/>
          <p:nvPr/>
        </p:nvSpPr>
        <p:spPr>
          <a:xfrm>
            <a:off x="413359" y="5657670"/>
            <a:ext cx="50097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Example for three class meetings: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 1: 3/3 - Perfect Attendance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 2: 2/3 - Has Absences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379373-5A97-D5F1-342D-12EE88C1E3DD}"/>
              </a:ext>
            </a:extLst>
          </p:cNvPr>
          <p:cNvSpPr txBox="1"/>
          <p:nvPr/>
        </p:nvSpPr>
        <p:spPr>
          <a:xfrm>
            <a:off x="6096000" y="4446494"/>
            <a:ext cx="5862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Challenge: Can you use a while loop to reject attendance </a:t>
            </a:r>
          </a:p>
          <a:p>
            <a:r>
              <a:rPr lang="en-CN" dirty="0">
                <a:solidFill>
                  <a:srgbClr val="FF0000"/>
                </a:solidFill>
              </a:rPr>
              <a:t>values other than 0 and 1?</a:t>
            </a:r>
          </a:p>
        </p:txBody>
      </p:sp>
    </p:spTree>
    <p:extLst>
      <p:ext uri="{BB962C8B-B14F-4D97-AF65-F5344CB8AC3E}">
        <p14:creationId xmlns:p14="http://schemas.microsoft.com/office/powerpoint/2010/main" val="24331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0739B-6C66-32C5-0005-6086D2D4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0" y="0"/>
            <a:ext cx="10515600" cy="979581"/>
          </a:xfrm>
        </p:spPr>
        <p:txBody>
          <a:bodyPr/>
          <a:lstStyle/>
          <a:p>
            <a:r>
              <a:rPr lang="en-CN" dirty="0"/>
              <a:t>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06FDA-8AC5-8848-4DE2-3427F8A0F903}"/>
              </a:ext>
            </a:extLst>
          </p:cNvPr>
          <p:cNvSpPr txBox="1"/>
          <p:nvPr/>
        </p:nvSpPr>
        <p:spPr>
          <a:xfrm>
            <a:off x="412377" y="979581"/>
            <a:ext cx="7754815" cy="5847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sz="2800" dirty="0"/>
              <a:t>Today we practiced: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CN" sz="2800" dirty="0"/>
              <a:t> for writing files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CN" sz="2800" dirty="0"/>
              <a:t> for reading files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open() </a:t>
            </a:r>
            <a:r>
              <a:rPr lang="en-CN" sz="2800" dirty="0"/>
              <a:t>and </a:t>
            </a: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close()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while (infile &gt;&gt; value)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while (getline(infile, line))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Nested loops </a:t>
            </a:r>
            <a:r>
              <a:rPr lang="en-CN" sz="2800" dirty="0"/>
              <a:t>and </a:t>
            </a: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accumulators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if/else </a:t>
            </a:r>
            <a:r>
              <a:rPr lang="en-CN" sz="2800" dirty="0"/>
              <a:t>statements for classifying results</a:t>
            </a:r>
          </a:p>
          <a:p>
            <a:pPr>
              <a:lnSpc>
                <a:spcPct val="150000"/>
              </a:lnSpc>
            </a:pPr>
            <a:endParaRPr lang="en-CN" sz="2800" dirty="0"/>
          </a:p>
        </p:txBody>
      </p:sp>
    </p:spTree>
    <p:extLst>
      <p:ext uri="{BB962C8B-B14F-4D97-AF65-F5344CB8AC3E}">
        <p14:creationId xmlns:p14="http://schemas.microsoft.com/office/powerpoint/2010/main" val="3765753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2320</Words>
  <Application>Microsoft Macintosh PowerPoint</Application>
  <PresentationFormat>Widescreen</PresentationFormat>
  <Paragraphs>422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Office Theme</vt:lpstr>
      <vt:lpstr>Lab 8: Nested Loops and File Handling</vt:lpstr>
      <vt:lpstr>Learning Objectives</vt:lpstr>
      <vt:lpstr>Review: Nested Loops From Lecture</vt:lpstr>
      <vt:lpstr>Introduction to File Handling</vt:lpstr>
      <vt:lpstr>Writing Data to a File Using ofstream</vt:lpstr>
      <vt:lpstr>Reading Data from a File Using ifstream</vt:lpstr>
      <vt:lpstr>Checking Whether a File Opened Successfully</vt:lpstr>
      <vt:lpstr>Live Coding: Weekly Sales Report</vt:lpstr>
      <vt:lpstr>Part 1: Getting input and opening the output file</vt:lpstr>
      <vt:lpstr>Part 2: Nested loops, accumulator, and conditional statements</vt:lpstr>
      <vt:lpstr>Part 3: Reading and displaying the saved report</vt:lpstr>
      <vt:lpstr>Complete Weekly Sales Report</vt:lpstr>
      <vt:lpstr>In-Class Exercise 1: Employee Work Hours Report</vt:lpstr>
      <vt:lpstr>In-Class Exercise 2: Electricity Consumption Report</vt:lpstr>
      <vt:lpstr>Optional Practice: Student Attendance Report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Ebuka P Oguchi</dc:creator>
  <cp:lastModifiedBy>Ebuka P Oguchi</cp:lastModifiedBy>
  <cp:revision>10</cp:revision>
  <dcterms:created xsi:type="dcterms:W3CDTF">2026-10-24T17:04:16Z</dcterms:created>
  <dcterms:modified xsi:type="dcterms:W3CDTF">2026-10-28T19:09:34Z</dcterms:modified>
</cp:coreProperties>
</file>